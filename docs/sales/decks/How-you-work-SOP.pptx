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minutes. The written SOP is the reference; this is the orientation.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1 is the one reps care about once they understand it: nobody can quietly adjust their commission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/sales is deliberately read-only — it is the screen they will check most and it cannot be broken.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48-hour lapse is the answer to 'how locked are leads' — nothing sits reserved by someone not working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keeps a rep out of trouble on a call. Fact, inference, recommendation — never blended.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Absence of a statement is not a statement. This is the single most common way a rep says something untrue without meaning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soften this slide. The window is documented and not enforced in code — the rep is the control. Say so plainly.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Do-not-contact is the one to slow down on. It binds FieldQuo, not just their own view, and they cannot undo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the rough edges in the first meeting buys more trust than pretending the product is finished. They will find them in week one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here and hand out the written SOP. Do not try to cover claiming, closing out and lead work in the same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window is enforced by the product, so nobody has to remember it. Say plainly that a rep who finds a way around it is creating a legal problem for FieldQuo, not showing initiative.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note box. The single biggest difference between reps is whether the next person can pick up the thread six weeks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your own number matters. Tell reps to give out the number the product dialled from, never a personal mobile.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Transfer is offered only when the other rep is genuinely reachable — a stale browser is not offered as a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Texts are a different channel from the email threads beside them: a reply arrives by phone number, not by thread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Nobody is paid until this is set. Do it in the first ten minutes of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731520" y="2103120"/>
            <a:ext cx="8686800" cy="100584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How you work</a:t>
            </a:r>
            <a:endParaRPr lang="en-US" sz="5400" dirty="0"/>
          </a:p>
        </p:txBody>
      </p:sp>
      <p:sp>
        <p:nvSpPr>
          <p:cNvPr id="3" name="Text 1"/>
          <p:cNvSpPr txBox="1"/>
          <p:nvPr/>
        </p:nvSpPr>
        <p:spPr>
          <a:xfrm>
            <a:off x="731520" y="3200400"/>
            <a:ext cx="8686800" cy="548640"/>
          </a:xfrm>
          <a:prstGeom prst="rect">
            <a:avLst/>
          </a:prstGeom>
          <a:noFill/>
          <a:ln/>
        </p:spPr>
        <p:txBody>
          <a:bodyPr wrap="square" rtlCol="0" anchor="ctr"/>
          <a:lstStyle/>
          <a:p>
            <a:pPr indent="0" marL="0">
              <a:buNone/>
            </a:pPr>
            <a:r>
              <a:rPr lang="en-US" sz="2000" dirty="0">
                <a:solidFill>
                  <a:srgbClr val="CADCFC"/>
                </a:solidFill>
                <a:latin typeface="Calibri" pitchFamily="34" charset="0"/>
                <a:ea typeface="Calibri" pitchFamily="34" charset="-122"/>
                <a:cs typeface="Calibri" pitchFamily="34" charset="-120"/>
              </a:rPr>
              <a:t>The rep's standard operating procedure, in one sitting</a:t>
            </a:r>
            <a:endParaRPr lang="en-US" sz="2000" dirty="0"/>
          </a:p>
        </p:txBody>
      </p:sp>
      <p:sp>
        <p:nvSpPr>
          <p:cNvPr id="4" name="Text 2"/>
          <p:cNvSpPr txBox="1"/>
          <p:nvPr/>
        </p:nvSpPr>
        <p:spPr>
          <a:xfrm>
            <a:off x="731520" y="4114800"/>
            <a:ext cx="8686800" cy="457200"/>
          </a:xfrm>
          <a:prstGeom prst="rect">
            <a:avLst/>
          </a:prstGeom>
          <a:noFill/>
          <a:ln/>
        </p:spPr>
        <p:txBody>
          <a:bodyPr wrap="square"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Keep the full SOP open on your second screen. This is the shape of it.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731520"/>
          </a:xfrm>
          <a:prstGeom prst="rect">
            <a:avLst/>
          </a:prstGeom>
          <a:noFill/>
          <a:ln/>
        </p:spPr>
        <p:txBody>
          <a:bodyPr wrap="square"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Five rules that are not negotiable</a:t>
            </a:r>
            <a:endParaRPr lang="en-US" sz="3600" dirty="0"/>
          </a:p>
        </p:txBody>
      </p:sp>
      <p:sp>
        <p:nvSpPr>
          <p:cNvPr id="3" name="Text 1"/>
          <p:cNvSpPr txBox="1"/>
          <p:nvPr/>
        </p:nvSpPr>
        <p:spPr>
          <a:xfrm>
            <a:off x="731520" y="1207008"/>
            <a:ext cx="10698480" cy="411480"/>
          </a:xfrm>
          <a:prstGeom prst="rect">
            <a:avLst/>
          </a:prstGeom>
          <a:noFill/>
          <a:ln/>
        </p:spPr>
        <p:txBody>
          <a:bodyPr wrap="square" rtlCol="0" anchor="ctr"/>
          <a:lstStyle/>
          <a:p>
            <a:pPr indent="0" marL="0">
              <a:buNone/>
            </a:pPr>
            <a:r>
              <a:rPr lang="en-US" sz="1500" dirty="0">
                <a:solidFill>
                  <a:srgbClr val="5A6070"/>
                </a:solidFill>
                <a:latin typeface="Calibri" pitchFamily="34" charset="0"/>
                <a:ea typeface="Calibri" pitchFamily="34" charset="-122"/>
                <a:cs typeface="Calibri" pitchFamily="34" charset="-120"/>
              </a:rPr>
              <a:t>These are enforced in code, not by trust. You cannot breach them by accident.</a:t>
            </a:r>
            <a:endParaRPr lang="en-US" sz="1500" dirty="0"/>
          </a:p>
        </p:txBody>
      </p:sp>
      <p:sp>
        <p:nvSpPr>
          <p:cNvPr id="4" name="Shape 2"/>
          <p:cNvSpPr/>
          <p:nvPr/>
        </p:nvSpPr>
        <p:spPr>
          <a:xfrm>
            <a:off x="731520" y="1801368"/>
            <a:ext cx="365760" cy="365760"/>
          </a:xfrm>
          <a:prstGeom prst="ellipse">
            <a:avLst/>
          </a:prstGeom>
          <a:solidFill>
            <a:srgbClr val="8C2F39"/>
          </a:solidFill>
          <a:ln/>
        </p:spPr>
      </p:sp>
      <p:sp>
        <p:nvSpPr>
          <p:cNvPr id="5" name="Text 3"/>
          <p:cNvSpPr txBox="1"/>
          <p:nvPr/>
        </p:nvSpPr>
        <p:spPr>
          <a:xfrm>
            <a:off x="731520" y="18013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298448" y="1783080"/>
            <a:ext cx="10149840" cy="310896"/>
          </a:xfrm>
          <a:prstGeom prst="rect">
            <a:avLst/>
          </a:prstGeom>
          <a:noFill/>
          <a:ln/>
        </p:spPr>
        <p:txBody>
          <a:bodyPr wrap="square" lIns="0" tIns="0" rIns="0" bIns="0" rtlCol="0" anchor="ctr"/>
          <a:lstStyle/>
          <a:p>
            <a:pPr indent="0" marL="0">
              <a:buNone/>
            </a:pPr>
            <a:r>
              <a:rPr lang="en-US" sz="1700" b="1" dirty="0">
                <a:solidFill>
                  <a:srgbClr val="1B1B1F"/>
                </a:solidFill>
                <a:latin typeface="Calibri" pitchFamily="34" charset="0"/>
                <a:ea typeface="Calibri" pitchFamily="34" charset="-122"/>
                <a:cs typeface="Calibri" pitchFamily="34" charset="-120"/>
              </a:rPr>
              <a:t>You cannot write to your own commission</a:t>
            </a:r>
            <a:endParaRPr lang="en-US" sz="1700" dirty="0"/>
          </a:p>
        </p:txBody>
      </p:sp>
      <p:sp>
        <p:nvSpPr>
          <p:cNvPr id="7" name="Text 5"/>
          <p:cNvSpPr txBox="1"/>
          <p:nvPr/>
        </p:nvSpPr>
        <p:spPr>
          <a:xfrm>
            <a:off x="1298448" y="2093976"/>
            <a:ext cx="10149840" cy="457200"/>
          </a:xfrm>
          <a:prstGeom prst="rect">
            <a:avLst/>
          </a:prstGeom>
          <a:noFill/>
          <a:ln/>
        </p:spPr>
        <p:txBody>
          <a:bodyPr wrap="square" lIns="0" tIns="0" rIns="0" bIns="0" rtlCol="0" anchor="ctr"/>
          <a:lstStyle/>
          <a:p>
            <a:pPr indent="0" marL="0">
              <a:buNone/>
            </a:pPr>
            <a:r>
              <a:rPr lang="en-US" sz="1300" dirty="0">
                <a:solidFill>
                  <a:srgbClr val="5A6070"/>
                </a:solidFill>
                <a:latin typeface="Calibri" pitchFamily="34" charset="0"/>
                <a:ea typeface="Calibri" pitchFamily="34" charset="-122"/>
                <a:cs typeface="Calibri" pitchFamily="34" charset="-120"/>
              </a:rPr>
              <a:t>Attribution, payouts and subscriptions refuse every write from a rep account. You cannot pay yourself and you cannot correct your own record. This protects you as much as us.</a:t>
            </a:r>
            <a:endParaRPr lang="en-US" sz="1300" dirty="0"/>
          </a:p>
        </p:txBody>
      </p:sp>
      <p:sp>
        <p:nvSpPr>
          <p:cNvPr id="8" name="Shape 6"/>
          <p:cNvSpPr/>
          <p:nvPr/>
        </p:nvSpPr>
        <p:spPr>
          <a:xfrm>
            <a:off x="731520" y="2660904"/>
            <a:ext cx="365760" cy="365760"/>
          </a:xfrm>
          <a:prstGeom prst="ellipse">
            <a:avLst/>
          </a:prstGeom>
          <a:solidFill>
            <a:srgbClr val="1E2761"/>
          </a:solidFill>
          <a:ln/>
        </p:spPr>
      </p:sp>
      <p:sp>
        <p:nvSpPr>
          <p:cNvPr id="9" name="Text 7"/>
          <p:cNvSpPr txBox="1"/>
          <p:nvPr/>
        </p:nvSpPr>
        <p:spPr>
          <a:xfrm>
            <a:off x="731520" y="266090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298448" y="2642616"/>
            <a:ext cx="10149840" cy="310896"/>
          </a:xfrm>
          <a:prstGeom prst="rect">
            <a:avLst/>
          </a:prstGeom>
          <a:noFill/>
          <a:ln/>
        </p:spPr>
        <p:txBody>
          <a:bodyPr wrap="square" lIns="0" tIns="0" rIns="0" bIns="0" rtlCol="0" anchor="ctr"/>
          <a:lstStyle/>
          <a:p>
            <a:pPr indent="0" marL="0">
              <a:buNone/>
            </a:pPr>
            <a:r>
              <a:rPr lang="en-US" sz="1700" b="1" dirty="0">
                <a:solidFill>
                  <a:srgbClr val="1B1B1F"/>
                </a:solidFill>
                <a:latin typeface="Calibri" pitchFamily="34" charset="0"/>
                <a:ea typeface="Calibri" pitchFamily="34" charset="-122"/>
                <a:cs typeface="Calibri" pitchFamily="34" charset="-120"/>
              </a:rPr>
              <a:t>An opt-out is final</a:t>
            </a:r>
            <a:endParaRPr lang="en-US" sz="1700" dirty="0"/>
          </a:p>
        </p:txBody>
      </p:sp>
      <p:sp>
        <p:nvSpPr>
          <p:cNvPr id="11" name="Text 9"/>
          <p:cNvSpPr txBox="1"/>
          <p:nvPr/>
        </p:nvSpPr>
        <p:spPr>
          <a:xfrm>
            <a:off x="1298448" y="2953512"/>
            <a:ext cx="10149840" cy="457200"/>
          </a:xfrm>
          <a:prstGeom prst="rect">
            <a:avLst/>
          </a:prstGeom>
          <a:noFill/>
          <a:ln/>
        </p:spPr>
        <p:txBody>
          <a:bodyPr wrap="square" lIns="0" tIns="0" rIns="0" bIns="0" rtlCol="0" anchor="ctr"/>
          <a:lstStyle/>
          <a:p>
            <a:pPr indent="0" marL="0">
              <a:buNone/>
            </a:pPr>
            <a:r>
              <a:rPr lang="en-US" sz="1300" dirty="0">
                <a:solidFill>
                  <a:srgbClr val="5A6070"/>
                </a:solidFill>
                <a:latin typeface="Calibri" pitchFamily="34" charset="0"/>
                <a:ea typeface="Calibri" pitchFamily="34" charset="-122"/>
                <a:cs typeface="Calibri" pitchFamily="34" charset="-120"/>
              </a:rPr>
              <a:t>Once somebody says stop, only a superadmin can lift it, with a written reason.</a:t>
            </a:r>
            <a:endParaRPr lang="en-US" sz="1300" dirty="0"/>
          </a:p>
        </p:txBody>
      </p:sp>
      <p:sp>
        <p:nvSpPr>
          <p:cNvPr id="12" name="Shape 10"/>
          <p:cNvSpPr/>
          <p:nvPr/>
        </p:nvSpPr>
        <p:spPr>
          <a:xfrm>
            <a:off x="731520" y="3520440"/>
            <a:ext cx="365760" cy="365760"/>
          </a:xfrm>
          <a:prstGeom prst="ellipse">
            <a:avLst/>
          </a:prstGeom>
          <a:solidFill>
            <a:srgbClr val="1E2761"/>
          </a:solidFill>
          <a:ln/>
        </p:spPr>
      </p:sp>
      <p:sp>
        <p:nvSpPr>
          <p:cNvPr id="13" name="Text 11"/>
          <p:cNvSpPr txBox="1"/>
          <p:nvPr/>
        </p:nvSpPr>
        <p:spPr>
          <a:xfrm>
            <a:off x="731520" y="35204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298448" y="3502152"/>
            <a:ext cx="10149840" cy="310896"/>
          </a:xfrm>
          <a:prstGeom prst="rect">
            <a:avLst/>
          </a:prstGeom>
          <a:noFill/>
          <a:ln/>
        </p:spPr>
        <p:txBody>
          <a:bodyPr wrap="square" lIns="0" tIns="0" rIns="0" bIns="0" rtlCol="0" anchor="ctr"/>
          <a:lstStyle/>
          <a:p>
            <a:pPr indent="0" marL="0">
              <a:buNone/>
            </a:pPr>
            <a:r>
              <a:rPr lang="en-US" sz="1700" b="1" dirty="0">
                <a:solidFill>
                  <a:srgbClr val="1B1B1F"/>
                </a:solidFill>
                <a:latin typeface="Calibri" pitchFamily="34" charset="0"/>
                <a:ea typeface="Calibri" pitchFamily="34" charset="-122"/>
                <a:cs typeface="Calibri" pitchFamily="34" charset="-120"/>
              </a:rPr>
              <a:t>You cannot self-attribute</a:t>
            </a:r>
            <a:endParaRPr lang="en-US" sz="1700" dirty="0"/>
          </a:p>
        </p:txBody>
      </p:sp>
      <p:sp>
        <p:nvSpPr>
          <p:cNvPr id="15" name="Text 13"/>
          <p:cNvSpPr txBox="1"/>
          <p:nvPr/>
        </p:nvSpPr>
        <p:spPr>
          <a:xfrm>
            <a:off x="1298448" y="3813048"/>
            <a:ext cx="10149840" cy="457200"/>
          </a:xfrm>
          <a:prstGeom prst="rect">
            <a:avLst/>
          </a:prstGeom>
          <a:noFill/>
          <a:ln/>
        </p:spPr>
        <p:txBody>
          <a:bodyPr wrap="square" lIns="0" tIns="0" rIns="0" bIns="0" rtlCol="0" anchor="ctr"/>
          <a:lstStyle/>
          <a:p>
            <a:pPr indent="0" marL="0">
              <a:buNone/>
            </a:pPr>
            <a:r>
              <a:rPr lang="en-US" sz="1300" dirty="0">
                <a:solidFill>
                  <a:srgbClr val="5A6070"/>
                </a:solidFill>
                <a:latin typeface="Calibri" pitchFamily="34" charset="0"/>
                <a:ea typeface="Calibri" pitchFamily="34" charset="-122"/>
                <a:cs typeface="Calibri" pitchFamily="34" charset="-120"/>
              </a:rPr>
              <a:t>If your email matches the company, or you are a member of it, the system refuses before it checks anything else.</a:t>
            </a:r>
            <a:endParaRPr lang="en-US" sz="1300" dirty="0"/>
          </a:p>
        </p:txBody>
      </p:sp>
      <p:sp>
        <p:nvSpPr>
          <p:cNvPr id="16" name="Shape 14"/>
          <p:cNvSpPr/>
          <p:nvPr/>
        </p:nvSpPr>
        <p:spPr>
          <a:xfrm>
            <a:off x="731520" y="4379976"/>
            <a:ext cx="365760" cy="365760"/>
          </a:xfrm>
          <a:prstGeom prst="ellipse">
            <a:avLst/>
          </a:prstGeom>
          <a:solidFill>
            <a:srgbClr val="1E2761"/>
          </a:solidFill>
          <a:ln/>
        </p:spPr>
      </p:sp>
      <p:sp>
        <p:nvSpPr>
          <p:cNvPr id="17" name="Text 15"/>
          <p:cNvSpPr txBox="1"/>
          <p:nvPr/>
        </p:nvSpPr>
        <p:spPr>
          <a:xfrm>
            <a:off x="731520" y="437997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txBox="1"/>
          <p:nvPr/>
        </p:nvSpPr>
        <p:spPr>
          <a:xfrm>
            <a:off x="1298448" y="4361688"/>
            <a:ext cx="10149840" cy="310896"/>
          </a:xfrm>
          <a:prstGeom prst="rect">
            <a:avLst/>
          </a:prstGeom>
          <a:noFill/>
          <a:ln/>
        </p:spPr>
        <p:txBody>
          <a:bodyPr wrap="square" lIns="0" tIns="0" rIns="0" bIns="0" rtlCol="0" anchor="ctr"/>
          <a:lstStyle/>
          <a:p>
            <a:pPr indent="0" marL="0">
              <a:buNone/>
            </a:pPr>
            <a:r>
              <a:rPr lang="en-US" sz="1700" b="1" dirty="0">
                <a:solidFill>
                  <a:srgbClr val="1B1B1F"/>
                </a:solidFill>
                <a:latin typeface="Calibri" pitchFamily="34" charset="0"/>
                <a:ea typeface="Calibri" pitchFamily="34" charset="-122"/>
                <a:cs typeface="Calibri" pitchFamily="34" charset="-120"/>
              </a:rPr>
              <a:t>Every note you write is readable</a:t>
            </a:r>
            <a:endParaRPr lang="en-US" sz="1700" dirty="0"/>
          </a:p>
        </p:txBody>
      </p:sp>
      <p:sp>
        <p:nvSpPr>
          <p:cNvPr id="19" name="Text 17"/>
          <p:cNvSpPr txBox="1"/>
          <p:nvPr/>
        </p:nvSpPr>
        <p:spPr>
          <a:xfrm>
            <a:off x="1298448" y="4672584"/>
            <a:ext cx="10149840" cy="457200"/>
          </a:xfrm>
          <a:prstGeom prst="rect">
            <a:avLst/>
          </a:prstGeom>
          <a:noFill/>
          <a:ln/>
        </p:spPr>
        <p:txBody>
          <a:bodyPr wrap="square" lIns="0" tIns="0" rIns="0" bIns="0" rtlCol="0" anchor="ctr"/>
          <a:lstStyle/>
          <a:p>
            <a:pPr indent="0" marL="0">
              <a:buNone/>
            </a:pPr>
            <a:r>
              <a:rPr lang="en-US" sz="1300" dirty="0">
                <a:solidFill>
                  <a:srgbClr val="5A6070"/>
                </a:solidFill>
                <a:latin typeface="Calibri" pitchFamily="34" charset="0"/>
                <a:ea typeface="Calibri" pitchFamily="34" charset="-122"/>
                <a:cs typeface="Calibri" pitchFamily="34" charset="-120"/>
              </a:rPr>
              <a:t>Superadmins can read all of it, and the screen says so. There is no private space in the portal.</a:t>
            </a:r>
            <a:endParaRPr lang="en-US" sz="1300" dirty="0"/>
          </a:p>
        </p:txBody>
      </p:sp>
      <p:sp>
        <p:nvSpPr>
          <p:cNvPr id="20" name="Shape 18"/>
          <p:cNvSpPr/>
          <p:nvPr/>
        </p:nvSpPr>
        <p:spPr>
          <a:xfrm>
            <a:off x="731520" y="5239512"/>
            <a:ext cx="365760" cy="365760"/>
          </a:xfrm>
          <a:prstGeom prst="ellipse">
            <a:avLst/>
          </a:prstGeom>
          <a:solidFill>
            <a:srgbClr val="1E2761"/>
          </a:solidFill>
          <a:ln/>
        </p:spPr>
      </p:sp>
      <p:sp>
        <p:nvSpPr>
          <p:cNvPr id="21" name="Text 19"/>
          <p:cNvSpPr txBox="1"/>
          <p:nvPr/>
        </p:nvSpPr>
        <p:spPr>
          <a:xfrm>
            <a:off x="731520" y="523951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20"/>
          <p:cNvSpPr txBox="1"/>
          <p:nvPr/>
        </p:nvSpPr>
        <p:spPr>
          <a:xfrm>
            <a:off x="1298448" y="5221224"/>
            <a:ext cx="10149840" cy="310896"/>
          </a:xfrm>
          <a:prstGeom prst="rect">
            <a:avLst/>
          </a:prstGeom>
          <a:noFill/>
          <a:ln/>
        </p:spPr>
        <p:txBody>
          <a:bodyPr wrap="square" lIns="0" tIns="0" rIns="0" bIns="0" rtlCol="0" anchor="ctr"/>
          <a:lstStyle/>
          <a:p>
            <a:pPr indent="0" marL="0">
              <a:buNone/>
            </a:pPr>
            <a:r>
              <a:rPr lang="en-US" sz="1700" b="1" dirty="0">
                <a:solidFill>
                  <a:srgbClr val="1B1B1F"/>
                </a:solidFill>
                <a:latin typeface="Calibri" pitchFamily="34" charset="0"/>
                <a:ea typeface="Calibri" pitchFamily="34" charset="-122"/>
                <a:cs typeface="Calibri" pitchFamily="34" charset="-120"/>
              </a:rPr>
              <a:t>The prospect's rules govern</a:t>
            </a:r>
            <a:endParaRPr lang="en-US" sz="1700" dirty="0"/>
          </a:p>
        </p:txBody>
      </p:sp>
      <p:sp>
        <p:nvSpPr>
          <p:cNvPr id="23" name="Text 21"/>
          <p:cNvSpPr txBox="1"/>
          <p:nvPr/>
        </p:nvSpPr>
        <p:spPr>
          <a:xfrm>
            <a:off x="1298448" y="5532120"/>
            <a:ext cx="10149840" cy="457200"/>
          </a:xfrm>
          <a:prstGeom prst="rect">
            <a:avLst/>
          </a:prstGeom>
          <a:noFill/>
          <a:ln/>
        </p:spPr>
        <p:txBody>
          <a:bodyPr wrap="square" lIns="0" tIns="0" rIns="0" bIns="0" rtlCol="0" anchor="ctr"/>
          <a:lstStyle/>
          <a:p>
            <a:pPr indent="0" marL="0">
              <a:buNone/>
            </a:pPr>
            <a:r>
              <a:rPr lang="en-US" sz="1300" dirty="0">
                <a:solidFill>
                  <a:srgbClr val="5A6070"/>
                </a:solidFill>
                <a:latin typeface="Calibri" pitchFamily="34" charset="0"/>
                <a:ea typeface="Calibri" pitchFamily="34" charset="-122"/>
                <a:cs typeface="Calibri" pitchFamily="34" charset="-120"/>
              </a:rPr>
              <a:t>Whichever country the prospect is in decides what is legal — not where you are sitting.</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731520"/>
          </a:xfrm>
          <a:prstGeom prst="rect">
            <a:avLst/>
          </a:prstGeom>
          <a:noFill/>
          <a:ln/>
        </p:spPr>
        <p:txBody>
          <a:bodyPr wrap="square"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The five screens you have</a:t>
            </a:r>
            <a:endParaRPr lang="en-US" sz="3600" dirty="0"/>
          </a:p>
        </p:txBody>
      </p:sp>
      <p:sp>
        <p:nvSpPr>
          <p:cNvPr id="3" name="Text 1"/>
          <p:cNvSpPr txBox="1"/>
          <p:nvPr/>
        </p:nvSpPr>
        <p:spPr>
          <a:xfrm>
            <a:off x="731520" y="1207008"/>
            <a:ext cx="10698480" cy="411480"/>
          </a:xfrm>
          <a:prstGeom prst="rect">
            <a:avLst/>
          </a:prstGeom>
          <a:noFill/>
          <a:ln/>
        </p:spPr>
        <p:txBody>
          <a:bodyPr wrap="square" rtlCol="0" anchor="ctr"/>
          <a:lstStyle/>
          <a:p>
            <a:pPr indent="0" marL="0">
              <a:buNone/>
            </a:pPr>
            <a:r>
              <a:rPr lang="en-US" sz="1500" dirty="0">
                <a:solidFill>
                  <a:srgbClr val="5A6070"/>
                </a:solidFill>
                <a:latin typeface="Calibri" pitchFamily="34" charset="0"/>
                <a:ea typeface="Calibri" pitchFamily="34" charset="-122"/>
                <a:cs typeface="Calibri" pitchFamily="34" charset="-120"/>
              </a:rPr>
              <a:t>That is the whole product from your side.</a:t>
            </a:r>
            <a:endParaRPr lang="en-US" sz="1500" dirty="0"/>
          </a:p>
        </p:txBody>
      </p:sp>
      <p:sp>
        <p:nvSpPr>
          <p:cNvPr id="4" name="Shape 2"/>
          <p:cNvSpPr/>
          <p:nvPr/>
        </p:nvSpPr>
        <p:spPr>
          <a:xfrm>
            <a:off x="731520" y="1828800"/>
            <a:ext cx="10698480" cy="749808"/>
          </a:xfrm>
          <a:prstGeom prst="roundRect">
            <a:avLst>
              <a:gd name="adj" fmla="val 12195"/>
            </a:avLst>
          </a:prstGeom>
          <a:solidFill>
            <a:srgbClr val="F4F6FB"/>
          </a:solidFill>
          <a:ln/>
        </p:spPr>
      </p:sp>
      <p:sp>
        <p:nvSpPr>
          <p:cNvPr id="5" name="Text 3"/>
          <p:cNvSpPr txBox="1"/>
          <p:nvPr/>
        </p:nvSpPr>
        <p:spPr>
          <a:xfrm>
            <a:off x="987552" y="1828800"/>
            <a:ext cx="2286000" cy="749808"/>
          </a:xfrm>
          <a:prstGeom prst="rect">
            <a:avLst/>
          </a:prstGeom>
          <a:noFill/>
          <a:ln/>
        </p:spPr>
        <p:txBody>
          <a:bodyPr wrap="square" lIns="0" tIns="0" rIns="0" bIns="0" rtlCol="0" anchor="ctr"/>
          <a:lstStyle/>
          <a:p>
            <a:pPr indent="0" marL="0">
              <a:buNone/>
            </a:pPr>
            <a:r>
              <a:rPr lang="en-US" sz="1500" b="1" dirty="0">
                <a:solidFill>
                  <a:srgbClr val="1E2761"/>
                </a:solidFill>
                <a:latin typeface="Courier New" pitchFamily="34" charset="0"/>
                <a:ea typeface="Courier New" pitchFamily="34" charset="-122"/>
                <a:cs typeface="Courier New" pitchFamily="34" charset="-120"/>
              </a:rPr>
              <a:t>/sales</a:t>
            </a:r>
            <a:endParaRPr lang="en-US" sz="1500" dirty="0"/>
          </a:p>
        </p:txBody>
      </p:sp>
      <p:sp>
        <p:nvSpPr>
          <p:cNvPr id="6" name="Text 4"/>
          <p:cNvSpPr txBox="1"/>
          <p:nvPr/>
        </p:nvSpPr>
        <p:spPr>
          <a:xfrm>
            <a:off x="3337560" y="1828800"/>
            <a:ext cx="1920240" cy="749808"/>
          </a:xfrm>
          <a:prstGeom prst="rect">
            <a:avLst/>
          </a:prstGeom>
          <a:noFill/>
          <a:ln/>
        </p:spPr>
        <p:txBody>
          <a:bodyPr wrap="square" lIns="0" tIns="0" rIns="0" bIns="0" rtlCol="0" anchor="ctr"/>
          <a:lstStyle/>
          <a:p>
            <a:pPr indent="0" marL="0">
              <a:buNone/>
            </a:pPr>
            <a:r>
              <a:rPr lang="en-US" sz="1400" b="1" dirty="0">
                <a:solidFill>
                  <a:srgbClr val="C8A44D"/>
                </a:solidFill>
                <a:latin typeface="Calibri" pitchFamily="34" charset="0"/>
                <a:ea typeface="Calibri" pitchFamily="34" charset="-122"/>
                <a:cs typeface="Calibri" pitchFamily="34" charset="-120"/>
              </a:rPr>
              <a:t>Read only</a:t>
            </a:r>
            <a:endParaRPr lang="en-US" sz="1400" dirty="0"/>
          </a:p>
        </p:txBody>
      </p:sp>
      <p:sp>
        <p:nvSpPr>
          <p:cNvPr id="7" name="Text 5"/>
          <p:cNvSpPr txBox="1"/>
          <p:nvPr/>
        </p:nvSpPr>
        <p:spPr>
          <a:xfrm>
            <a:off x="5303520" y="1828800"/>
            <a:ext cx="5852160" cy="749808"/>
          </a:xfrm>
          <a:prstGeom prst="rect">
            <a:avLst/>
          </a:prstGeom>
          <a:noFill/>
          <a:ln/>
        </p:spPr>
        <p:txBody>
          <a:bodyPr wrap="square" lIns="0" tIns="0" rIns="0" bIns="0" rtlCol="0" anchor="ctr"/>
          <a:lstStyle/>
          <a:p>
            <a:pPr indent="0" marL="0">
              <a:buNone/>
            </a:pPr>
            <a:r>
              <a:rPr lang="en-US" sz="1300" dirty="0">
                <a:solidFill>
                  <a:srgbClr val="5A6070"/>
                </a:solidFill>
                <a:latin typeface="Calibri" pitchFamily="34" charset="0"/>
                <a:ea typeface="Calibri" pitchFamily="34" charset="-122"/>
                <a:cs typeface="Calibri" pitchFamily="34" charset="-120"/>
              </a:rPr>
              <a:t>Your companies, their signup date, subscription status and milestone pills. No button here writes anything.</a:t>
            </a:r>
            <a:endParaRPr lang="en-US" sz="1300" dirty="0"/>
          </a:p>
        </p:txBody>
      </p:sp>
      <p:sp>
        <p:nvSpPr>
          <p:cNvPr id="8" name="Shape 6"/>
          <p:cNvSpPr/>
          <p:nvPr/>
        </p:nvSpPr>
        <p:spPr>
          <a:xfrm>
            <a:off x="731520" y="2651760"/>
            <a:ext cx="10698480" cy="749808"/>
          </a:xfrm>
          <a:prstGeom prst="roundRect">
            <a:avLst>
              <a:gd name="adj" fmla="val 12195"/>
            </a:avLst>
          </a:prstGeom>
          <a:solidFill>
            <a:srgbClr val="FFFFFF"/>
          </a:solidFill>
          <a:ln/>
        </p:spPr>
      </p:sp>
      <p:sp>
        <p:nvSpPr>
          <p:cNvPr id="9" name="Text 7"/>
          <p:cNvSpPr txBox="1"/>
          <p:nvPr/>
        </p:nvSpPr>
        <p:spPr>
          <a:xfrm>
            <a:off x="987552" y="2651760"/>
            <a:ext cx="2286000" cy="749808"/>
          </a:xfrm>
          <a:prstGeom prst="rect">
            <a:avLst/>
          </a:prstGeom>
          <a:noFill/>
          <a:ln/>
        </p:spPr>
        <p:txBody>
          <a:bodyPr wrap="square" lIns="0" tIns="0" rIns="0" bIns="0" rtlCol="0" anchor="ctr"/>
          <a:lstStyle/>
          <a:p>
            <a:pPr indent="0" marL="0">
              <a:buNone/>
            </a:pPr>
            <a:r>
              <a:rPr lang="en-US" sz="1500" b="1" dirty="0">
                <a:solidFill>
                  <a:srgbClr val="1E2761"/>
                </a:solidFill>
                <a:latin typeface="Courier New" pitchFamily="34" charset="0"/>
                <a:ea typeface="Courier New" pitchFamily="34" charset="-122"/>
                <a:cs typeface="Courier New" pitchFamily="34" charset="-120"/>
              </a:rPr>
              <a:t>/sales/queue</a:t>
            </a:r>
            <a:endParaRPr lang="en-US" sz="1500" dirty="0"/>
          </a:p>
        </p:txBody>
      </p:sp>
      <p:sp>
        <p:nvSpPr>
          <p:cNvPr id="10" name="Text 8"/>
          <p:cNvSpPr txBox="1"/>
          <p:nvPr/>
        </p:nvSpPr>
        <p:spPr>
          <a:xfrm>
            <a:off x="3337560" y="2651760"/>
            <a:ext cx="1920240" cy="749808"/>
          </a:xfrm>
          <a:prstGeom prst="rect">
            <a:avLst/>
          </a:prstGeom>
          <a:noFill/>
          <a:ln/>
        </p:spPr>
        <p:txBody>
          <a:bodyPr wrap="square" lIns="0" tIns="0" rIns="0" bIns="0" rtlCol="0" anchor="ctr"/>
          <a:lstStyle/>
          <a:p>
            <a:pPr indent="0" marL="0">
              <a:buNone/>
            </a:pPr>
            <a:r>
              <a:rPr lang="en-US" sz="1400" b="1" dirty="0">
                <a:solidFill>
                  <a:srgbClr val="C8A44D"/>
                </a:solidFill>
                <a:latin typeface="Calibri" pitchFamily="34" charset="0"/>
                <a:ea typeface="Calibri" pitchFamily="34" charset="-122"/>
                <a:cs typeface="Calibri" pitchFamily="34" charset="-120"/>
              </a:rPr>
              <a:t>Claim and call</a:t>
            </a:r>
            <a:endParaRPr lang="en-US" sz="1400" dirty="0"/>
          </a:p>
        </p:txBody>
      </p:sp>
      <p:sp>
        <p:nvSpPr>
          <p:cNvPr id="11" name="Text 9"/>
          <p:cNvSpPr txBox="1"/>
          <p:nvPr/>
        </p:nvSpPr>
        <p:spPr>
          <a:xfrm>
            <a:off x="5303520" y="2651760"/>
            <a:ext cx="5852160" cy="749808"/>
          </a:xfrm>
          <a:prstGeom prst="rect">
            <a:avLst/>
          </a:prstGeom>
          <a:noFill/>
          <a:ln/>
        </p:spPr>
        <p:txBody>
          <a:bodyPr wrap="square" lIns="0" tIns="0" rIns="0" bIns="0" rtlCol="0" anchor="ctr"/>
          <a:lstStyle/>
          <a:p>
            <a:pPr indent="0" marL="0">
              <a:buNone/>
            </a:pPr>
            <a:r>
              <a:rPr lang="en-US" sz="1300" dirty="0">
                <a:solidFill>
                  <a:srgbClr val="5A6070"/>
                </a:solidFill>
                <a:latin typeface="Calibri" pitchFamily="34" charset="0"/>
                <a:ea typeface="Calibri" pitchFamily="34" charset="-122"/>
                <a:cs typeface="Calibri" pitchFamily="34" charset="-120"/>
              </a:rPr>
              <a:t>Claim prospects, read the research, call, then mark worked, release, or do-not-contact.</a:t>
            </a:r>
            <a:endParaRPr lang="en-US" sz="1300" dirty="0"/>
          </a:p>
        </p:txBody>
      </p:sp>
      <p:sp>
        <p:nvSpPr>
          <p:cNvPr id="12" name="Shape 10"/>
          <p:cNvSpPr/>
          <p:nvPr/>
        </p:nvSpPr>
        <p:spPr>
          <a:xfrm>
            <a:off x="731520" y="3474720"/>
            <a:ext cx="10698480" cy="749808"/>
          </a:xfrm>
          <a:prstGeom prst="roundRect">
            <a:avLst>
              <a:gd name="adj" fmla="val 12195"/>
            </a:avLst>
          </a:prstGeom>
          <a:solidFill>
            <a:srgbClr val="F4F6FB"/>
          </a:solidFill>
          <a:ln/>
        </p:spPr>
      </p:sp>
      <p:sp>
        <p:nvSpPr>
          <p:cNvPr id="13" name="Text 11"/>
          <p:cNvSpPr txBox="1"/>
          <p:nvPr/>
        </p:nvSpPr>
        <p:spPr>
          <a:xfrm>
            <a:off x="987552" y="3474720"/>
            <a:ext cx="2286000" cy="749808"/>
          </a:xfrm>
          <a:prstGeom prst="rect">
            <a:avLst/>
          </a:prstGeom>
          <a:noFill/>
          <a:ln/>
        </p:spPr>
        <p:txBody>
          <a:bodyPr wrap="square" lIns="0" tIns="0" rIns="0" bIns="0" rtlCol="0" anchor="ctr"/>
          <a:lstStyle/>
          <a:p>
            <a:pPr indent="0" marL="0">
              <a:buNone/>
            </a:pPr>
            <a:r>
              <a:rPr lang="en-US" sz="1500" b="1" dirty="0">
                <a:solidFill>
                  <a:srgbClr val="1E2761"/>
                </a:solidFill>
                <a:latin typeface="Courier New" pitchFamily="34" charset="0"/>
                <a:ea typeface="Courier New" pitchFamily="34" charset="-122"/>
                <a:cs typeface="Courier New" pitchFamily="34" charset="-120"/>
              </a:rPr>
              <a:t>/sales/leads</a:t>
            </a:r>
            <a:endParaRPr lang="en-US" sz="1500" dirty="0"/>
          </a:p>
        </p:txBody>
      </p:sp>
      <p:sp>
        <p:nvSpPr>
          <p:cNvPr id="14" name="Text 12"/>
          <p:cNvSpPr txBox="1"/>
          <p:nvPr/>
        </p:nvSpPr>
        <p:spPr>
          <a:xfrm>
            <a:off x="3337560" y="3474720"/>
            <a:ext cx="1920240" cy="749808"/>
          </a:xfrm>
          <a:prstGeom prst="rect">
            <a:avLst/>
          </a:prstGeom>
          <a:noFill/>
          <a:ln/>
        </p:spPr>
        <p:txBody>
          <a:bodyPr wrap="square" lIns="0" tIns="0" rIns="0" bIns="0" rtlCol="0" anchor="ctr"/>
          <a:lstStyle/>
          <a:p>
            <a:pPr indent="0" marL="0">
              <a:buNone/>
            </a:pPr>
            <a:r>
              <a:rPr lang="en-US" sz="1400" b="1" dirty="0">
                <a:solidFill>
                  <a:srgbClr val="C8A44D"/>
                </a:solidFill>
                <a:latin typeface="Calibri" pitchFamily="34" charset="0"/>
                <a:ea typeface="Calibri" pitchFamily="34" charset="-122"/>
                <a:cs typeface="Calibri" pitchFamily="34" charset="-120"/>
              </a:rPr>
              <a:t>Work a lead</a:t>
            </a:r>
            <a:endParaRPr lang="en-US" sz="1400" dirty="0"/>
          </a:p>
        </p:txBody>
      </p:sp>
      <p:sp>
        <p:nvSpPr>
          <p:cNvPr id="15" name="Text 13"/>
          <p:cNvSpPr txBox="1"/>
          <p:nvPr/>
        </p:nvSpPr>
        <p:spPr>
          <a:xfrm>
            <a:off x="5303520" y="3474720"/>
            <a:ext cx="5852160" cy="749808"/>
          </a:xfrm>
          <a:prstGeom prst="rect">
            <a:avLst/>
          </a:prstGeom>
          <a:noFill/>
          <a:ln/>
        </p:spPr>
        <p:txBody>
          <a:bodyPr wrap="square" lIns="0" tIns="0" rIns="0" bIns="0" rtlCol="0" anchor="ctr"/>
          <a:lstStyle/>
          <a:p>
            <a:pPr indent="0" marL="0">
              <a:buNone/>
            </a:pPr>
            <a:r>
              <a:rPr lang="en-US" sz="1300" dirty="0">
                <a:solidFill>
                  <a:srgbClr val="5A6070"/>
                </a:solidFill>
                <a:latin typeface="Calibri" pitchFamily="34" charset="0"/>
                <a:ea typeface="Calibri" pitchFamily="34" charset="-122"/>
                <a:cs typeface="Calibri" pitchFamily="34" charset="-120"/>
              </a:rPr>
              <a:t>Add and work leads. Compose and send email. Text your signup link.</a:t>
            </a:r>
            <a:endParaRPr lang="en-US" sz="1300" dirty="0"/>
          </a:p>
        </p:txBody>
      </p:sp>
      <p:sp>
        <p:nvSpPr>
          <p:cNvPr id="16" name="Shape 14"/>
          <p:cNvSpPr/>
          <p:nvPr/>
        </p:nvSpPr>
        <p:spPr>
          <a:xfrm>
            <a:off x="731520" y="4297680"/>
            <a:ext cx="10698480" cy="749808"/>
          </a:xfrm>
          <a:prstGeom prst="roundRect">
            <a:avLst>
              <a:gd name="adj" fmla="val 12195"/>
            </a:avLst>
          </a:prstGeom>
          <a:solidFill>
            <a:srgbClr val="FFFFFF"/>
          </a:solidFill>
          <a:ln/>
        </p:spPr>
      </p:sp>
      <p:sp>
        <p:nvSpPr>
          <p:cNvPr id="17" name="Text 15"/>
          <p:cNvSpPr txBox="1"/>
          <p:nvPr/>
        </p:nvSpPr>
        <p:spPr>
          <a:xfrm>
            <a:off x="987552" y="4297680"/>
            <a:ext cx="2286000" cy="749808"/>
          </a:xfrm>
          <a:prstGeom prst="rect">
            <a:avLst/>
          </a:prstGeom>
          <a:noFill/>
          <a:ln/>
        </p:spPr>
        <p:txBody>
          <a:bodyPr wrap="square" lIns="0" tIns="0" rIns="0" bIns="0" rtlCol="0" anchor="ctr"/>
          <a:lstStyle/>
          <a:p>
            <a:pPr indent="0" marL="0">
              <a:buNone/>
            </a:pPr>
            <a:r>
              <a:rPr lang="en-US" sz="1500" b="1" dirty="0">
                <a:solidFill>
                  <a:srgbClr val="1E2761"/>
                </a:solidFill>
                <a:latin typeface="Courier New" pitchFamily="34" charset="0"/>
                <a:ea typeface="Courier New" pitchFamily="34" charset="-122"/>
                <a:cs typeface="Courier New" pitchFamily="34" charset="-120"/>
              </a:rPr>
              <a:t>/sales/threads</a:t>
            </a:r>
            <a:endParaRPr lang="en-US" sz="1500" dirty="0"/>
          </a:p>
        </p:txBody>
      </p:sp>
      <p:sp>
        <p:nvSpPr>
          <p:cNvPr id="18" name="Text 16"/>
          <p:cNvSpPr txBox="1"/>
          <p:nvPr/>
        </p:nvSpPr>
        <p:spPr>
          <a:xfrm>
            <a:off x="3337560" y="4297680"/>
            <a:ext cx="1920240" cy="749808"/>
          </a:xfrm>
          <a:prstGeom prst="rect">
            <a:avLst/>
          </a:prstGeom>
          <a:noFill/>
          <a:ln/>
        </p:spPr>
        <p:txBody>
          <a:bodyPr wrap="square" lIns="0" tIns="0" rIns="0" bIns="0" rtlCol="0" anchor="ctr"/>
          <a:lstStyle/>
          <a:p>
            <a:pPr indent="0" marL="0">
              <a:buNone/>
            </a:pPr>
            <a:r>
              <a:rPr lang="en-US" sz="1400" b="1" dirty="0">
                <a:solidFill>
                  <a:srgbClr val="C8A44D"/>
                </a:solidFill>
                <a:latin typeface="Calibri" pitchFamily="34" charset="0"/>
                <a:ea typeface="Calibri" pitchFamily="34" charset="-122"/>
                <a:cs typeface="Calibri" pitchFamily="34" charset="-120"/>
              </a:rPr>
              <a:t>Conversations</a:t>
            </a:r>
            <a:endParaRPr lang="en-US" sz="1400" dirty="0"/>
          </a:p>
        </p:txBody>
      </p:sp>
      <p:sp>
        <p:nvSpPr>
          <p:cNvPr id="19" name="Text 17"/>
          <p:cNvSpPr txBox="1"/>
          <p:nvPr/>
        </p:nvSpPr>
        <p:spPr>
          <a:xfrm>
            <a:off x="5303520" y="4297680"/>
            <a:ext cx="5852160" cy="749808"/>
          </a:xfrm>
          <a:prstGeom prst="rect">
            <a:avLst/>
          </a:prstGeom>
          <a:noFill/>
          <a:ln/>
        </p:spPr>
        <p:txBody>
          <a:bodyPr wrap="square" lIns="0" tIns="0" rIns="0" bIns="0" rtlCol="0" anchor="ctr"/>
          <a:lstStyle/>
          <a:p>
            <a:pPr indent="0" marL="0">
              <a:buNone/>
            </a:pPr>
            <a:r>
              <a:rPr lang="en-US" sz="1300" dirty="0">
                <a:solidFill>
                  <a:srgbClr val="5A6070"/>
                </a:solidFill>
                <a:latin typeface="Calibri" pitchFamily="34" charset="0"/>
                <a:ea typeface="Calibri" pitchFamily="34" charset="-122"/>
                <a:cs typeface="Calibri" pitchFamily="34" charset="-120"/>
              </a:rPr>
              <a:t>Read and reply.</a:t>
            </a:r>
            <a:endParaRPr lang="en-US" sz="1300" dirty="0"/>
          </a:p>
        </p:txBody>
      </p:sp>
      <p:sp>
        <p:nvSpPr>
          <p:cNvPr id="20" name="Shape 18"/>
          <p:cNvSpPr/>
          <p:nvPr/>
        </p:nvSpPr>
        <p:spPr>
          <a:xfrm>
            <a:off x="731520" y="5120640"/>
            <a:ext cx="10698480" cy="749808"/>
          </a:xfrm>
          <a:prstGeom prst="roundRect">
            <a:avLst>
              <a:gd name="adj" fmla="val 12195"/>
            </a:avLst>
          </a:prstGeom>
          <a:solidFill>
            <a:srgbClr val="F4F6FB"/>
          </a:solidFill>
          <a:ln/>
        </p:spPr>
      </p:sp>
      <p:sp>
        <p:nvSpPr>
          <p:cNvPr id="21" name="Text 19"/>
          <p:cNvSpPr txBox="1"/>
          <p:nvPr/>
        </p:nvSpPr>
        <p:spPr>
          <a:xfrm>
            <a:off x="987552" y="5120640"/>
            <a:ext cx="2286000" cy="749808"/>
          </a:xfrm>
          <a:prstGeom prst="rect">
            <a:avLst/>
          </a:prstGeom>
          <a:noFill/>
          <a:ln/>
        </p:spPr>
        <p:txBody>
          <a:bodyPr wrap="square" lIns="0" tIns="0" rIns="0" bIns="0" rtlCol="0" anchor="ctr"/>
          <a:lstStyle/>
          <a:p>
            <a:pPr indent="0" marL="0">
              <a:buNone/>
            </a:pPr>
            <a:r>
              <a:rPr lang="en-US" sz="1500" b="1" dirty="0">
                <a:solidFill>
                  <a:srgbClr val="1E2761"/>
                </a:solidFill>
                <a:latin typeface="Courier New" pitchFamily="34" charset="0"/>
                <a:ea typeface="Courier New" pitchFamily="34" charset="-122"/>
                <a:cs typeface="Courier New" pitchFamily="34" charset="-120"/>
              </a:rPr>
              <a:t>/sales/notes</a:t>
            </a:r>
            <a:endParaRPr lang="en-US" sz="1500" dirty="0"/>
          </a:p>
        </p:txBody>
      </p:sp>
      <p:sp>
        <p:nvSpPr>
          <p:cNvPr id="22" name="Text 20"/>
          <p:cNvSpPr txBox="1"/>
          <p:nvPr/>
        </p:nvSpPr>
        <p:spPr>
          <a:xfrm>
            <a:off x="3337560" y="5120640"/>
            <a:ext cx="1920240" cy="749808"/>
          </a:xfrm>
          <a:prstGeom prst="rect">
            <a:avLst/>
          </a:prstGeom>
          <a:noFill/>
          <a:ln/>
        </p:spPr>
        <p:txBody>
          <a:bodyPr wrap="square" lIns="0" tIns="0" rIns="0" bIns="0" rtlCol="0" anchor="ctr"/>
          <a:lstStyle/>
          <a:p>
            <a:pPr indent="0" marL="0">
              <a:buNone/>
            </a:pPr>
            <a:r>
              <a:rPr lang="en-US" sz="1400" b="1" dirty="0">
                <a:solidFill>
                  <a:srgbClr val="C8A44D"/>
                </a:solidFill>
                <a:latin typeface="Calibri" pitchFamily="34" charset="0"/>
                <a:ea typeface="Calibri" pitchFamily="34" charset="-122"/>
                <a:cs typeface="Calibri" pitchFamily="34" charset="-120"/>
              </a:rPr>
              <a:t>Your notes</a:t>
            </a:r>
            <a:endParaRPr lang="en-US" sz="1400" dirty="0"/>
          </a:p>
        </p:txBody>
      </p:sp>
      <p:sp>
        <p:nvSpPr>
          <p:cNvPr id="23" name="Text 21"/>
          <p:cNvSpPr txBox="1"/>
          <p:nvPr/>
        </p:nvSpPr>
        <p:spPr>
          <a:xfrm>
            <a:off x="5303520" y="5120640"/>
            <a:ext cx="5852160" cy="749808"/>
          </a:xfrm>
          <a:prstGeom prst="rect">
            <a:avLst/>
          </a:prstGeom>
          <a:noFill/>
          <a:ln/>
        </p:spPr>
        <p:txBody>
          <a:bodyPr wrap="square" lIns="0" tIns="0" rIns="0" bIns="0" rtlCol="0" anchor="ctr"/>
          <a:lstStyle/>
          <a:p>
            <a:pPr indent="0" marL="0">
              <a:buNone/>
            </a:pPr>
            <a:r>
              <a:rPr lang="en-US" sz="1300" dirty="0">
                <a:solidFill>
                  <a:srgbClr val="5A6070"/>
                </a:solidFill>
                <a:latin typeface="Calibri" pitchFamily="34" charset="0"/>
                <a:ea typeface="Calibri" pitchFamily="34" charset="-122"/>
                <a:cs typeface="Calibri" pitchFamily="34" charset="-120"/>
              </a:rPr>
              <a:t>Autosaves. Archive only — nothing deletes.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731520"/>
          </a:xfrm>
          <a:prstGeom prst="rect">
            <a:avLst/>
          </a:prstGeom>
          <a:noFill/>
          <a:ln/>
        </p:spPr>
        <p:txBody>
          <a:bodyPr wrap="square"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Working the queue</a:t>
            </a:r>
            <a:endParaRPr lang="en-US" sz="3600" dirty="0"/>
          </a:p>
        </p:txBody>
      </p:sp>
      <p:sp>
        <p:nvSpPr>
          <p:cNvPr id="3" name="Text 1"/>
          <p:cNvSpPr txBox="1"/>
          <p:nvPr/>
        </p:nvSpPr>
        <p:spPr>
          <a:xfrm>
            <a:off x="731520" y="1207008"/>
            <a:ext cx="10698480" cy="411480"/>
          </a:xfrm>
          <a:prstGeom prst="rect">
            <a:avLst/>
          </a:prstGeom>
          <a:noFill/>
          <a:ln/>
        </p:spPr>
        <p:txBody>
          <a:bodyPr wrap="square" rtlCol="0" anchor="ctr"/>
          <a:lstStyle/>
          <a:p>
            <a:pPr indent="0" marL="0">
              <a:buNone/>
            </a:pPr>
            <a:r>
              <a:rPr lang="en-US" sz="1500" dirty="0">
                <a:solidFill>
                  <a:srgbClr val="5A6070"/>
                </a:solidFill>
                <a:latin typeface="Calibri" pitchFamily="34" charset="0"/>
                <a:ea typeface="Calibri" pitchFamily="34" charset="-122"/>
                <a:cs typeface="Calibri" pitchFamily="34" charset="-120"/>
              </a:rPr>
              <a:t>Claim before you call. Always.</a:t>
            </a:r>
            <a:endParaRPr lang="en-US" sz="1500" dirty="0"/>
          </a:p>
        </p:txBody>
      </p:sp>
      <p:sp>
        <p:nvSpPr>
          <p:cNvPr id="4" name="Shape 2"/>
          <p:cNvSpPr/>
          <p:nvPr/>
        </p:nvSpPr>
        <p:spPr>
          <a:xfrm>
            <a:off x="731520" y="1828800"/>
            <a:ext cx="3383280" cy="2377440"/>
          </a:xfrm>
          <a:prstGeom prst="roundRect">
            <a:avLst>
              <a:gd name="adj" fmla="val 5385"/>
            </a:avLst>
          </a:prstGeom>
          <a:solidFill>
            <a:srgbClr val="F4F6FB"/>
          </a:solidFill>
          <a:ln/>
        </p:spPr>
      </p:sp>
      <p:sp>
        <p:nvSpPr>
          <p:cNvPr id="5" name="Text 3"/>
          <p:cNvSpPr txBox="1"/>
          <p:nvPr/>
        </p:nvSpPr>
        <p:spPr>
          <a:xfrm>
            <a:off x="1024128" y="1993392"/>
            <a:ext cx="2798064" cy="822960"/>
          </a:xfrm>
          <a:prstGeom prst="rect">
            <a:avLst/>
          </a:prstGeom>
          <a:noFill/>
          <a:ln/>
        </p:spPr>
        <p:txBody>
          <a:bodyPr wrap="square" lIns="0" tIns="0" rIns="0" bIns="0" rtlCol="0" anchor="ctr"/>
          <a:lstStyle/>
          <a:p>
            <a:pPr indent="0" marL="0">
              <a:buNone/>
            </a:pPr>
            <a:r>
              <a:rPr lang="en-US" sz="4600" b="1" dirty="0">
                <a:solidFill>
                  <a:srgbClr val="1E2761"/>
                </a:solidFill>
                <a:latin typeface="Cambria" pitchFamily="34" charset="0"/>
                <a:ea typeface="Cambria" pitchFamily="34" charset="-122"/>
                <a:cs typeface="Cambria" pitchFamily="34" charset="-120"/>
              </a:rPr>
              <a:t>39</a:t>
            </a:r>
            <a:endParaRPr lang="en-US" sz="4600" dirty="0"/>
          </a:p>
        </p:txBody>
      </p:sp>
      <p:sp>
        <p:nvSpPr>
          <p:cNvPr id="6" name="Text 4"/>
          <p:cNvSpPr txBox="1"/>
          <p:nvPr/>
        </p:nvSpPr>
        <p:spPr>
          <a:xfrm>
            <a:off x="1024128" y="2788920"/>
            <a:ext cx="2798064" cy="320040"/>
          </a:xfrm>
          <a:prstGeom prst="rect">
            <a:avLst/>
          </a:prstGeom>
          <a:noFill/>
          <a:ln/>
        </p:spPr>
        <p:txBody>
          <a:bodyPr wrap="square" lIns="0" tIns="0" rIns="0" bIns="0" rtlCol="0" anchor="ctr"/>
          <a:lstStyle/>
          <a:p>
            <a:pPr indent="0" marL="0">
              <a:buNone/>
            </a:pPr>
            <a:r>
              <a:rPr lang="en-US" sz="1400" b="1" dirty="0">
                <a:solidFill>
                  <a:srgbClr val="C8A44D"/>
                </a:solidFill>
                <a:latin typeface="Calibri" pitchFamily="34" charset="0"/>
                <a:ea typeface="Calibri" pitchFamily="34" charset="-122"/>
                <a:cs typeface="Calibri" pitchFamily="34" charset="-120"/>
              </a:rPr>
              <a:t>trades in the picker</a:t>
            </a:r>
            <a:endParaRPr lang="en-US" sz="1400" dirty="0"/>
          </a:p>
        </p:txBody>
      </p:sp>
      <p:sp>
        <p:nvSpPr>
          <p:cNvPr id="7" name="Text 5"/>
          <p:cNvSpPr txBox="1"/>
          <p:nvPr/>
        </p:nvSpPr>
        <p:spPr>
          <a:xfrm>
            <a:off x="1024128" y="3154680"/>
            <a:ext cx="2798064" cy="914400"/>
          </a:xfrm>
          <a:prstGeom prst="rect">
            <a:avLst/>
          </a:prstGeom>
          <a:noFill/>
          <a:ln/>
        </p:spPr>
        <p:txBody>
          <a:bodyPr wrap="square" lIns="0" tIns="0" rIns="0" bIns="0" rtlCol="0" anchor="ctr"/>
          <a:lstStyle/>
          <a:p>
            <a:pPr indent="0" marL="0">
              <a:buNone/>
            </a:pPr>
            <a:r>
              <a:rPr lang="en-US" sz="1300" dirty="0">
                <a:solidFill>
                  <a:srgbClr val="5A6070"/>
                </a:solidFill>
                <a:latin typeface="Calibri" pitchFamily="34" charset="0"/>
                <a:ea typeface="Calibri" pitchFamily="34" charset="-122"/>
                <a:cs typeface="Calibri" pitchFamily="34" charset="-120"/>
              </a:rPr>
              <a:t>Pick a trade, then press Claim the next one.</a:t>
            </a:r>
            <a:endParaRPr lang="en-US" sz="1300" dirty="0"/>
          </a:p>
        </p:txBody>
      </p:sp>
      <p:sp>
        <p:nvSpPr>
          <p:cNvPr id="8" name="Shape 6"/>
          <p:cNvSpPr/>
          <p:nvPr/>
        </p:nvSpPr>
        <p:spPr>
          <a:xfrm>
            <a:off x="4480560" y="1828800"/>
            <a:ext cx="3383280" cy="2377440"/>
          </a:xfrm>
          <a:prstGeom prst="roundRect">
            <a:avLst>
              <a:gd name="adj" fmla="val 5385"/>
            </a:avLst>
          </a:prstGeom>
          <a:solidFill>
            <a:srgbClr val="F4F6FB"/>
          </a:solidFill>
          <a:ln/>
        </p:spPr>
      </p:sp>
      <p:sp>
        <p:nvSpPr>
          <p:cNvPr id="9" name="Text 7"/>
          <p:cNvSpPr txBox="1"/>
          <p:nvPr/>
        </p:nvSpPr>
        <p:spPr>
          <a:xfrm>
            <a:off x="4773168" y="1993392"/>
            <a:ext cx="2798064" cy="822960"/>
          </a:xfrm>
          <a:prstGeom prst="rect">
            <a:avLst/>
          </a:prstGeom>
          <a:noFill/>
          <a:ln/>
        </p:spPr>
        <p:txBody>
          <a:bodyPr wrap="square" lIns="0" tIns="0" rIns="0" bIns="0" rtlCol="0" anchor="ctr"/>
          <a:lstStyle/>
          <a:p>
            <a:pPr indent="0" marL="0">
              <a:buNone/>
            </a:pPr>
            <a:r>
              <a:rPr lang="en-US" sz="4600" b="1" dirty="0">
                <a:solidFill>
                  <a:srgbClr val="1E2761"/>
                </a:solidFill>
                <a:latin typeface="Cambria" pitchFamily="34" charset="0"/>
                <a:ea typeface="Cambria" pitchFamily="34" charset="-122"/>
                <a:cs typeface="Cambria" pitchFamily="34" charset="-120"/>
              </a:rPr>
              <a:t>48h</a:t>
            </a:r>
            <a:endParaRPr lang="en-US" sz="4600" dirty="0"/>
          </a:p>
        </p:txBody>
      </p:sp>
      <p:sp>
        <p:nvSpPr>
          <p:cNvPr id="10" name="Text 8"/>
          <p:cNvSpPr txBox="1"/>
          <p:nvPr/>
        </p:nvSpPr>
        <p:spPr>
          <a:xfrm>
            <a:off x="4773168" y="2788920"/>
            <a:ext cx="2798064" cy="320040"/>
          </a:xfrm>
          <a:prstGeom prst="rect">
            <a:avLst/>
          </a:prstGeom>
          <a:noFill/>
          <a:ln/>
        </p:spPr>
        <p:txBody>
          <a:bodyPr wrap="square" lIns="0" tIns="0" rIns="0" bIns="0" rtlCol="0" anchor="ctr"/>
          <a:lstStyle/>
          <a:p>
            <a:pPr indent="0" marL="0">
              <a:buNone/>
            </a:pPr>
            <a:r>
              <a:rPr lang="en-US" sz="1400" b="1" dirty="0">
                <a:solidFill>
                  <a:srgbClr val="C8A44D"/>
                </a:solidFill>
                <a:latin typeface="Calibri" pitchFamily="34" charset="0"/>
                <a:ea typeface="Calibri" pitchFamily="34" charset="-122"/>
                <a:cs typeface="Calibri" pitchFamily="34" charset="-120"/>
              </a:rPr>
              <a:t>before a claim lapses</a:t>
            </a:r>
            <a:endParaRPr lang="en-US" sz="1400" dirty="0"/>
          </a:p>
        </p:txBody>
      </p:sp>
      <p:sp>
        <p:nvSpPr>
          <p:cNvPr id="11" name="Text 9"/>
          <p:cNvSpPr txBox="1"/>
          <p:nvPr/>
        </p:nvSpPr>
        <p:spPr>
          <a:xfrm>
            <a:off x="4773168" y="3154680"/>
            <a:ext cx="2798064" cy="914400"/>
          </a:xfrm>
          <a:prstGeom prst="rect">
            <a:avLst/>
          </a:prstGeom>
          <a:noFill/>
          <a:ln/>
        </p:spPr>
        <p:txBody>
          <a:bodyPr wrap="square" lIns="0" tIns="0" rIns="0" bIns="0" rtlCol="0" anchor="ctr"/>
          <a:lstStyle/>
          <a:p>
            <a:pPr indent="0" marL="0">
              <a:buNone/>
            </a:pPr>
            <a:r>
              <a:rPr lang="en-US" sz="1300" dirty="0">
                <a:solidFill>
                  <a:srgbClr val="5A6070"/>
                </a:solidFill>
                <a:latin typeface="Calibri" pitchFamily="34" charset="0"/>
                <a:ea typeface="Calibri" pitchFamily="34" charset="-122"/>
                <a:cs typeface="Calibri" pitchFamily="34" charset="-120"/>
              </a:rPr>
              <a:t>If you do not work it, the prospect returns to the pool for somebody else.</a:t>
            </a:r>
            <a:endParaRPr lang="en-US" sz="1300" dirty="0"/>
          </a:p>
        </p:txBody>
      </p:sp>
      <p:sp>
        <p:nvSpPr>
          <p:cNvPr id="12" name="Shape 10"/>
          <p:cNvSpPr/>
          <p:nvPr/>
        </p:nvSpPr>
        <p:spPr>
          <a:xfrm>
            <a:off x="8229600" y="1828800"/>
            <a:ext cx="3383280" cy="2377440"/>
          </a:xfrm>
          <a:prstGeom prst="roundRect">
            <a:avLst>
              <a:gd name="adj" fmla="val 5385"/>
            </a:avLst>
          </a:prstGeom>
          <a:solidFill>
            <a:srgbClr val="F4F6FB"/>
          </a:solidFill>
          <a:ln/>
        </p:spPr>
      </p:sp>
      <p:sp>
        <p:nvSpPr>
          <p:cNvPr id="13" name="Text 11"/>
          <p:cNvSpPr txBox="1"/>
          <p:nvPr/>
        </p:nvSpPr>
        <p:spPr>
          <a:xfrm>
            <a:off x="8522208" y="1993392"/>
            <a:ext cx="2798064" cy="822960"/>
          </a:xfrm>
          <a:prstGeom prst="rect">
            <a:avLst/>
          </a:prstGeom>
          <a:noFill/>
          <a:ln/>
        </p:spPr>
        <p:txBody>
          <a:bodyPr wrap="square" lIns="0" tIns="0" rIns="0" bIns="0" rtlCol="0" anchor="ctr"/>
          <a:lstStyle/>
          <a:p>
            <a:pPr indent="0" marL="0">
              <a:buNone/>
            </a:pPr>
            <a:r>
              <a:rPr lang="en-US" sz="4600" b="1" dirty="0">
                <a:solidFill>
                  <a:srgbClr val="1E2761"/>
                </a:solidFill>
                <a:latin typeface="Cambria" pitchFamily="34" charset="0"/>
                <a:ea typeface="Cambria" pitchFamily="34" charset="-122"/>
                <a:cs typeface="Cambria" pitchFamily="34" charset="-120"/>
              </a:rPr>
              <a:t>0</a:t>
            </a:r>
            <a:endParaRPr lang="en-US" sz="4600" dirty="0"/>
          </a:p>
        </p:txBody>
      </p:sp>
      <p:sp>
        <p:nvSpPr>
          <p:cNvPr id="14" name="Text 12"/>
          <p:cNvSpPr txBox="1"/>
          <p:nvPr/>
        </p:nvSpPr>
        <p:spPr>
          <a:xfrm>
            <a:off x="8522208" y="2788920"/>
            <a:ext cx="2798064" cy="320040"/>
          </a:xfrm>
          <a:prstGeom prst="rect">
            <a:avLst/>
          </a:prstGeom>
          <a:noFill/>
          <a:ln/>
        </p:spPr>
        <p:txBody>
          <a:bodyPr wrap="square" lIns="0" tIns="0" rIns="0" bIns="0" rtlCol="0" anchor="ctr"/>
          <a:lstStyle/>
          <a:p>
            <a:pPr indent="0" marL="0">
              <a:buNone/>
            </a:pPr>
            <a:r>
              <a:rPr lang="en-US" sz="1400" b="1" dirty="0">
                <a:solidFill>
                  <a:srgbClr val="C8A44D"/>
                </a:solidFill>
                <a:latin typeface="Calibri" pitchFamily="34" charset="0"/>
                <a:ea typeface="Calibri" pitchFamily="34" charset="-122"/>
                <a:cs typeface="Calibri" pitchFamily="34" charset="-120"/>
              </a:rPr>
              <a:t>prospects you can browse</a:t>
            </a:r>
            <a:endParaRPr lang="en-US" sz="1400" dirty="0"/>
          </a:p>
        </p:txBody>
      </p:sp>
      <p:sp>
        <p:nvSpPr>
          <p:cNvPr id="15" name="Text 13"/>
          <p:cNvSpPr txBox="1"/>
          <p:nvPr/>
        </p:nvSpPr>
        <p:spPr>
          <a:xfrm>
            <a:off x="8522208" y="3154680"/>
            <a:ext cx="2798064" cy="914400"/>
          </a:xfrm>
          <a:prstGeom prst="rect">
            <a:avLst/>
          </a:prstGeom>
          <a:noFill/>
          <a:ln/>
        </p:spPr>
        <p:txBody>
          <a:bodyPr wrap="square" lIns="0" tIns="0" rIns="0" bIns="0" rtlCol="0" anchor="ctr"/>
          <a:lstStyle/>
          <a:p>
            <a:pPr indent="0" marL="0">
              <a:buNone/>
            </a:pPr>
            <a:r>
              <a:rPr lang="en-US" sz="1300" dirty="0">
                <a:solidFill>
                  <a:srgbClr val="5A6070"/>
                </a:solidFill>
                <a:latin typeface="Calibri" pitchFamily="34" charset="0"/>
                <a:ea typeface="Calibri" pitchFamily="34" charset="-122"/>
                <a:cs typeface="Calibri" pitchFamily="34" charset="-120"/>
              </a:rPr>
              <a:t>You get a count per trade, never a list. A count is not a list — it stops one rep claiming two hundred and calling nine.</a:t>
            </a:r>
            <a:endParaRPr lang="en-US" sz="1300" dirty="0"/>
          </a:p>
        </p:txBody>
      </p:sp>
      <p:sp>
        <p:nvSpPr>
          <p:cNvPr id="16" name="Text 14"/>
          <p:cNvSpPr txBox="1"/>
          <p:nvPr/>
        </p:nvSpPr>
        <p:spPr>
          <a:xfrm>
            <a:off x="731520" y="4526280"/>
            <a:ext cx="10698480" cy="457200"/>
          </a:xfrm>
          <a:prstGeom prst="rect">
            <a:avLst/>
          </a:prstGeom>
          <a:noFill/>
          <a:ln/>
        </p:spPr>
        <p:txBody>
          <a:bodyPr wrap="square" rtlCol="0" anchor="ctr"/>
          <a:lstStyle/>
          <a:p>
            <a:pPr indent="0" marL="0">
              <a:buNone/>
            </a:pPr>
            <a:r>
              <a:rPr lang="en-US" sz="1500" i="1" dirty="0">
                <a:solidFill>
                  <a:srgbClr val="1E2761"/>
                </a:solidFill>
                <a:latin typeface="Calibri" pitchFamily="34" charset="0"/>
                <a:ea typeface="Calibri" pitchFamily="34" charset="-122"/>
                <a:cs typeface="Calibri" pitchFamily="34" charset="-120"/>
              </a:rPr>
              <a:t>You cannot trigger discovery. It runs on a schedule. If a trade is empty, the screen tells you which of three reasons applies.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731520" y="640080"/>
            <a:ext cx="10698480" cy="731520"/>
          </a:xfrm>
          <a:prstGeom prst="rect">
            <a:avLst/>
          </a:prstGeom>
          <a:noFill/>
          <a:ln/>
        </p:spPr>
        <p:txBody>
          <a:bodyPr wrap="square"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Read the three layers. Keep them separate.</a:t>
            </a:r>
            <a:endParaRPr lang="en-US" sz="3600" dirty="0"/>
          </a:p>
        </p:txBody>
      </p:sp>
      <p:sp>
        <p:nvSpPr>
          <p:cNvPr id="3" name="Text 1"/>
          <p:cNvSpPr txBox="1"/>
          <p:nvPr/>
        </p:nvSpPr>
        <p:spPr>
          <a:xfrm>
            <a:off x="731520" y="1371600"/>
            <a:ext cx="10698480" cy="411480"/>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The research screen never merges fact with guesswork. Neither should you on a call.</a:t>
            </a:r>
            <a:endParaRPr lang="en-US" sz="1500" dirty="0"/>
          </a:p>
        </p:txBody>
      </p:sp>
      <p:sp>
        <p:nvSpPr>
          <p:cNvPr id="4" name="Shape 2"/>
          <p:cNvSpPr/>
          <p:nvPr/>
        </p:nvSpPr>
        <p:spPr>
          <a:xfrm>
            <a:off x="731520" y="2057400"/>
            <a:ext cx="10698480" cy="713232"/>
          </a:xfrm>
          <a:prstGeom prst="roundRect">
            <a:avLst>
              <a:gd name="adj" fmla="val 12821"/>
            </a:avLst>
          </a:prstGeom>
          <a:solidFill>
            <a:srgbClr val="2A3A78"/>
          </a:solidFill>
          <a:ln/>
        </p:spPr>
      </p:sp>
      <p:sp>
        <p:nvSpPr>
          <p:cNvPr id="5" name="Text 3"/>
          <p:cNvSpPr txBox="1"/>
          <p:nvPr/>
        </p:nvSpPr>
        <p:spPr>
          <a:xfrm>
            <a:off x="1005840" y="2057400"/>
            <a:ext cx="2834640" cy="713232"/>
          </a:xfrm>
          <a:prstGeom prst="rect">
            <a:avLst/>
          </a:prstGeom>
          <a:noFill/>
          <a:ln/>
        </p:spPr>
        <p:txBody>
          <a:bodyPr wrap="square" lIns="0" tIns="0" rIns="0" bIns="0" rtlCol="0" anchor="ctr"/>
          <a:lstStyle/>
          <a:p>
            <a:pPr indent="0" marL="0">
              <a:buNone/>
            </a:pPr>
            <a:r>
              <a:rPr lang="en-US" sz="1600" b="1" dirty="0">
                <a:solidFill>
                  <a:srgbClr val="C8A44D"/>
                </a:solidFill>
                <a:latin typeface="Calibri" pitchFamily="34" charset="0"/>
                <a:ea typeface="Calibri" pitchFamily="34" charset="-122"/>
                <a:cs typeface="Calibri" pitchFamily="34" charset="-120"/>
              </a:rPr>
              <a:t>What we observed</a:t>
            </a:r>
            <a:endParaRPr lang="en-US" sz="1600" dirty="0"/>
          </a:p>
        </p:txBody>
      </p:sp>
      <p:sp>
        <p:nvSpPr>
          <p:cNvPr id="6" name="Text 4"/>
          <p:cNvSpPr txBox="1"/>
          <p:nvPr/>
        </p:nvSpPr>
        <p:spPr>
          <a:xfrm>
            <a:off x="3931920" y="2057400"/>
            <a:ext cx="3474720" cy="71323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Fact. A crawler actually saw it.</a:t>
            </a:r>
            <a:endParaRPr lang="en-US" sz="1400" dirty="0"/>
          </a:p>
        </p:txBody>
      </p:sp>
      <p:sp>
        <p:nvSpPr>
          <p:cNvPr id="7" name="Text 5"/>
          <p:cNvSpPr txBox="1"/>
          <p:nvPr/>
        </p:nvSpPr>
        <p:spPr>
          <a:xfrm>
            <a:off x="7589520" y="2057400"/>
            <a:ext cx="3657600" cy="713232"/>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Safe to state directly.</a:t>
            </a:r>
            <a:endParaRPr lang="en-US" sz="1400" dirty="0"/>
          </a:p>
        </p:txBody>
      </p:sp>
      <p:sp>
        <p:nvSpPr>
          <p:cNvPr id="8" name="Shape 6"/>
          <p:cNvSpPr/>
          <p:nvPr/>
        </p:nvSpPr>
        <p:spPr>
          <a:xfrm>
            <a:off x="731520" y="2862072"/>
            <a:ext cx="10698480" cy="713232"/>
          </a:xfrm>
          <a:prstGeom prst="roundRect">
            <a:avLst>
              <a:gd name="adj" fmla="val 12821"/>
            </a:avLst>
          </a:prstGeom>
          <a:solidFill>
            <a:srgbClr val="2A3A78"/>
          </a:solidFill>
          <a:ln/>
        </p:spPr>
      </p:sp>
      <p:sp>
        <p:nvSpPr>
          <p:cNvPr id="9" name="Text 7"/>
          <p:cNvSpPr txBox="1"/>
          <p:nvPr/>
        </p:nvSpPr>
        <p:spPr>
          <a:xfrm>
            <a:off x="1005840" y="2862072"/>
            <a:ext cx="2834640" cy="713232"/>
          </a:xfrm>
          <a:prstGeom prst="rect">
            <a:avLst/>
          </a:prstGeom>
          <a:noFill/>
          <a:ln/>
        </p:spPr>
        <p:txBody>
          <a:bodyPr wrap="square" lIns="0" tIns="0" rIns="0" bIns="0" rtlCol="0" anchor="ctr"/>
          <a:lstStyle/>
          <a:p>
            <a:pPr indent="0" marL="0">
              <a:buNone/>
            </a:pPr>
            <a:r>
              <a:rPr lang="en-US" sz="1600" b="1" dirty="0">
                <a:solidFill>
                  <a:srgbClr val="C8A44D"/>
                </a:solidFill>
                <a:latin typeface="Calibri" pitchFamily="34" charset="0"/>
                <a:ea typeface="Calibri" pitchFamily="34" charset="-122"/>
                <a:cs typeface="Calibri" pitchFamily="34" charset="-120"/>
              </a:rPr>
              <a:t>What we infer</a:t>
            </a:r>
            <a:endParaRPr lang="en-US" sz="1600" dirty="0"/>
          </a:p>
        </p:txBody>
      </p:sp>
      <p:sp>
        <p:nvSpPr>
          <p:cNvPr id="10" name="Text 8"/>
          <p:cNvSpPr txBox="1"/>
          <p:nvPr/>
        </p:nvSpPr>
        <p:spPr>
          <a:xfrm>
            <a:off x="3931920" y="2862072"/>
            <a:ext cx="3474720" cy="71323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Inference, with a confidence.</a:t>
            </a:r>
            <a:endParaRPr lang="en-US" sz="1400" dirty="0"/>
          </a:p>
        </p:txBody>
      </p:sp>
      <p:sp>
        <p:nvSpPr>
          <p:cNvPr id="11" name="Text 9"/>
          <p:cNvSpPr txBox="1"/>
          <p:nvPr/>
        </p:nvSpPr>
        <p:spPr>
          <a:xfrm>
            <a:off x="7589520" y="2862072"/>
            <a:ext cx="3657600" cy="713232"/>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Say it as a question, never a claim.</a:t>
            </a:r>
            <a:endParaRPr lang="en-US" sz="1400" dirty="0"/>
          </a:p>
        </p:txBody>
      </p:sp>
      <p:sp>
        <p:nvSpPr>
          <p:cNvPr id="12" name="Shape 10"/>
          <p:cNvSpPr/>
          <p:nvPr/>
        </p:nvSpPr>
        <p:spPr>
          <a:xfrm>
            <a:off x="731520" y="3666744"/>
            <a:ext cx="10698480" cy="713232"/>
          </a:xfrm>
          <a:prstGeom prst="roundRect">
            <a:avLst>
              <a:gd name="adj" fmla="val 12821"/>
            </a:avLst>
          </a:prstGeom>
          <a:solidFill>
            <a:srgbClr val="2A3A78"/>
          </a:solidFill>
          <a:ln/>
        </p:spPr>
      </p:sp>
      <p:sp>
        <p:nvSpPr>
          <p:cNvPr id="13" name="Text 11"/>
          <p:cNvSpPr txBox="1"/>
          <p:nvPr/>
        </p:nvSpPr>
        <p:spPr>
          <a:xfrm>
            <a:off x="1005840" y="3666744"/>
            <a:ext cx="2834640" cy="713232"/>
          </a:xfrm>
          <a:prstGeom prst="rect">
            <a:avLst/>
          </a:prstGeom>
          <a:noFill/>
          <a:ln/>
        </p:spPr>
        <p:txBody>
          <a:bodyPr wrap="square" lIns="0" tIns="0" rIns="0" bIns="0" rtlCol="0" anchor="ctr"/>
          <a:lstStyle/>
          <a:p>
            <a:pPr indent="0" marL="0">
              <a:buNone/>
            </a:pPr>
            <a:r>
              <a:rPr lang="en-US" sz="1600" b="1" dirty="0">
                <a:solidFill>
                  <a:srgbClr val="C8A44D"/>
                </a:solidFill>
                <a:latin typeface="Calibri" pitchFamily="34" charset="0"/>
                <a:ea typeface="Calibri" pitchFamily="34" charset="-122"/>
                <a:cs typeface="Calibri" pitchFamily="34" charset="-120"/>
              </a:rPr>
              <a:t>What to pitch</a:t>
            </a:r>
            <a:endParaRPr lang="en-US" sz="1600" dirty="0"/>
          </a:p>
        </p:txBody>
      </p:sp>
      <p:sp>
        <p:nvSpPr>
          <p:cNvPr id="14" name="Text 12"/>
          <p:cNvSpPr txBox="1"/>
          <p:nvPr/>
        </p:nvSpPr>
        <p:spPr>
          <a:xfrm>
            <a:off x="3931920" y="3666744"/>
            <a:ext cx="3474720" cy="71323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 recommendation.</a:t>
            </a:r>
            <a:endParaRPr lang="en-US" sz="1400" dirty="0"/>
          </a:p>
        </p:txBody>
      </p:sp>
      <p:sp>
        <p:nvSpPr>
          <p:cNvPr id="15" name="Text 13"/>
          <p:cNvSpPr txBox="1"/>
          <p:nvPr/>
        </p:nvSpPr>
        <p:spPr>
          <a:xfrm>
            <a:off x="7589520" y="3666744"/>
            <a:ext cx="3657600" cy="713232"/>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A suggestion, not a script.</a:t>
            </a:r>
            <a:endParaRPr lang="en-US" sz="1400" dirty="0"/>
          </a:p>
        </p:txBody>
      </p:sp>
      <p:sp>
        <p:nvSpPr>
          <p:cNvPr id="16" name="Shape 14"/>
          <p:cNvSpPr/>
          <p:nvPr/>
        </p:nvSpPr>
        <p:spPr>
          <a:xfrm>
            <a:off x="731520" y="4471416"/>
            <a:ext cx="10698480" cy="713232"/>
          </a:xfrm>
          <a:prstGeom prst="roundRect">
            <a:avLst>
              <a:gd name="adj" fmla="val 12821"/>
            </a:avLst>
          </a:prstGeom>
          <a:solidFill>
            <a:srgbClr val="2A3A78"/>
          </a:solidFill>
          <a:ln/>
        </p:spPr>
      </p:sp>
      <p:sp>
        <p:nvSpPr>
          <p:cNvPr id="17" name="Text 15"/>
          <p:cNvSpPr txBox="1"/>
          <p:nvPr/>
        </p:nvSpPr>
        <p:spPr>
          <a:xfrm>
            <a:off x="1005840" y="4471416"/>
            <a:ext cx="2834640" cy="713232"/>
          </a:xfrm>
          <a:prstGeom prst="rect">
            <a:avLst/>
          </a:prstGeom>
          <a:noFill/>
          <a:ln/>
        </p:spPr>
        <p:txBody>
          <a:bodyPr wrap="square" lIns="0" tIns="0" rIns="0" bIns="0" rtlCol="0" anchor="ctr"/>
          <a:lstStyle/>
          <a:p>
            <a:pPr indent="0" marL="0">
              <a:buNone/>
            </a:pPr>
            <a:r>
              <a:rPr lang="en-US" sz="1600" b="1" dirty="0">
                <a:solidFill>
                  <a:srgbClr val="C8A44D"/>
                </a:solidFill>
                <a:latin typeface="Calibri" pitchFamily="34" charset="0"/>
                <a:ea typeface="Calibri" pitchFamily="34" charset="-122"/>
                <a:cs typeface="Calibri" pitchFamily="34" charset="-120"/>
              </a:rPr>
              <a:t>What we do not know</a:t>
            </a:r>
            <a:endParaRPr lang="en-US" sz="1600" dirty="0"/>
          </a:p>
        </p:txBody>
      </p:sp>
      <p:sp>
        <p:nvSpPr>
          <p:cNvPr id="18" name="Text 16"/>
          <p:cNvSpPr txBox="1"/>
          <p:nvPr/>
        </p:nvSpPr>
        <p:spPr>
          <a:xfrm>
            <a:off x="3931920" y="4471416"/>
            <a:ext cx="3474720" cy="71323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Named gaps.</a:t>
            </a:r>
            <a:endParaRPr lang="en-US" sz="1400" dirty="0"/>
          </a:p>
        </p:txBody>
      </p:sp>
      <p:sp>
        <p:nvSpPr>
          <p:cNvPr id="19" name="Text 17"/>
          <p:cNvSpPr txBox="1"/>
          <p:nvPr/>
        </p:nvSpPr>
        <p:spPr>
          <a:xfrm>
            <a:off x="7589520" y="4471416"/>
            <a:ext cx="3657600" cy="713232"/>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Ask about these.</a:t>
            </a:r>
            <a:endParaRPr lang="en-US" sz="1400" dirty="0"/>
          </a:p>
        </p:txBody>
      </p:sp>
      <p:sp>
        <p:nvSpPr>
          <p:cNvPr id="20" name="Text 18"/>
          <p:cNvSpPr txBox="1"/>
          <p:nvPr/>
        </p:nvSpPr>
        <p:spPr>
          <a:xfrm>
            <a:off x="731520" y="5486400"/>
            <a:ext cx="10698480" cy="457200"/>
          </a:xfrm>
          <a:prstGeom prst="rect">
            <a:avLst/>
          </a:prstGeom>
          <a:noFill/>
          <a:ln/>
        </p:spPr>
        <p:txBody>
          <a:bodyPr wrap="square" rtlCol="0" anchor="ctr"/>
          <a:lstStyle/>
          <a:p>
            <a:pPr indent="0" marL="0">
              <a:buNone/>
            </a:pPr>
            <a:r>
              <a:rPr lang="en-US" sz="1800" i="1" dirty="0">
                <a:solidFill>
                  <a:srgbClr val="FFFFFF"/>
                </a:solidFill>
                <a:latin typeface="Cambria" pitchFamily="34" charset="0"/>
                <a:ea typeface="Cambria" pitchFamily="34" charset="-122"/>
                <a:cs typeface="Cambria" pitchFamily="34" charset="-120"/>
              </a:rPr>
              <a:t>If a confidence is missing, the screen refuses to make the claim. Do not repair it by guessing.</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731520"/>
          </a:xfrm>
          <a:prstGeom prst="rect">
            <a:avLst/>
          </a:prstGeom>
          <a:noFill/>
          <a:ln/>
        </p:spPr>
        <p:txBody>
          <a:bodyPr wrap="square"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Three things the research does NOT mean</a:t>
            </a:r>
            <a:endParaRPr lang="en-US" sz="3600" dirty="0"/>
          </a:p>
        </p:txBody>
      </p:sp>
      <p:sp>
        <p:nvSpPr>
          <p:cNvPr id="3" name="Text 1"/>
          <p:cNvSpPr txBox="1"/>
          <p:nvPr/>
        </p:nvSpPr>
        <p:spPr>
          <a:xfrm>
            <a:off x="731520" y="1207008"/>
            <a:ext cx="10698480" cy="411480"/>
          </a:xfrm>
          <a:prstGeom prst="rect">
            <a:avLst/>
          </a:prstGeom>
          <a:noFill/>
          <a:ln/>
        </p:spPr>
        <p:txBody>
          <a:bodyPr wrap="square" rtlCol="0" anchor="ctr"/>
          <a:lstStyle/>
          <a:p>
            <a:pPr indent="0" marL="0">
              <a:buNone/>
            </a:pPr>
            <a:r>
              <a:rPr lang="en-US" sz="1500" dirty="0">
                <a:solidFill>
                  <a:srgbClr val="5A6070"/>
                </a:solidFill>
                <a:latin typeface="Calibri" pitchFamily="34" charset="0"/>
                <a:ea typeface="Calibri" pitchFamily="34" charset="-122"/>
                <a:cs typeface="Calibri" pitchFamily="34" charset="-120"/>
              </a:rPr>
              <a:t>Getting these backwards is how a call goes wrong in the first ten seconds.</a:t>
            </a:r>
            <a:endParaRPr lang="en-US" sz="1500" dirty="0"/>
          </a:p>
        </p:txBody>
      </p:sp>
      <p:sp>
        <p:nvSpPr>
          <p:cNvPr id="4" name="Shape 2"/>
          <p:cNvSpPr/>
          <p:nvPr/>
        </p:nvSpPr>
        <p:spPr>
          <a:xfrm>
            <a:off x="731520" y="1965960"/>
            <a:ext cx="10698480" cy="960120"/>
          </a:xfrm>
          <a:prstGeom prst="roundRect">
            <a:avLst>
              <a:gd name="adj" fmla="val 11429"/>
            </a:avLst>
          </a:prstGeom>
          <a:solidFill>
            <a:srgbClr val="F4F6FB"/>
          </a:solidFill>
          <a:ln/>
        </p:spPr>
      </p:sp>
      <p:sp>
        <p:nvSpPr>
          <p:cNvPr id="5" name="Text 3"/>
          <p:cNvSpPr txBox="1"/>
          <p:nvPr/>
        </p:nvSpPr>
        <p:spPr>
          <a:xfrm>
            <a:off x="1051560" y="2020824"/>
            <a:ext cx="4206240" cy="822960"/>
          </a:xfrm>
          <a:prstGeom prst="rect">
            <a:avLst/>
          </a:prstGeom>
          <a:noFill/>
          <a:ln/>
        </p:spPr>
        <p:txBody>
          <a:bodyPr wrap="square" lIns="0" tIns="0" rIns="0" bIns="0" rtlCol="0" anchor="ctr"/>
          <a:lstStyle/>
          <a:p>
            <a:pPr indent="0" marL="0">
              <a:buNone/>
            </a:pPr>
            <a:r>
              <a:rPr lang="en-US" sz="1700" b="1" dirty="0">
                <a:solidFill>
                  <a:srgbClr val="8C2F39"/>
                </a:solidFill>
                <a:latin typeface="Calibri" pitchFamily="34" charset="0"/>
                <a:ea typeface="Calibri" pitchFamily="34" charset="-122"/>
                <a:cs typeface="Calibri" pitchFamily="34" charset="-120"/>
              </a:rPr>
              <a:t>A website that will not load</a:t>
            </a:r>
            <a:endParaRPr lang="en-US" sz="1700" dirty="0"/>
          </a:p>
        </p:txBody>
      </p:sp>
      <p:sp>
        <p:nvSpPr>
          <p:cNvPr id="6" name="Text 4"/>
          <p:cNvSpPr txBox="1"/>
          <p:nvPr/>
        </p:nvSpPr>
        <p:spPr>
          <a:xfrm>
            <a:off x="5394960" y="2020824"/>
            <a:ext cx="5760720" cy="822960"/>
          </a:xfrm>
          <a:prstGeom prst="rect">
            <a:avLst/>
          </a:prstGeom>
          <a:noFill/>
          <a:ln/>
        </p:spPr>
        <p:txBody>
          <a:bodyPr wrap="square" lIns="0" tIns="0" rIns="0" bIns="0" rtlCol="0" anchor="ctr"/>
          <a:lstStyle/>
          <a:p>
            <a:pPr indent="0" marL="0">
              <a:buNone/>
            </a:pPr>
            <a:r>
              <a:rPr lang="en-US" sz="1500" dirty="0">
                <a:solidFill>
                  <a:srgbClr val="1B1B1F"/>
                </a:solidFill>
                <a:latin typeface="Calibri" pitchFamily="34" charset="0"/>
                <a:ea typeface="Calibri" pitchFamily="34" charset="-122"/>
                <a:cs typeface="Calibri" pitchFamily="34" charset="-120"/>
              </a:rPr>
              <a:t>is not a business without a website</a:t>
            </a:r>
            <a:endParaRPr lang="en-US" sz="1500" dirty="0"/>
          </a:p>
        </p:txBody>
      </p:sp>
      <p:sp>
        <p:nvSpPr>
          <p:cNvPr id="7" name="Shape 5"/>
          <p:cNvSpPr/>
          <p:nvPr/>
        </p:nvSpPr>
        <p:spPr>
          <a:xfrm>
            <a:off x="731520" y="3108960"/>
            <a:ext cx="10698480" cy="960120"/>
          </a:xfrm>
          <a:prstGeom prst="roundRect">
            <a:avLst>
              <a:gd name="adj" fmla="val 11429"/>
            </a:avLst>
          </a:prstGeom>
          <a:solidFill>
            <a:srgbClr val="F4F6FB"/>
          </a:solidFill>
          <a:ln/>
        </p:spPr>
      </p:sp>
      <p:sp>
        <p:nvSpPr>
          <p:cNvPr id="8" name="Text 6"/>
          <p:cNvSpPr txBox="1"/>
          <p:nvPr/>
        </p:nvSpPr>
        <p:spPr>
          <a:xfrm>
            <a:off x="1051560" y="3163824"/>
            <a:ext cx="4206240" cy="822960"/>
          </a:xfrm>
          <a:prstGeom prst="rect">
            <a:avLst/>
          </a:prstGeom>
          <a:noFill/>
          <a:ln/>
        </p:spPr>
        <p:txBody>
          <a:bodyPr wrap="square" lIns="0" tIns="0" rIns="0" bIns="0" rtlCol="0" anchor="ctr"/>
          <a:lstStyle/>
          <a:p>
            <a:pPr indent="0" marL="0">
              <a:buNone/>
            </a:pPr>
            <a:r>
              <a:rPr lang="en-US" sz="1700" b="1" dirty="0">
                <a:solidFill>
                  <a:srgbClr val="8C2F39"/>
                </a:solidFill>
                <a:latin typeface="Calibri" pitchFamily="34" charset="0"/>
                <a:ea typeface="Calibri" pitchFamily="34" charset="-122"/>
                <a:cs typeface="Calibri" pitchFamily="34" charset="-120"/>
              </a:rPr>
              <a:t>A page with no links</a:t>
            </a:r>
            <a:endParaRPr lang="en-US" sz="1700" dirty="0"/>
          </a:p>
        </p:txBody>
      </p:sp>
      <p:sp>
        <p:nvSpPr>
          <p:cNvPr id="9" name="Text 7"/>
          <p:cNvSpPr txBox="1"/>
          <p:nvPr/>
        </p:nvSpPr>
        <p:spPr>
          <a:xfrm>
            <a:off x="5394960" y="3163824"/>
            <a:ext cx="5760720" cy="822960"/>
          </a:xfrm>
          <a:prstGeom prst="rect">
            <a:avLst/>
          </a:prstGeom>
          <a:noFill/>
          <a:ln/>
        </p:spPr>
        <p:txBody>
          <a:bodyPr wrap="square" lIns="0" tIns="0" rIns="0" bIns="0" rtlCol="0" anchor="ctr"/>
          <a:lstStyle/>
          <a:p>
            <a:pPr indent="0" marL="0">
              <a:buNone/>
            </a:pPr>
            <a:r>
              <a:rPr lang="en-US" sz="1500" dirty="0">
                <a:solidFill>
                  <a:srgbClr val="1B1B1F"/>
                </a:solidFill>
                <a:latin typeface="Calibri" pitchFamily="34" charset="0"/>
                <a:ea typeface="Calibri" pitchFamily="34" charset="-122"/>
                <a:cs typeface="Calibri" pitchFamily="34" charset="-120"/>
              </a:rPr>
              <a:t>is not proof they offer nothing — it is usually a site our crawler cannot read</a:t>
            </a:r>
            <a:endParaRPr lang="en-US" sz="1500" dirty="0"/>
          </a:p>
        </p:txBody>
      </p:sp>
      <p:sp>
        <p:nvSpPr>
          <p:cNvPr id="10" name="Shape 8"/>
          <p:cNvSpPr/>
          <p:nvPr/>
        </p:nvSpPr>
        <p:spPr>
          <a:xfrm>
            <a:off x="731520" y="4251960"/>
            <a:ext cx="10698480" cy="960120"/>
          </a:xfrm>
          <a:prstGeom prst="roundRect">
            <a:avLst>
              <a:gd name="adj" fmla="val 11429"/>
            </a:avLst>
          </a:prstGeom>
          <a:solidFill>
            <a:srgbClr val="F4F6FB"/>
          </a:solidFill>
          <a:ln/>
        </p:spPr>
      </p:sp>
      <p:sp>
        <p:nvSpPr>
          <p:cNvPr id="11" name="Text 9"/>
          <p:cNvSpPr txBox="1"/>
          <p:nvPr/>
        </p:nvSpPr>
        <p:spPr>
          <a:xfrm>
            <a:off x="1051560" y="4306824"/>
            <a:ext cx="4206240" cy="822960"/>
          </a:xfrm>
          <a:prstGeom prst="rect">
            <a:avLst/>
          </a:prstGeom>
          <a:noFill/>
          <a:ln/>
        </p:spPr>
        <p:txBody>
          <a:bodyPr wrap="square" lIns="0" tIns="0" rIns="0" bIns="0" rtlCol="0" anchor="ctr"/>
          <a:lstStyle/>
          <a:p>
            <a:pPr indent="0" marL="0">
              <a:buNone/>
            </a:pPr>
            <a:r>
              <a:rPr lang="en-US" sz="1700" b="1" dirty="0">
                <a:solidFill>
                  <a:srgbClr val="8C2F39"/>
                </a:solidFill>
                <a:latin typeface="Calibri" pitchFamily="34" charset="0"/>
                <a:ea typeface="Calibri" pitchFamily="34" charset="-122"/>
                <a:cs typeface="Calibri" pitchFamily="34" charset="-120"/>
              </a:rPr>
              <a:t>“We could not look today”</a:t>
            </a:r>
            <a:endParaRPr lang="en-US" sz="1700" dirty="0"/>
          </a:p>
        </p:txBody>
      </p:sp>
      <p:sp>
        <p:nvSpPr>
          <p:cNvPr id="12" name="Text 10"/>
          <p:cNvSpPr txBox="1"/>
          <p:nvPr/>
        </p:nvSpPr>
        <p:spPr>
          <a:xfrm>
            <a:off x="5394960" y="4306824"/>
            <a:ext cx="5760720" cy="822960"/>
          </a:xfrm>
          <a:prstGeom prst="rect">
            <a:avLst/>
          </a:prstGeom>
          <a:noFill/>
          <a:ln/>
        </p:spPr>
        <p:txBody>
          <a:bodyPr wrap="square" lIns="0" tIns="0" rIns="0" bIns="0" rtlCol="0" anchor="ctr"/>
          <a:lstStyle/>
          <a:p>
            <a:pPr indent="0" marL="0">
              <a:buNone/>
            </a:pPr>
            <a:r>
              <a:rPr lang="en-US" sz="1500" dirty="0">
                <a:solidFill>
                  <a:srgbClr val="1B1B1F"/>
                </a:solidFill>
                <a:latin typeface="Calibri" pitchFamily="34" charset="0"/>
                <a:ea typeface="Calibri" pitchFamily="34" charset="-122"/>
                <a:cs typeface="Calibri" pitchFamily="34" charset="-120"/>
              </a:rPr>
              <a:t>never overwrites what we saw last week</a:t>
            </a:r>
            <a:endParaRPr lang="en-US" sz="1500" dirty="0"/>
          </a:p>
        </p:txBody>
      </p:sp>
      <p:sp>
        <p:nvSpPr>
          <p:cNvPr id="13" name="Text 11"/>
          <p:cNvSpPr txBox="1"/>
          <p:nvPr/>
        </p:nvSpPr>
        <p:spPr>
          <a:xfrm>
            <a:off x="731520" y="5440680"/>
            <a:ext cx="10698480" cy="457200"/>
          </a:xfrm>
          <a:prstGeom prst="rect">
            <a:avLst/>
          </a:prstGeom>
          <a:noFill/>
          <a:ln/>
        </p:spPr>
        <p:txBody>
          <a:bodyPr wrap="square" rtlCol="0" anchor="ctr"/>
          <a:lstStyle/>
          <a:p>
            <a:pPr indent="0" marL="0">
              <a:buNone/>
            </a:pPr>
            <a:r>
              <a:rPr lang="en-US" sz="1500" i="1" dirty="0">
                <a:solidFill>
                  <a:srgbClr val="1E2761"/>
                </a:solidFill>
                <a:latin typeface="Calibri" pitchFamily="34" charset="0"/>
                <a:ea typeface="Calibri" pitchFamily="34" charset="-122"/>
                <a:cs typeface="Calibri" pitchFamily="34" charset="-120"/>
              </a:rPr>
              <a:t>A capability marked false is a real observation. Null means we did not find out — they are not the same thing.</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8C2F39"/>
        </a:solidFill>
      </p:bgPr>
    </p:bg>
    <p:spTree>
      <p:nvGrpSpPr>
        <p:cNvPr id="1" name=""/>
        <p:cNvGrpSpPr/>
        <p:nvPr/>
      </p:nvGrpSpPr>
      <p:grpSpPr>
        <a:xfrm>
          <a:off x="0" y="0"/>
          <a:ext cx="0" cy="0"/>
          <a:chOff x="0" y="0"/>
          <a:chExt cx="0" cy="0"/>
        </a:xfrm>
      </p:grpSpPr>
      <p:sp>
        <p:nvSpPr>
          <p:cNvPr id="2" name="Text 0"/>
          <p:cNvSpPr txBox="1"/>
          <p:nvPr/>
        </p:nvSpPr>
        <p:spPr>
          <a:xfrm>
            <a:off x="731520" y="640080"/>
            <a:ext cx="10698480" cy="777240"/>
          </a:xfrm>
          <a:prstGeom prst="rect">
            <a:avLst/>
          </a:prstGeom>
          <a:noFill/>
          <a:ln/>
        </p:spPr>
        <p:txBody>
          <a:bodyPr wrap="square"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calling window is on you</a:t>
            </a:r>
            <a:endParaRPr lang="en-US" sz="3800" dirty="0"/>
          </a:p>
        </p:txBody>
      </p:sp>
      <p:sp>
        <p:nvSpPr>
          <p:cNvPr id="3" name="Text 1"/>
          <p:cNvSpPr txBox="1"/>
          <p:nvPr/>
        </p:nvSpPr>
        <p:spPr>
          <a:xfrm>
            <a:off x="731520" y="1417320"/>
            <a:ext cx="10698480" cy="502920"/>
          </a:xfrm>
          <a:prstGeom prst="rect">
            <a:avLst/>
          </a:prstGeom>
          <a:noFill/>
          <a:ln/>
        </p:spPr>
        <p:txBody>
          <a:bodyPr wrap="square" rtlCol="0" anchor="ctr"/>
          <a:lstStyle/>
          <a:p>
            <a:pPr indent="0" marL="0">
              <a:buNone/>
            </a:pPr>
            <a:r>
              <a:rPr lang="en-US" sz="1600" dirty="0">
                <a:solidFill>
                  <a:srgbClr val="F6DADA"/>
                </a:solidFill>
                <a:latin typeface="Calibri" pitchFamily="34" charset="0"/>
                <a:ea typeface="Calibri" pitchFamily="34" charset="-122"/>
                <a:cs typeface="Calibri" pitchFamily="34" charset="-120"/>
              </a:rPr>
              <a:t>The software will let you dial at 3 a.m. their time. It does not stop you. This is the single largest compliance exposure in your job.</a:t>
            </a:r>
            <a:endParaRPr lang="en-US" sz="1600" dirty="0"/>
          </a:p>
        </p:txBody>
      </p:sp>
      <p:sp>
        <p:nvSpPr>
          <p:cNvPr id="4" name="Shape 2"/>
          <p:cNvSpPr/>
          <p:nvPr/>
        </p:nvSpPr>
        <p:spPr>
          <a:xfrm>
            <a:off x="731520" y="2148840"/>
            <a:ext cx="5120640" cy="1737360"/>
          </a:xfrm>
          <a:prstGeom prst="roundRect">
            <a:avLst>
              <a:gd name="adj" fmla="val 7368"/>
            </a:avLst>
          </a:prstGeom>
          <a:solidFill>
            <a:srgbClr val="FFFFFF"/>
          </a:solidFill>
          <a:ln/>
        </p:spPr>
      </p:sp>
      <p:sp>
        <p:nvSpPr>
          <p:cNvPr id="5" name="Text 3"/>
          <p:cNvSpPr txBox="1"/>
          <p:nvPr/>
        </p:nvSpPr>
        <p:spPr>
          <a:xfrm>
            <a:off x="1051560" y="2377440"/>
            <a:ext cx="4572000" cy="1371600"/>
          </a:xfrm>
          <a:prstGeom prst="rect">
            <a:avLst/>
          </a:prstGeom>
          <a:noFill/>
          <a:ln/>
        </p:spPr>
        <p:txBody>
          <a:bodyPr wrap="square" lIns="0" tIns="0" rIns="0" bIns="0" rtlCol="0" anchor="ctr"/>
          <a:lstStyle/>
          <a:p>
            <a:pPr indent="0" marL="0">
              <a:buNone/>
            </a:pPr>
            <a:r>
              <a:rPr lang="en-US" sz="1500" dirty="0">
                <a:solidFill>
                  <a:srgbClr val="5A6070"/>
                </a:solidFill>
                <a:latin typeface="Calibri" pitchFamily="34" charset="0"/>
                <a:ea typeface="Calibri" pitchFamily="34" charset="-122"/>
                <a:cs typeface="Calibri" pitchFamily="34" charset="-120"/>
              </a:rPr>
              <a:t>Weekdays
</a:t>
            </a:r>
            <a:pPr indent="0" marL="0">
              <a:buNone/>
            </a:pPr>
            <a:r>
              <a:rPr lang="en-US" sz="3000" b="1" dirty="0">
                <a:solidFill>
                  <a:srgbClr val="8C2F39"/>
                </a:solidFill>
                <a:latin typeface="Cambria" pitchFamily="34" charset="0"/>
                <a:ea typeface="Cambria" pitchFamily="34" charset="-122"/>
                <a:cs typeface="Cambria" pitchFamily="34" charset="-120"/>
              </a:rPr>
              <a:t>09:00 – 21:30
</a:t>
            </a:r>
            <a:pPr indent="0" marL="0">
              <a:buNone/>
            </a:pPr>
            <a:r>
              <a:rPr lang="en-US" sz="1500" dirty="0">
                <a:solidFill>
                  <a:srgbClr val="5A6070"/>
                </a:solidFill>
                <a:latin typeface="Calibri" pitchFamily="34" charset="0"/>
                <a:ea typeface="Calibri" pitchFamily="34" charset="-122"/>
                <a:cs typeface="Calibri" pitchFamily="34" charset="-120"/>
              </a:rPr>
              <a:t>Weekends  10:00 – 18:00</a:t>
            </a:r>
            <a:endParaRPr lang="en-US" sz="1500" dirty="0"/>
          </a:p>
        </p:txBody>
      </p:sp>
      <p:sp>
        <p:nvSpPr>
          <p:cNvPr id="6" name="Shape 4"/>
          <p:cNvSpPr/>
          <p:nvPr/>
        </p:nvSpPr>
        <p:spPr>
          <a:xfrm>
            <a:off x="6309360" y="2148840"/>
            <a:ext cx="5120640" cy="1737360"/>
          </a:xfrm>
          <a:prstGeom prst="roundRect">
            <a:avLst>
              <a:gd name="adj" fmla="val 7368"/>
            </a:avLst>
          </a:prstGeom>
          <a:solidFill>
            <a:srgbClr val="FFFFFF"/>
          </a:solidFill>
          <a:ln/>
        </p:spPr>
      </p:sp>
      <p:sp>
        <p:nvSpPr>
          <p:cNvPr id="7" name="Text 5"/>
          <p:cNvSpPr txBox="1"/>
          <p:nvPr/>
        </p:nvSpPr>
        <p:spPr>
          <a:xfrm>
            <a:off x="6629400" y="2423160"/>
            <a:ext cx="4572000" cy="1280160"/>
          </a:xfrm>
          <a:prstGeom prst="rect">
            <a:avLst/>
          </a:prstGeom>
          <a:noFill/>
          <a:ln/>
        </p:spPr>
        <p:txBody>
          <a:bodyPr wrap="square" lIns="0" tIns="0" rIns="0" bIns="0" rtlCol="0" anchor="ctr"/>
          <a:lstStyle/>
          <a:p>
            <a:pPr indent="0" marL="0">
              <a:buNone/>
            </a:pPr>
            <a:r>
              <a:rPr lang="en-US" sz="1700" b="1" dirty="0">
                <a:solidFill>
                  <a:srgbClr val="1B1B1F"/>
                </a:solidFill>
                <a:latin typeface="Calibri" pitchFamily="34" charset="0"/>
                <a:ea typeface="Calibri" pitchFamily="34" charset="-122"/>
                <a:cs typeface="Calibri" pitchFamily="34" charset="-120"/>
              </a:rPr>
              <a:t>In the PROSPECT's time zone
</a:t>
            </a:r>
            <a:pPr indent="0" marL="0">
              <a:buNone/>
            </a:pPr>
            <a:r>
              <a:rPr lang="en-US" sz="1400" dirty="0">
                <a:solidFill>
                  <a:srgbClr val="5A6070"/>
                </a:solidFill>
                <a:latin typeface="Calibri" pitchFamily="34" charset="0"/>
                <a:ea typeface="Calibri" pitchFamily="34" charset="-122"/>
                <a:cs typeface="Calibri" pitchFamily="34" charset="-120"/>
              </a:rPr>
              <a:t>Not yours. Check the clock in their zone, every time, before you dial.</a:t>
            </a:r>
            <a:endParaRPr lang="en-US" sz="1700" dirty="0"/>
          </a:p>
        </p:txBody>
      </p:sp>
      <p:sp>
        <p:nvSpPr>
          <p:cNvPr id="8" name="Text 6"/>
          <p:cNvSpPr txBox="1"/>
          <p:nvPr/>
        </p:nvSpPr>
        <p:spPr>
          <a:xfrm>
            <a:off x="731520" y="4160520"/>
            <a:ext cx="10698480" cy="566928"/>
          </a:xfrm>
          <a:prstGeom prst="rect">
            <a:avLst/>
          </a:prstGeom>
          <a:noFill/>
          <a:ln/>
        </p:spPr>
        <p:txBody>
          <a:bodyPr wrap="square" rtlCol="0" anchor="ctr"/>
          <a:lstStyle/>
          <a:p>
            <a:pPr marL="342900" indent="-342900">
              <a:buSzPct val="100000"/>
              <a:buChar char="•"/>
            </a:pPr>
            <a:r>
              <a:rPr lang="en-US" sz="1500" dirty="0">
                <a:solidFill>
                  <a:srgbClr val="FFFFFF"/>
                </a:solidFill>
                <a:latin typeface="Calibri" pitchFamily="34" charset="0"/>
                <a:ea typeface="Calibri" pitchFamily="34" charset="-122"/>
                <a:cs typeface="Calibri" pitchFamily="34" charset="-120"/>
              </a:rPr>
              <a:t>Identify yourself and give a callback number on every call. It is required.</a:t>
            </a:r>
            <a:endParaRPr lang="en-US" sz="1500" dirty="0"/>
          </a:p>
        </p:txBody>
      </p:sp>
      <p:sp>
        <p:nvSpPr>
          <p:cNvPr id="9" name="Text 7"/>
          <p:cNvSpPr txBox="1"/>
          <p:nvPr/>
        </p:nvSpPr>
        <p:spPr>
          <a:xfrm>
            <a:off x="731520" y="4818888"/>
            <a:ext cx="10698480" cy="566928"/>
          </a:xfrm>
          <a:prstGeom prst="rect">
            <a:avLst/>
          </a:prstGeom>
          <a:noFill/>
          <a:ln/>
        </p:spPr>
        <p:txBody>
          <a:bodyPr wrap="square" rtlCol="0" anchor="ctr"/>
          <a:lstStyle/>
          <a:p>
            <a:pPr marL="342900" indent="-342900">
              <a:buSzPct val="100000"/>
              <a:buChar char="•"/>
            </a:pPr>
            <a:r>
              <a:rPr lang="en-US" sz="1500" dirty="0">
                <a:solidFill>
                  <a:srgbClr val="FFFFFF"/>
                </a:solidFill>
                <a:latin typeface="Calibri" pitchFamily="34" charset="0"/>
                <a:ea typeface="Calibri" pitchFamily="34" charset="-122"/>
                <a:cs typeface="Calibri" pitchFamily="34" charset="-120"/>
              </a:rPr>
              <a:t>A human dials, one call at a time. Never automate it — the US TCPA has no B2B exemption for autodialled calls to mobiles, and small contractors answer on mobiles.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731520"/>
          </a:xfrm>
          <a:prstGeom prst="rect">
            <a:avLst/>
          </a:prstGeom>
          <a:noFill/>
          <a:ln/>
        </p:spPr>
        <p:txBody>
          <a:bodyPr wrap="square"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Closing out a claim</a:t>
            </a:r>
            <a:endParaRPr lang="en-US" sz="3600" dirty="0"/>
          </a:p>
        </p:txBody>
      </p:sp>
      <p:sp>
        <p:nvSpPr>
          <p:cNvPr id="3" name="Text 1"/>
          <p:cNvSpPr txBox="1"/>
          <p:nvPr/>
        </p:nvSpPr>
        <p:spPr>
          <a:xfrm>
            <a:off x="731520" y="1207008"/>
            <a:ext cx="10698480" cy="411480"/>
          </a:xfrm>
          <a:prstGeom prst="rect">
            <a:avLst/>
          </a:prstGeom>
          <a:noFill/>
          <a:ln/>
        </p:spPr>
        <p:txBody>
          <a:bodyPr wrap="square" rtlCol="0" anchor="ctr"/>
          <a:lstStyle/>
          <a:p>
            <a:pPr indent="0" marL="0">
              <a:buNone/>
            </a:pPr>
            <a:r>
              <a:rPr lang="en-US" sz="1500" dirty="0">
                <a:solidFill>
                  <a:srgbClr val="5A6070"/>
                </a:solidFill>
                <a:latin typeface="Calibri" pitchFamily="34" charset="0"/>
                <a:ea typeface="Calibri" pitchFamily="34" charset="-122"/>
                <a:cs typeface="Calibri" pitchFamily="34" charset="-120"/>
              </a:rPr>
              <a:t>Three buttons. One of them is permanent.</a:t>
            </a:r>
            <a:endParaRPr lang="en-US" sz="1500" dirty="0"/>
          </a:p>
        </p:txBody>
      </p:sp>
      <p:sp>
        <p:nvSpPr>
          <p:cNvPr id="4" name="Shape 2"/>
          <p:cNvSpPr/>
          <p:nvPr/>
        </p:nvSpPr>
        <p:spPr>
          <a:xfrm>
            <a:off x="731520" y="1920240"/>
            <a:ext cx="10698480" cy="1051560"/>
          </a:xfrm>
          <a:prstGeom prst="roundRect">
            <a:avLst>
              <a:gd name="adj" fmla="val 10435"/>
            </a:avLst>
          </a:prstGeom>
          <a:solidFill>
            <a:srgbClr val="F4F6FB"/>
          </a:solidFill>
          <a:ln/>
        </p:spPr>
      </p:sp>
      <p:sp>
        <p:nvSpPr>
          <p:cNvPr id="5" name="Shape 3"/>
          <p:cNvSpPr/>
          <p:nvPr/>
        </p:nvSpPr>
        <p:spPr>
          <a:xfrm>
            <a:off x="1005840" y="2194560"/>
            <a:ext cx="128016" cy="502920"/>
          </a:xfrm>
          <a:prstGeom prst="roundRect">
            <a:avLst>
              <a:gd name="adj" fmla="val 50000"/>
            </a:avLst>
          </a:prstGeom>
          <a:solidFill>
            <a:srgbClr val="1E2761"/>
          </a:solidFill>
          <a:ln/>
        </p:spPr>
      </p:sp>
      <p:sp>
        <p:nvSpPr>
          <p:cNvPr id="6" name="Text 4"/>
          <p:cNvSpPr txBox="1"/>
          <p:nvPr/>
        </p:nvSpPr>
        <p:spPr>
          <a:xfrm>
            <a:off x="1325880" y="2066544"/>
            <a:ext cx="4206240" cy="365760"/>
          </a:xfrm>
          <a:prstGeom prst="rect">
            <a:avLst/>
          </a:prstGeom>
          <a:noFill/>
          <a:ln/>
        </p:spPr>
        <p:txBody>
          <a:bodyPr wrap="square" lIns="0" tIns="0" rIns="0" bIns="0"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I spoke to them — keep this one</a:t>
            </a:r>
            <a:endParaRPr lang="en-US" sz="1700" dirty="0"/>
          </a:p>
        </p:txBody>
      </p:sp>
      <p:sp>
        <p:nvSpPr>
          <p:cNvPr id="7" name="Text 5"/>
          <p:cNvSpPr txBox="1"/>
          <p:nvPr/>
        </p:nvSpPr>
        <p:spPr>
          <a:xfrm>
            <a:off x="1325880" y="2432304"/>
            <a:ext cx="9692640" cy="457200"/>
          </a:xfrm>
          <a:prstGeom prst="rect">
            <a:avLst/>
          </a:prstGeom>
          <a:noFill/>
          <a:ln/>
        </p:spPr>
        <p:txBody>
          <a:bodyPr wrap="square" lIns="0" tIns="0" rIns="0" bIns="0" rtlCol="0" anchor="ctr"/>
          <a:lstStyle/>
          <a:p>
            <a:pPr indent="0" marL="0">
              <a:buNone/>
            </a:pPr>
            <a:r>
              <a:rPr lang="en-US" sz="1400" dirty="0">
                <a:solidFill>
                  <a:srgbClr val="5A6070"/>
                </a:solidFill>
                <a:latin typeface="Calibri" pitchFamily="34" charset="0"/>
                <a:ea typeface="Calibri" pitchFamily="34" charset="-122"/>
                <a:cs typeface="Calibri" pitchFamily="34" charset="-120"/>
              </a:rPr>
              <a:t>The claim never lapses. The prospect stays yours.</a:t>
            </a:r>
            <a:endParaRPr lang="en-US" sz="1400" dirty="0"/>
          </a:p>
        </p:txBody>
      </p:sp>
      <p:sp>
        <p:nvSpPr>
          <p:cNvPr id="8" name="Shape 6"/>
          <p:cNvSpPr/>
          <p:nvPr/>
        </p:nvSpPr>
        <p:spPr>
          <a:xfrm>
            <a:off x="731520" y="3127248"/>
            <a:ext cx="10698480" cy="1051560"/>
          </a:xfrm>
          <a:prstGeom prst="roundRect">
            <a:avLst>
              <a:gd name="adj" fmla="val 10435"/>
            </a:avLst>
          </a:prstGeom>
          <a:solidFill>
            <a:srgbClr val="F4F6FB"/>
          </a:solidFill>
          <a:ln/>
        </p:spPr>
      </p:sp>
      <p:sp>
        <p:nvSpPr>
          <p:cNvPr id="9" name="Shape 7"/>
          <p:cNvSpPr/>
          <p:nvPr/>
        </p:nvSpPr>
        <p:spPr>
          <a:xfrm>
            <a:off x="1005840" y="3401568"/>
            <a:ext cx="128016" cy="502920"/>
          </a:xfrm>
          <a:prstGeom prst="roundRect">
            <a:avLst>
              <a:gd name="adj" fmla="val 50000"/>
            </a:avLst>
          </a:prstGeom>
          <a:solidFill>
            <a:srgbClr val="4A6FA5"/>
          </a:solidFill>
          <a:ln/>
        </p:spPr>
      </p:sp>
      <p:sp>
        <p:nvSpPr>
          <p:cNvPr id="10" name="Text 8"/>
          <p:cNvSpPr txBox="1"/>
          <p:nvPr/>
        </p:nvSpPr>
        <p:spPr>
          <a:xfrm>
            <a:off x="1325880" y="3273552"/>
            <a:ext cx="4206240" cy="365760"/>
          </a:xfrm>
          <a:prstGeom prst="rect">
            <a:avLst/>
          </a:prstGeom>
          <a:noFill/>
          <a:ln/>
        </p:spPr>
        <p:txBody>
          <a:bodyPr wrap="square" lIns="0" tIns="0" rIns="0" bIns="0" rtlCol="0" anchor="ctr"/>
          <a:lstStyle/>
          <a:p>
            <a:pPr indent="0" marL="0">
              <a:buNone/>
            </a:pPr>
            <a:r>
              <a:rPr lang="en-US" sz="1700" b="1" dirty="0">
                <a:solidFill>
                  <a:srgbClr val="4A6FA5"/>
                </a:solidFill>
                <a:latin typeface="Calibri" pitchFamily="34" charset="0"/>
                <a:ea typeface="Calibri" pitchFamily="34" charset="-122"/>
                <a:cs typeface="Calibri" pitchFamily="34" charset="-120"/>
              </a:rPr>
              <a:t>Put it back in the pool</a:t>
            </a:r>
            <a:endParaRPr lang="en-US" sz="1700" dirty="0"/>
          </a:p>
        </p:txBody>
      </p:sp>
      <p:sp>
        <p:nvSpPr>
          <p:cNvPr id="11" name="Text 9"/>
          <p:cNvSpPr txBox="1"/>
          <p:nvPr/>
        </p:nvSpPr>
        <p:spPr>
          <a:xfrm>
            <a:off x="1325880" y="3639312"/>
            <a:ext cx="9692640" cy="457200"/>
          </a:xfrm>
          <a:prstGeom prst="rect">
            <a:avLst/>
          </a:prstGeom>
          <a:noFill/>
          <a:ln/>
        </p:spPr>
        <p:txBody>
          <a:bodyPr wrap="square" lIns="0" tIns="0" rIns="0" bIns="0" rtlCol="0" anchor="ctr"/>
          <a:lstStyle/>
          <a:p>
            <a:pPr indent="0" marL="0">
              <a:buNone/>
            </a:pPr>
            <a:r>
              <a:rPr lang="en-US" sz="1400" dirty="0">
                <a:solidFill>
                  <a:srgbClr val="5A6070"/>
                </a:solidFill>
                <a:latin typeface="Calibri" pitchFamily="34" charset="0"/>
                <a:ea typeface="Calibri" pitchFamily="34" charset="-122"/>
                <a:cs typeface="Calibri" pitchFamily="34" charset="-120"/>
              </a:rPr>
              <a:t>Somebody else can claim it. Use this the moment you know you are not working it.</a:t>
            </a:r>
            <a:endParaRPr lang="en-US" sz="1400" dirty="0"/>
          </a:p>
        </p:txBody>
      </p:sp>
      <p:sp>
        <p:nvSpPr>
          <p:cNvPr id="12" name="Shape 10"/>
          <p:cNvSpPr/>
          <p:nvPr/>
        </p:nvSpPr>
        <p:spPr>
          <a:xfrm>
            <a:off x="731520" y="4334256"/>
            <a:ext cx="10698480" cy="1051560"/>
          </a:xfrm>
          <a:prstGeom prst="roundRect">
            <a:avLst>
              <a:gd name="adj" fmla="val 10435"/>
            </a:avLst>
          </a:prstGeom>
          <a:solidFill>
            <a:srgbClr val="F4F6FB"/>
          </a:solidFill>
          <a:ln/>
        </p:spPr>
      </p:sp>
      <p:sp>
        <p:nvSpPr>
          <p:cNvPr id="13" name="Shape 11"/>
          <p:cNvSpPr/>
          <p:nvPr/>
        </p:nvSpPr>
        <p:spPr>
          <a:xfrm>
            <a:off x="1005840" y="4608576"/>
            <a:ext cx="128016" cy="502920"/>
          </a:xfrm>
          <a:prstGeom prst="roundRect">
            <a:avLst>
              <a:gd name="adj" fmla="val 50000"/>
            </a:avLst>
          </a:prstGeom>
          <a:solidFill>
            <a:srgbClr val="8C2F39"/>
          </a:solidFill>
          <a:ln/>
        </p:spPr>
      </p:sp>
      <p:sp>
        <p:nvSpPr>
          <p:cNvPr id="14" name="Text 12"/>
          <p:cNvSpPr txBox="1"/>
          <p:nvPr/>
        </p:nvSpPr>
        <p:spPr>
          <a:xfrm>
            <a:off x="1325880" y="4480560"/>
            <a:ext cx="4206240" cy="365760"/>
          </a:xfrm>
          <a:prstGeom prst="rect">
            <a:avLst/>
          </a:prstGeom>
          <a:noFill/>
          <a:ln/>
        </p:spPr>
        <p:txBody>
          <a:bodyPr wrap="square" lIns="0" tIns="0" rIns="0" bIns="0" rtlCol="0" anchor="ctr"/>
          <a:lstStyle/>
          <a:p>
            <a:pPr indent="0" marL="0">
              <a:buNone/>
            </a:pPr>
            <a:r>
              <a:rPr lang="en-US" sz="1700" b="1" dirty="0">
                <a:solidFill>
                  <a:srgbClr val="8C2F39"/>
                </a:solidFill>
                <a:latin typeface="Calibri" pitchFamily="34" charset="0"/>
                <a:ea typeface="Calibri" pitchFamily="34" charset="-122"/>
                <a:cs typeface="Calibri" pitchFamily="34" charset="-120"/>
              </a:rPr>
              <a:t>They asked not to be contacted</a:t>
            </a:r>
            <a:endParaRPr lang="en-US" sz="1700" dirty="0"/>
          </a:p>
        </p:txBody>
      </p:sp>
      <p:sp>
        <p:nvSpPr>
          <p:cNvPr id="15" name="Text 13"/>
          <p:cNvSpPr txBox="1"/>
          <p:nvPr/>
        </p:nvSpPr>
        <p:spPr>
          <a:xfrm>
            <a:off x="1325880" y="4846320"/>
            <a:ext cx="9692640" cy="457200"/>
          </a:xfrm>
          <a:prstGeom prst="rect">
            <a:avLst/>
          </a:prstGeom>
          <a:noFill/>
          <a:ln/>
        </p:spPr>
        <p:txBody>
          <a:bodyPr wrap="square" lIns="0" tIns="0" rIns="0" bIns="0" rtlCol="0" anchor="ctr"/>
          <a:lstStyle/>
          <a:p>
            <a:pPr indent="0" marL="0">
              <a:buNone/>
            </a:pPr>
            <a:r>
              <a:rPr lang="en-US" sz="1400" dirty="0">
                <a:solidFill>
                  <a:srgbClr val="5A6070"/>
                </a:solidFill>
                <a:latin typeface="Calibri" pitchFamily="34" charset="0"/>
                <a:ea typeface="Calibri" pitchFamily="34" charset="-122"/>
                <a:cs typeface="Calibri" pitchFamily="34" charset="-120"/>
              </a:rPr>
              <a:t>Permanent, and it needs a written reason. Only a superadmin can ever lift it — not you.</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731520"/>
          </a:xfrm>
          <a:prstGeom prst="rect">
            <a:avLst/>
          </a:prstGeom>
          <a:noFill/>
          <a:ln/>
        </p:spPr>
        <p:txBody>
          <a:bodyPr wrap="square"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Two things that will surprise you</a:t>
            </a:r>
            <a:endParaRPr lang="en-US" sz="3600" dirty="0"/>
          </a:p>
        </p:txBody>
      </p:sp>
      <p:sp>
        <p:nvSpPr>
          <p:cNvPr id="3" name="Text 1"/>
          <p:cNvSpPr txBox="1"/>
          <p:nvPr/>
        </p:nvSpPr>
        <p:spPr>
          <a:xfrm>
            <a:off x="731520" y="1207008"/>
            <a:ext cx="10698480" cy="411480"/>
          </a:xfrm>
          <a:prstGeom prst="rect">
            <a:avLst/>
          </a:prstGeom>
          <a:noFill/>
          <a:ln/>
        </p:spPr>
        <p:txBody>
          <a:bodyPr wrap="square" rtlCol="0" anchor="ctr"/>
          <a:lstStyle/>
          <a:p>
            <a:pPr indent="0" marL="0">
              <a:buNone/>
            </a:pPr>
            <a:r>
              <a:rPr lang="en-US" sz="1500" dirty="0">
                <a:solidFill>
                  <a:srgbClr val="5A6070"/>
                </a:solidFill>
                <a:latin typeface="Calibri" pitchFamily="34" charset="0"/>
                <a:ea typeface="Calibri" pitchFamily="34" charset="-122"/>
                <a:cs typeface="Calibri" pitchFamily="34" charset="-120"/>
              </a:rPr>
              <a:t>Told upfront so you do not think something is broken.</a:t>
            </a:r>
            <a:endParaRPr lang="en-US" sz="1500" dirty="0"/>
          </a:p>
        </p:txBody>
      </p:sp>
      <p:sp>
        <p:nvSpPr>
          <p:cNvPr id="4" name="Shape 2"/>
          <p:cNvSpPr/>
          <p:nvPr/>
        </p:nvSpPr>
        <p:spPr>
          <a:xfrm>
            <a:off x="731520" y="1965960"/>
            <a:ext cx="10698480" cy="1417320"/>
          </a:xfrm>
          <a:prstGeom prst="roundRect">
            <a:avLst>
              <a:gd name="adj" fmla="val 9032"/>
            </a:avLst>
          </a:prstGeom>
          <a:solidFill>
            <a:srgbClr val="F4F6FB"/>
          </a:solidFill>
          <a:ln/>
        </p:spPr>
      </p:sp>
      <p:sp>
        <p:nvSpPr>
          <p:cNvPr id="5" name="Text 3"/>
          <p:cNvSpPr txBox="1"/>
          <p:nvPr/>
        </p:nvSpPr>
        <p:spPr>
          <a:xfrm>
            <a:off x="1051560" y="2148840"/>
            <a:ext cx="10058400" cy="384048"/>
          </a:xfrm>
          <a:prstGeom prst="rect">
            <a:avLst/>
          </a:prstGeom>
          <a:noFill/>
          <a:ln/>
        </p:spPr>
        <p:txBody>
          <a:bodyPr wrap="square" lIns="0" tIns="0" rIns="0" bIns="0" rtlCol="0" anchor="ctr"/>
          <a:lstStyle/>
          <a:p>
            <a:pPr indent="0" marL="0">
              <a:buNone/>
            </a:pPr>
            <a:r>
              <a:rPr lang="en-US" sz="1900" b="1" dirty="0">
                <a:solidFill>
                  <a:srgbClr val="1E2761"/>
                </a:solidFill>
                <a:latin typeface="Calibri" pitchFamily="34" charset="0"/>
                <a:ea typeface="Calibri" pitchFamily="34" charset="-122"/>
                <a:cs typeface="Calibri" pitchFamily="34" charset="-120"/>
              </a:rPr>
              <a:t>Worked prospects stay in your queue</a:t>
            </a:r>
            <a:endParaRPr lang="en-US" sz="1900" dirty="0"/>
          </a:p>
        </p:txBody>
      </p:sp>
      <p:sp>
        <p:nvSpPr>
          <p:cNvPr id="6" name="Text 4"/>
          <p:cNvSpPr txBox="1"/>
          <p:nvPr/>
        </p:nvSpPr>
        <p:spPr>
          <a:xfrm>
            <a:off x="1051560" y="2551176"/>
            <a:ext cx="10058400" cy="731520"/>
          </a:xfrm>
          <a:prstGeom prst="rect">
            <a:avLst/>
          </a:prstGeom>
          <a:noFill/>
          <a:ln/>
        </p:spPr>
        <p:txBody>
          <a:bodyPr wrap="square" lIns="0" tIns="0" rIns="0" bIns="0" rtlCol="0" anchor="ctr"/>
          <a:lstStyle/>
          <a:p>
            <a:pPr indent="0" marL="0">
              <a:buNone/>
            </a:pPr>
            <a:r>
              <a:rPr lang="en-US" sz="1400" dirty="0">
                <a:solidFill>
                  <a:srgbClr val="5A6070"/>
                </a:solidFill>
                <a:latin typeface="Calibri" pitchFamily="34" charset="0"/>
                <a:ea typeface="Calibri" pitchFamily="34" charset="-122"/>
                <a:cs typeface="Calibri" pitchFamily="34" charset="-120"/>
              </a:rPr>
              <a:t>Marking one “worked” clears its expiry, and the queue matches on exactly that. So your queue accumulates rather than emptying. That is how it behaves today — it is not a bug you have found.</a:t>
            </a:r>
            <a:endParaRPr lang="en-US" sz="1400" dirty="0"/>
          </a:p>
        </p:txBody>
      </p:sp>
      <p:sp>
        <p:nvSpPr>
          <p:cNvPr id="7" name="Shape 5"/>
          <p:cNvSpPr/>
          <p:nvPr/>
        </p:nvSpPr>
        <p:spPr>
          <a:xfrm>
            <a:off x="731520" y="3611880"/>
            <a:ext cx="10698480" cy="1417320"/>
          </a:xfrm>
          <a:prstGeom prst="roundRect">
            <a:avLst>
              <a:gd name="adj" fmla="val 9032"/>
            </a:avLst>
          </a:prstGeom>
          <a:solidFill>
            <a:srgbClr val="F4F6FB"/>
          </a:solidFill>
          <a:ln/>
        </p:spPr>
      </p:sp>
      <p:sp>
        <p:nvSpPr>
          <p:cNvPr id="8" name="Text 6"/>
          <p:cNvSpPr txBox="1"/>
          <p:nvPr/>
        </p:nvSpPr>
        <p:spPr>
          <a:xfrm>
            <a:off x="1051560" y="3794760"/>
            <a:ext cx="10058400" cy="384048"/>
          </a:xfrm>
          <a:prstGeom prst="rect">
            <a:avLst/>
          </a:prstGeom>
          <a:noFill/>
          <a:ln/>
        </p:spPr>
        <p:txBody>
          <a:bodyPr wrap="square" lIns="0" tIns="0" rIns="0" bIns="0" rtlCol="0" anchor="ctr"/>
          <a:lstStyle/>
          <a:p>
            <a:pPr indent="0" marL="0">
              <a:buNone/>
            </a:pPr>
            <a:r>
              <a:rPr lang="en-US" sz="1900" b="1" dirty="0">
                <a:solidFill>
                  <a:srgbClr val="1E2761"/>
                </a:solidFill>
                <a:latin typeface="Calibri" pitchFamily="34" charset="0"/>
                <a:ea typeface="Calibri" pitchFamily="34" charset="-122"/>
                <a:cs typeface="Calibri" pitchFamily="34" charset="-120"/>
              </a:rPr>
              <a:t>Nothing turns a claimed prospect into a lead</a:t>
            </a:r>
            <a:endParaRPr lang="en-US" sz="1900" dirty="0"/>
          </a:p>
        </p:txBody>
      </p:sp>
      <p:sp>
        <p:nvSpPr>
          <p:cNvPr id="9" name="Text 7"/>
          <p:cNvSpPr txBox="1"/>
          <p:nvPr/>
        </p:nvSpPr>
        <p:spPr>
          <a:xfrm>
            <a:off x="1051560" y="4197096"/>
            <a:ext cx="10058400" cy="731520"/>
          </a:xfrm>
          <a:prstGeom prst="rect">
            <a:avLst/>
          </a:prstGeom>
          <a:noFill/>
          <a:ln/>
        </p:spPr>
        <p:txBody>
          <a:bodyPr wrap="square" lIns="0" tIns="0" rIns="0" bIns="0" rtlCol="0" anchor="ctr"/>
          <a:lstStyle/>
          <a:p>
            <a:pPr indent="0" marL="0">
              <a:buNone/>
            </a:pPr>
            <a:r>
              <a:rPr lang="en-US" sz="1400" dirty="0">
                <a:solidFill>
                  <a:srgbClr val="5A6070"/>
                </a:solidFill>
                <a:latin typeface="Calibri" pitchFamily="34" charset="0"/>
                <a:ea typeface="Calibri" pitchFamily="34" charset="-122"/>
                <a:cs typeface="Calibri" pitchFamily="34" charset="-120"/>
              </a:rPr>
              <a:t>There is no button for it. If you want to email or text somebody you found in the queue, you retype them on the leads screen. Annoying, known, and being fixed.</a:t>
            </a:r>
            <a:endParaRPr lang="en-US" sz="1400" dirty="0"/>
          </a:p>
        </p:txBody>
      </p:sp>
      <p:sp>
        <p:nvSpPr>
          <p:cNvPr id="10" name="Text 8"/>
          <p:cNvSpPr txBox="1"/>
          <p:nvPr/>
        </p:nvSpPr>
        <p:spPr>
          <a:xfrm>
            <a:off x="731520" y="5440680"/>
            <a:ext cx="10698480" cy="457200"/>
          </a:xfrm>
          <a:prstGeom prst="rect">
            <a:avLst/>
          </a:prstGeom>
          <a:noFill/>
          <a:ln/>
        </p:spPr>
        <p:txBody>
          <a:bodyPr wrap="square" rtlCol="0" anchor="ctr"/>
          <a:lstStyle/>
          <a:p>
            <a:pPr indent="0" marL="0">
              <a:buNone/>
            </a:pPr>
            <a:r>
              <a:rPr lang="en-US" sz="1700" i="1" dirty="0">
                <a:solidFill>
                  <a:srgbClr val="1E2761"/>
                </a:solidFill>
                <a:latin typeface="Cambria" pitchFamily="34" charset="0"/>
                <a:ea typeface="Cambria" pitchFamily="34" charset="-122"/>
                <a:cs typeface="Cambria" pitchFamily="34" charset="-120"/>
              </a:rPr>
              <a:t>You will find others. Tell us — the written SOP records every one of these honestly, and it is kept that way on purpose.</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731520" y="1280160"/>
            <a:ext cx="8686800" cy="82296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Your first day</a:t>
            </a:r>
            <a:endParaRPr lang="en-US" sz="4400" dirty="0"/>
          </a:p>
        </p:txBody>
      </p:sp>
      <p:sp>
        <p:nvSpPr>
          <p:cNvPr id="3" name="Shape 1"/>
          <p:cNvSpPr/>
          <p:nvPr/>
        </p:nvSpPr>
        <p:spPr>
          <a:xfrm>
            <a:off x="731520" y="2359152"/>
            <a:ext cx="402336" cy="402336"/>
          </a:xfrm>
          <a:prstGeom prst="ellipse">
            <a:avLst/>
          </a:prstGeom>
          <a:solidFill>
            <a:srgbClr val="C8A44D"/>
          </a:solidFill>
          <a:ln/>
        </p:spPr>
      </p:sp>
      <p:sp>
        <p:nvSpPr>
          <p:cNvPr id="4" name="Text 2"/>
          <p:cNvSpPr txBox="1"/>
          <p:nvPr/>
        </p:nvSpPr>
        <p:spPr>
          <a:xfrm>
            <a:off x="731520" y="2359152"/>
            <a:ext cx="402336" cy="402336"/>
          </a:xfrm>
          <a:prstGeom prst="rect">
            <a:avLst/>
          </a:prstGeom>
          <a:noFill/>
          <a:ln/>
        </p:spPr>
        <p:txBody>
          <a:bodyPr wrap="square" lIns="0" tIns="0" rIns="0" bIns="0" rtlCol="0" anchor="ctr"/>
          <a:lstStyle/>
          <a:p>
            <a:pPr algn="ctr" indent="0" marL="0">
              <a:buNone/>
            </a:pPr>
            <a:r>
              <a:rPr lang="en-US" sz="1500" b="1" dirty="0">
                <a:solidFill>
                  <a:srgbClr val="1E2761"/>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389888" y="2377440"/>
            <a:ext cx="9875520" cy="402336"/>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Accept your invite and sign in</a:t>
            </a:r>
            <a:endParaRPr lang="en-US" sz="1800" dirty="0"/>
          </a:p>
        </p:txBody>
      </p:sp>
      <p:sp>
        <p:nvSpPr>
          <p:cNvPr id="6" name="Shape 4"/>
          <p:cNvSpPr/>
          <p:nvPr/>
        </p:nvSpPr>
        <p:spPr>
          <a:xfrm>
            <a:off x="731520" y="3072384"/>
            <a:ext cx="402336" cy="402336"/>
          </a:xfrm>
          <a:prstGeom prst="ellipse">
            <a:avLst/>
          </a:prstGeom>
          <a:solidFill>
            <a:srgbClr val="C8A44D"/>
          </a:solidFill>
          <a:ln/>
        </p:spPr>
      </p:sp>
      <p:sp>
        <p:nvSpPr>
          <p:cNvPr id="7" name="Text 5"/>
          <p:cNvSpPr txBox="1"/>
          <p:nvPr/>
        </p:nvSpPr>
        <p:spPr>
          <a:xfrm>
            <a:off x="731520" y="3072384"/>
            <a:ext cx="402336" cy="402336"/>
          </a:xfrm>
          <a:prstGeom prst="rect">
            <a:avLst/>
          </a:prstGeom>
          <a:noFill/>
          <a:ln/>
        </p:spPr>
        <p:txBody>
          <a:bodyPr wrap="square" lIns="0" tIns="0" rIns="0" bIns="0" rtlCol="0" anchor="ctr"/>
          <a:lstStyle/>
          <a:p>
            <a:pPr algn="ctr" indent="0" marL="0">
              <a:buNone/>
            </a:pPr>
            <a:r>
              <a:rPr lang="en-US" sz="1500" b="1" dirty="0">
                <a:solidFill>
                  <a:srgbClr val="1E2761"/>
                </a:solidFill>
                <a:latin typeface="Calibri" pitchFamily="34" charset="0"/>
                <a:ea typeface="Calibri" pitchFamily="34" charset="-122"/>
                <a:cs typeface="Calibri" pitchFamily="34" charset="-120"/>
              </a:rPr>
              <a:t>2</a:t>
            </a:r>
            <a:endParaRPr lang="en-US" sz="1500" dirty="0"/>
          </a:p>
        </p:txBody>
      </p:sp>
      <p:sp>
        <p:nvSpPr>
          <p:cNvPr id="8" name="Text 6"/>
          <p:cNvSpPr txBox="1"/>
          <p:nvPr/>
        </p:nvSpPr>
        <p:spPr>
          <a:xfrm>
            <a:off x="1389888" y="3090672"/>
            <a:ext cx="9875520" cy="402336"/>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Check your signup link works — send it to yourself</a:t>
            </a:r>
            <a:endParaRPr lang="en-US" sz="1800" dirty="0"/>
          </a:p>
        </p:txBody>
      </p:sp>
      <p:sp>
        <p:nvSpPr>
          <p:cNvPr id="9" name="Shape 7"/>
          <p:cNvSpPr/>
          <p:nvPr/>
        </p:nvSpPr>
        <p:spPr>
          <a:xfrm>
            <a:off x="731520" y="3785616"/>
            <a:ext cx="402336" cy="402336"/>
          </a:xfrm>
          <a:prstGeom prst="ellipse">
            <a:avLst/>
          </a:prstGeom>
          <a:solidFill>
            <a:srgbClr val="C8A44D"/>
          </a:solidFill>
          <a:ln/>
        </p:spPr>
      </p:sp>
      <p:sp>
        <p:nvSpPr>
          <p:cNvPr id="10" name="Text 8"/>
          <p:cNvSpPr txBox="1"/>
          <p:nvPr/>
        </p:nvSpPr>
        <p:spPr>
          <a:xfrm>
            <a:off x="731520" y="3785616"/>
            <a:ext cx="402336" cy="402336"/>
          </a:xfrm>
          <a:prstGeom prst="rect">
            <a:avLst/>
          </a:prstGeom>
          <a:noFill/>
          <a:ln/>
        </p:spPr>
        <p:txBody>
          <a:bodyPr wrap="square" lIns="0" tIns="0" rIns="0" bIns="0" rtlCol="0" anchor="ctr"/>
          <a:lstStyle/>
          <a:p>
            <a:pPr algn="ctr" indent="0" marL="0">
              <a:buNone/>
            </a:pPr>
            <a:r>
              <a:rPr lang="en-US" sz="1500" b="1" dirty="0">
                <a:solidFill>
                  <a:srgbClr val="1E2761"/>
                </a:solidFill>
                <a:latin typeface="Calibri" pitchFamily="34" charset="0"/>
                <a:ea typeface="Calibri" pitchFamily="34" charset="-122"/>
                <a:cs typeface="Calibri" pitchFamily="34" charset="-120"/>
              </a:rPr>
              <a:t>3</a:t>
            </a:r>
            <a:endParaRPr lang="en-US" sz="1500" dirty="0"/>
          </a:p>
        </p:txBody>
      </p:sp>
      <p:sp>
        <p:nvSpPr>
          <p:cNvPr id="11" name="Text 9"/>
          <p:cNvSpPr txBox="1"/>
          <p:nvPr/>
        </p:nvSpPr>
        <p:spPr>
          <a:xfrm>
            <a:off x="1389888" y="3803904"/>
            <a:ext cx="9875520" cy="402336"/>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Claim one prospect and read all four research layers before dialling</a:t>
            </a:r>
            <a:endParaRPr lang="en-US" sz="1800" dirty="0"/>
          </a:p>
        </p:txBody>
      </p:sp>
      <p:sp>
        <p:nvSpPr>
          <p:cNvPr id="12" name="Shape 10"/>
          <p:cNvSpPr/>
          <p:nvPr/>
        </p:nvSpPr>
        <p:spPr>
          <a:xfrm>
            <a:off x="731520" y="4498848"/>
            <a:ext cx="402336" cy="402336"/>
          </a:xfrm>
          <a:prstGeom prst="ellipse">
            <a:avLst/>
          </a:prstGeom>
          <a:solidFill>
            <a:srgbClr val="C8A44D"/>
          </a:solidFill>
          <a:ln/>
        </p:spPr>
      </p:sp>
      <p:sp>
        <p:nvSpPr>
          <p:cNvPr id="13" name="Text 11"/>
          <p:cNvSpPr txBox="1"/>
          <p:nvPr/>
        </p:nvSpPr>
        <p:spPr>
          <a:xfrm>
            <a:off x="731520" y="4498848"/>
            <a:ext cx="402336" cy="402336"/>
          </a:xfrm>
          <a:prstGeom prst="rect">
            <a:avLst/>
          </a:prstGeom>
          <a:noFill/>
          <a:ln/>
        </p:spPr>
        <p:txBody>
          <a:bodyPr wrap="square" lIns="0" tIns="0" rIns="0" bIns="0" rtlCol="0" anchor="ctr"/>
          <a:lstStyle/>
          <a:p>
            <a:pPr algn="ctr" indent="0" marL="0">
              <a:buNone/>
            </a:pPr>
            <a:r>
              <a:rPr lang="en-US" sz="1500" b="1" dirty="0">
                <a:solidFill>
                  <a:srgbClr val="1E2761"/>
                </a:solidFill>
                <a:latin typeface="Calibri" pitchFamily="34" charset="0"/>
                <a:ea typeface="Calibri" pitchFamily="34" charset="-122"/>
                <a:cs typeface="Calibri" pitchFamily="34" charset="-120"/>
              </a:rPr>
              <a:t>4</a:t>
            </a:r>
            <a:endParaRPr lang="en-US" sz="1500" dirty="0"/>
          </a:p>
        </p:txBody>
      </p:sp>
      <p:sp>
        <p:nvSpPr>
          <p:cNvPr id="14" name="Text 12"/>
          <p:cNvSpPr txBox="1"/>
          <p:nvPr/>
        </p:nvSpPr>
        <p:spPr>
          <a:xfrm>
            <a:off x="1389888" y="4517136"/>
            <a:ext cx="9875520" cy="402336"/>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Make your first call, then close the claim out properly</a:t>
            </a:r>
            <a:endParaRPr lang="en-US" sz="1800" dirty="0"/>
          </a:p>
        </p:txBody>
      </p:sp>
      <p:sp>
        <p:nvSpPr>
          <p:cNvPr id="15" name="Text 13"/>
          <p:cNvSpPr txBox="1"/>
          <p:nvPr/>
        </p:nvSpPr>
        <p:spPr>
          <a:xfrm>
            <a:off x="731520" y="5577840"/>
            <a:ext cx="10698480" cy="457200"/>
          </a:xfrm>
          <a:prstGeom prst="rect">
            <a:avLst/>
          </a:prstGeom>
          <a:noFill/>
          <a:ln/>
        </p:spPr>
        <p:txBody>
          <a:bodyPr wrap="square" rtlCol="0" anchor="ctr"/>
          <a:lstStyle/>
          <a:p>
            <a:pPr indent="0" marL="0">
              <a:buNone/>
            </a:pPr>
            <a:r>
              <a:rPr lang="en-US" sz="1800" i="1" dirty="0">
                <a:solidFill>
                  <a:srgbClr val="CADCFC"/>
                </a:solidFill>
                <a:latin typeface="Cambria" pitchFamily="34" charset="0"/>
                <a:ea typeface="Cambria" pitchFamily="34" charset="-122"/>
                <a:cs typeface="Cambria" pitchFamily="34" charset="-120"/>
              </a:rPr>
              <a:t>Everything else is in the written SOP. Keep it open for the first week.</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731520"/>
          </a:xfrm>
          <a:prstGeom prst="rect">
            <a:avLst/>
          </a:prstGeom>
          <a:noFill/>
          <a:ln/>
        </p:spPr>
        <p:txBody>
          <a:bodyPr wrap="square"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The calling window is a rule, not a habit</a:t>
            </a:r>
            <a:endParaRPr lang="en-US" sz="3600" dirty="0"/>
          </a:p>
        </p:txBody>
      </p:sp>
      <p:sp>
        <p:nvSpPr>
          <p:cNvPr id="3" name="Text 1"/>
          <p:cNvSpPr txBox="1"/>
          <p:nvPr/>
        </p:nvSpPr>
        <p:spPr>
          <a:xfrm>
            <a:off x="731520" y="1207008"/>
            <a:ext cx="10698480" cy="411480"/>
          </a:xfrm>
          <a:prstGeom prst="rect">
            <a:avLst/>
          </a:prstGeom>
          <a:noFill/>
          <a:ln/>
        </p:spPr>
        <p:txBody>
          <a:bodyPr wrap="square" rtlCol="0" anchor="ctr"/>
          <a:lstStyle/>
          <a:p>
            <a:pPr indent="0" marL="0">
              <a:buNone/>
            </a:pPr>
            <a:r>
              <a:rPr lang="en-US" sz="1500" dirty="0">
                <a:solidFill>
                  <a:srgbClr val="5A6070"/>
                </a:solidFill>
                <a:latin typeface="Calibri" pitchFamily="34" charset="0"/>
                <a:ea typeface="Calibri" pitchFamily="34" charset="-122"/>
                <a:cs typeface="Calibri" pitchFamily="34" charset="-120"/>
              </a:rPr>
              <a:t>Read in the prospect's own time zone — never yours</a:t>
            </a:r>
            <a:endParaRPr lang="en-US" sz="1500" dirty="0"/>
          </a:p>
        </p:txBody>
      </p:sp>
      <p:sp>
        <p:nvSpPr>
          <p:cNvPr id="4" name="Shape 2"/>
          <p:cNvSpPr/>
          <p:nvPr/>
        </p:nvSpPr>
        <p:spPr>
          <a:xfrm>
            <a:off x="731520" y="2148840"/>
            <a:ext cx="10698480" cy="841248"/>
          </a:xfrm>
          <a:prstGeom prst="rect">
            <a:avLst/>
          </a:prstGeom>
          <a:solidFill>
            <a:srgbClr val="F4F6FB"/>
          </a:solidFill>
          <a:ln/>
        </p:spPr>
      </p:sp>
      <p:sp>
        <p:nvSpPr>
          <p:cNvPr id="5" name="Text 3"/>
          <p:cNvSpPr txBox="1"/>
          <p:nvPr/>
        </p:nvSpPr>
        <p:spPr>
          <a:xfrm>
            <a:off x="960120" y="2221992"/>
            <a:ext cx="2834640" cy="694944"/>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08:00 – 21:00</a:t>
            </a:r>
            <a:endParaRPr lang="en-US" sz="1500" dirty="0"/>
          </a:p>
        </p:txBody>
      </p:sp>
      <p:sp>
        <p:nvSpPr>
          <p:cNvPr id="6" name="Text 4"/>
          <p:cNvSpPr txBox="1"/>
          <p:nvPr/>
        </p:nvSpPr>
        <p:spPr>
          <a:xfrm>
            <a:off x="3931920" y="2221992"/>
            <a:ext cx="7223760" cy="694944"/>
          </a:xfrm>
          <a:prstGeom prst="rect">
            <a:avLst/>
          </a:prstGeom>
          <a:noFill/>
          <a:ln/>
        </p:spPr>
        <p:txBody>
          <a:bodyPr wrap="square" lIns="0" tIns="0" rIns="0" bIns="0" rtlCol="0" anchor="ctr"/>
          <a:lstStyle/>
          <a:p>
            <a:pPr indent="0" marL="0">
              <a:buNone/>
            </a:pPr>
            <a:r>
              <a:rPr lang="en-US" sz="1300" dirty="0">
                <a:solidFill>
                  <a:srgbClr val="5A6070"/>
                </a:solidFill>
                <a:latin typeface="Calibri" pitchFamily="34" charset="0"/>
                <a:ea typeface="Calibri" pitchFamily="34" charset="-122"/>
                <a:cs typeface="Calibri" pitchFamily="34" charset="-120"/>
              </a:rPr>
              <a:t>The window, every day, in the time zone where THEIR phone rings. A prospect in New York is not open because you are.</a:t>
            </a:r>
            <a:endParaRPr lang="en-US" sz="1300" dirty="0"/>
          </a:p>
        </p:txBody>
      </p:sp>
      <p:sp>
        <p:nvSpPr>
          <p:cNvPr id="7" name="Shape 5"/>
          <p:cNvSpPr/>
          <p:nvPr/>
        </p:nvSpPr>
        <p:spPr>
          <a:xfrm>
            <a:off x="731520" y="3108960"/>
            <a:ext cx="10698480" cy="841248"/>
          </a:xfrm>
          <a:prstGeom prst="rect">
            <a:avLst/>
          </a:prstGeom>
          <a:solidFill>
            <a:srgbClr val="F4F6FB"/>
          </a:solidFill>
          <a:ln/>
        </p:spPr>
      </p:sp>
      <p:sp>
        <p:nvSpPr>
          <p:cNvPr id="8" name="Text 6"/>
          <p:cNvSpPr txBox="1"/>
          <p:nvPr/>
        </p:nvSpPr>
        <p:spPr>
          <a:xfrm>
            <a:off x="960120" y="3182112"/>
            <a:ext cx="2834640" cy="694944"/>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The screen refuses</a:t>
            </a:r>
            <a:endParaRPr lang="en-US" sz="1500" dirty="0"/>
          </a:p>
        </p:txBody>
      </p:sp>
      <p:sp>
        <p:nvSpPr>
          <p:cNvPr id="9" name="Text 7"/>
          <p:cNvSpPr txBox="1"/>
          <p:nvPr/>
        </p:nvSpPr>
        <p:spPr>
          <a:xfrm>
            <a:off x="3931920" y="3182112"/>
            <a:ext cx="7223760" cy="694944"/>
          </a:xfrm>
          <a:prstGeom prst="rect">
            <a:avLst/>
          </a:prstGeom>
          <a:noFill/>
          <a:ln/>
        </p:spPr>
        <p:txBody>
          <a:bodyPr wrap="square" lIns="0" tIns="0" rIns="0" bIns="0" rtlCol="0" anchor="ctr"/>
          <a:lstStyle/>
          <a:p>
            <a:pPr indent="0" marL="0">
              <a:buNone/>
            </a:pPr>
            <a:r>
              <a:rPr lang="en-US" sz="1300" dirty="0">
                <a:solidFill>
                  <a:srgbClr val="5A6070"/>
                </a:solidFill>
                <a:latin typeface="Calibri" pitchFamily="34" charset="0"/>
                <a:ea typeface="Calibri" pitchFamily="34" charset="-122"/>
                <a:cs typeface="Calibri" pitchFamily="34" charset="-120"/>
              </a:rPr>
              <a:t>Outside the window the queue does not offer a dial control. It is not hidden to nag you — pressing it would place a call that breaks the rule.</a:t>
            </a:r>
            <a:endParaRPr lang="en-US" sz="1300" dirty="0"/>
          </a:p>
        </p:txBody>
      </p:sp>
      <p:sp>
        <p:nvSpPr>
          <p:cNvPr id="10" name="Shape 8"/>
          <p:cNvSpPr/>
          <p:nvPr/>
        </p:nvSpPr>
        <p:spPr>
          <a:xfrm>
            <a:off x="731520" y="4069080"/>
            <a:ext cx="10698480" cy="841248"/>
          </a:xfrm>
          <a:prstGeom prst="rect">
            <a:avLst/>
          </a:prstGeom>
          <a:solidFill>
            <a:srgbClr val="F4F6FB"/>
          </a:solidFill>
          <a:ln/>
        </p:spPr>
      </p:sp>
      <p:sp>
        <p:nvSpPr>
          <p:cNvPr id="11" name="Text 9"/>
          <p:cNvSpPr txBox="1"/>
          <p:nvPr/>
        </p:nvSpPr>
        <p:spPr>
          <a:xfrm>
            <a:off x="960120" y="4142232"/>
            <a:ext cx="2834640" cy="694944"/>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It names the reopening</a:t>
            </a:r>
            <a:endParaRPr lang="en-US" sz="1500" dirty="0"/>
          </a:p>
        </p:txBody>
      </p:sp>
      <p:sp>
        <p:nvSpPr>
          <p:cNvPr id="12" name="Text 10"/>
          <p:cNvSpPr txBox="1"/>
          <p:nvPr/>
        </p:nvSpPr>
        <p:spPr>
          <a:xfrm>
            <a:off x="3931920" y="4142232"/>
            <a:ext cx="7223760" cy="694944"/>
          </a:xfrm>
          <a:prstGeom prst="rect">
            <a:avLst/>
          </a:prstGeom>
          <a:noFill/>
          <a:ln/>
        </p:spPr>
        <p:txBody>
          <a:bodyPr wrap="square" lIns="0" tIns="0" rIns="0" bIns="0" rtlCol="0" anchor="ctr"/>
          <a:lstStyle/>
          <a:p>
            <a:pPr indent="0" marL="0">
              <a:buNone/>
            </a:pPr>
            <a:r>
              <a:rPr lang="en-US" sz="1300" dirty="0">
                <a:solidFill>
                  <a:srgbClr val="5A6070"/>
                </a:solidFill>
                <a:latin typeface="Calibri" pitchFamily="34" charset="0"/>
                <a:ea typeface="Calibri" pitchFamily="34" charset="-122"/>
                <a:cs typeface="Calibri" pitchFamily="34" charset="-120"/>
              </a:rPr>
              <a:t>“The window opens at 08:00 Thu 10 Sept (America/New_York).” Work the ones that are open instead of waiting.</a:t>
            </a:r>
            <a:endParaRPr lang="en-US" sz="1300" dirty="0"/>
          </a:p>
        </p:txBody>
      </p:sp>
      <p:sp>
        <p:nvSpPr>
          <p:cNvPr id="13" name="Shape 11"/>
          <p:cNvSpPr/>
          <p:nvPr/>
        </p:nvSpPr>
        <p:spPr>
          <a:xfrm>
            <a:off x="731520" y="5029200"/>
            <a:ext cx="10698480" cy="841248"/>
          </a:xfrm>
          <a:prstGeom prst="rect">
            <a:avLst/>
          </a:prstGeom>
          <a:solidFill>
            <a:srgbClr val="F4F6FB"/>
          </a:solidFill>
          <a:ln/>
        </p:spPr>
      </p:sp>
      <p:sp>
        <p:nvSpPr>
          <p:cNvPr id="14" name="Text 12"/>
          <p:cNvSpPr txBox="1"/>
          <p:nvPr/>
        </p:nvSpPr>
        <p:spPr>
          <a:xfrm>
            <a:off x="960120" y="5102352"/>
            <a:ext cx="2834640" cy="694944"/>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Do-not-contact wins</a:t>
            </a:r>
            <a:endParaRPr lang="en-US" sz="1500" dirty="0"/>
          </a:p>
        </p:txBody>
      </p:sp>
      <p:sp>
        <p:nvSpPr>
          <p:cNvPr id="15" name="Text 13"/>
          <p:cNvSpPr txBox="1"/>
          <p:nvPr/>
        </p:nvSpPr>
        <p:spPr>
          <a:xfrm>
            <a:off x="3931920" y="5102352"/>
            <a:ext cx="7223760" cy="694944"/>
          </a:xfrm>
          <a:prstGeom prst="rect">
            <a:avLst/>
          </a:prstGeom>
          <a:noFill/>
          <a:ln/>
        </p:spPr>
        <p:txBody>
          <a:bodyPr wrap="square" lIns="0" tIns="0" rIns="0" bIns="0" rtlCol="0" anchor="ctr"/>
          <a:lstStyle/>
          <a:p>
            <a:pPr indent="0" marL="0">
              <a:buNone/>
            </a:pPr>
            <a:r>
              <a:rPr lang="en-US" sz="1300" dirty="0">
                <a:solidFill>
                  <a:srgbClr val="5A6070"/>
                </a:solidFill>
                <a:latin typeface="Calibri" pitchFamily="34" charset="0"/>
                <a:ea typeface="Calibri" pitchFamily="34" charset="-122"/>
                <a:cs typeface="Calibri" pitchFamily="34" charset="-120"/>
              </a:rPr>
              <a:t>A business that asked us to stop is never dialled, whatever the hour. That flag sits on the business, not on the paperwork.</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731520"/>
          </a:xfrm>
          <a:prstGeom prst="rect">
            <a:avLst/>
          </a:prstGeom>
          <a:noFill/>
          <a:ln/>
        </p:spPr>
        <p:txBody>
          <a:bodyPr wrap="square"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Placing a call</a:t>
            </a:r>
            <a:endParaRPr lang="en-US" sz="3600" dirty="0"/>
          </a:p>
        </p:txBody>
      </p:sp>
      <p:sp>
        <p:nvSpPr>
          <p:cNvPr id="3" name="Text 1"/>
          <p:cNvSpPr txBox="1"/>
          <p:nvPr/>
        </p:nvSpPr>
        <p:spPr>
          <a:xfrm>
            <a:off x="731520" y="1207008"/>
            <a:ext cx="10698480" cy="411480"/>
          </a:xfrm>
          <a:prstGeom prst="rect">
            <a:avLst/>
          </a:prstGeom>
          <a:noFill/>
          <a:ln/>
        </p:spPr>
        <p:txBody>
          <a:bodyPr wrap="square" rtlCol="0" anchor="ctr"/>
          <a:lstStyle/>
          <a:p>
            <a:pPr indent="0" marL="0">
              <a:buNone/>
            </a:pPr>
            <a:r>
              <a:rPr lang="en-US" sz="1500" dirty="0">
                <a:solidFill>
                  <a:srgbClr val="5A6070"/>
                </a:solidFill>
                <a:latin typeface="Calibri" pitchFamily="34" charset="0"/>
                <a:ea typeface="Calibri" pitchFamily="34" charset="-122"/>
                <a:cs typeface="Calibri" pitchFamily="34" charset="-120"/>
              </a:rPr>
              <a:t>Everything happens on one screen. You never leave the record.</a:t>
            </a:r>
            <a:endParaRPr lang="en-US" sz="1500" dirty="0"/>
          </a:p>
        </p:txBody>
      </p:sp>
      <p:sp>
        <p:nvSpPr>
          <p:cNvPr id="4" name="Shape 2"/>
          <p:cNvSpPr/>
          <p:nvPr/>
        </p:nvSpPr>
        <p:spPr>
          <a:xfrm>
            <a:off x="731520" y="2103120"/>
            <a:ext cx="384048" cy="384048"/>
          </a:xfrm>
          <a:prstGeom prst="ellipse">
            <a:avLst/>
          </a:prstGeom>
          <a:solidFill>
            <a:srgbClr val="1E2761"/>
          </a:solidFill>
          <a:ln/>
        </p:spPr>
      </p:sp>
      <p:sp>
        <p:nvSpPr>
          <p:cNvPr id="5" name="Text 3"/>
          <p:cNvSpPr txBox="1"/>
          <p:nvPr/>
        </p:nvSpPr>
        <p:spPr>
          <a:xfrm>
            <a:off x="731520" y="21031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353312" y="2066544"/>
            <a:ext cx="2926080" cy="457200"/>
          </a:xfrm>
          <a:prstGeom prst="rect">
            <a:avLst/>
          </a:prstGeom>
          <a:noFill/>
          <a:ln/>
        </p:spPr>
        <p:txBody>
          <a:bodyPr wrap="square" lIns="0" tIns="0" rIns="0" bIns="0" rtlCol="0" anchor="ctr"/>
          <a:lstStyle/>
          <a:p>
            <a:pPr indent="0" marL="0">
              <a:buNone/>
            </a:pPr>
            <a:r>
              <a:rPr lang="en-US" sz="1500" b="1" dirty="0">
                <a:solidFill>
                  <a:srgbClr val="1B1B1F"/>
                </a:solidFill>
                <a:latin typeface="Calibri" pitchFamily="34" charset="0"/>
                <a:ea typeface="Calibri" pitchFamily="34" charset="-122"/>
                <a:cs typeface="Calibri" pitchFamily="34" charset="-120"/>
              </a:rPr>
              <a:t>Claim one</a:t>
            </a:r>
            <a:endParaRPr lang="en-US" sz="1500" dirty="0"/>
          </a:p>
        </p:txBody>
      </p:sp>
      <p:sp>
        <p:nvSpPr>
          <p:cNvPr id="7" name="Text 5"/>
          <p:cNvSpPr txBox="1"/>
          <p:nvPr/>
        </p:nvSpPr>
        <p:spPr>
          <a:xfrm>
            <a:off x="4343400" y="2066544"/>
            <a:ext cx="6949440" cy="457200"/>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One at a time. A claim stops every other rep phoning the same business — that is what makes it fair.</a:t>
            </a:r>
            <a:endParaRPr lang="en-US" sz="1250" dirty="0"/>
          </a:p>
        </p:txBody>
      </p:sp>
      <p:sp>
        <p:nvSpPr>
          <p:cNvPr id="8" name="Shape 6"/>
          <p:cNvSpPr/>
          <p:nvPr/>
        </p:nvSpPr>
        <p:spPr>
          <a:xfrm>
            <a:off x="731520" y="2889504"/>
            <a:ext cx="384048" cy="384048"/>
          </a:xfrm>
          <a:prstGeom prst="ellipse">
            <a:avLst/>
          </a:prstGeom>
          <a:solidFill>
            <a:srgbClr val="1E2761"/>
          </a:solidFill>
          <a:ln/>
        </p:spPr>
      </p:sp>
      <p:sp>
        <p:nvSpPr>
          <p:cNvPr id="9" name="Text 7"/>
          <p:cNvSpPr txBox="1"/>
          <p:nvPr/>
        </p:nvSpPr>
        <p:spPr>
          <a:xfrm>
            <a:off x="731520" y="28895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353312" y="2852928"/>
            <a:ext cx="2926080" cy="457200"/>
          </a:xfrm>
          <a:prstGeom prst="rect">
            <a:avLst/>
          </a:prstGeom>
          <a:noFill/>
          <a:ln/>
        </p:spPr>
        <p:txBody>
          <a:bodyPr wrap="square" lIns="0" tIns="0" rIns="0" bIns="0" rtlCol="0" anchor="ctr"/>
          <a:lstStyle/>
          <a:p>
            <a:pPr indent="0" marL="0">
              <a:buNone/>
            </a:pPr>
            <a:r>
              <a:rPr lang="en-US" sz="1500" b="1" dirty="0">
                <a:solidFill>
                  <a:srgbClr val="1B1B1F"/>
                </a:solidFill>
                <a:latin typeface="Calibri" pitchFamily="34" charset="0"/>
                <a:ea typeface="Calibri" pitchFamily="34" charset="-122"/>
                <a:cs typeface="Calibri" pitchFamily="34" charset="-120"/>
              </a:rPr>
              <a:t>Read all four layers first</a:t>
            </a:r>
            <a:endParaRPr lang="en-US" sz="1500" dirty="0"/>
          </a:p>
        </p:txBody>
      </p:sp>
      <p:sp>
        <p:nvSpPr>
          <p:cNvPr id="11" name="Text 9"/>
          <p:cNvSpPr txBox="1"/>
          <p:nvPr/>
        </p:nvSpPr>
        <p:spPr>
          <a:xfrm>
            <a:off x="4343400" y="2852928"/>
            <a:ext cx="6949440" cy="457200"/>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Facts, then what was inferred, then confidence, then the brief. Never repair a missing layer by guessing on the call.</a:t>
            </a:r>
            <a:endParaRPr lang="en-US" sz="1250" dirty="0"/>
          </a:p>
        </p:txBody>
      </p:sp>
      <p:sp>
        <p:nvSpPr>
          <p:cNvPr id="12" name="Shape 10"/>
          <p:cNvSpPr/>
          <p:nvPr/>
        </p:nvSpPr>
        <p:spPr>
          <a:xfrm>
            <a:off x="731520" y="3675888"/>
            <a:ext cx="384048" cy="384048"/>
          </a:xfrm>
          <a:prstGeom prst="ellipse">
            <a:avLst/>
          </a:prstGeom>
          <a:solidFill>
            <a:srgbClr val="1E2761"/>
          </a:solidFill>
          <a:ln/>
        </p:spPr>
      </p:sp>
      <p:sp>
        <p:nvSpPr>
          <p:cNvPr id="13" name="Text 11"/>
          <p:cNvSpPr txBox="1"/>
          <p:nvPr/>
        </p:nvSpPr>
        <p:spPr>
          <a:xfrm>
            <a:off x="731520" y="36758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353312" y="3639312"/>
            <a:ext cx="2926080" cy="457200"/>
          </a:xfrm>
          <a:prstGeom prst="rect">
            <a:avLst/>
          </a:prstGeom>
          <a:noFill/>
          <a:ln/>
        </p:spPr>
        <p:txBody>
          <a:bodyPr wrap="square" lIns="0" tIns="0" rIns="0" bIns="0" rtlCol="0" anchor="ctr"/>
          <a:lstStyle/>
          <a:p>
            <a:pPr indent="0" marL="0">
              <a:buNone/>
            </a:pPr>
            <a:r>
              <a:rPr lang="en-US" sz="1500" b="1" dirty="0">
                <a:solidFill>
                  <a:srgbClr val="1B1B1F"/>
                </a:solidFill>
                <a:latin typeface="Calibri" pitchFamily="34" charset="0"/>
                <a:ea typeface="Calibri" pitchFamily="34" charset="-122"/>
                <a:cs typeface="Calibri" pitchFamily="34" charset="-120"/>
              </a:rPr>
              <a:t>Press Call</a:t>
            </a:r>
            <a:endParaRPr lang="en-US" sz="1500" dirty="0"/>
          </a:p>
        </p:txBody>
      </p:sp>
      <p:sp>
        <p:nvSpPr>
          <p:cNvPr id="15" name="Text 13"/>
          <p:cNvSpPr txBox="1"/>
          <p:nvPr/>
        </p:nvSpPr>
        <p:spPr>
          <a:xfrm>
            <a:off x="4343400" y="3639312"/>
            <a:ext cx="6949440" cy="457200"/>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It rings in your browser. Your own number shows on their handset, so a call back reaches you and not a switchboard.</a:t>
            </a:r>
            <a:endParaRPr lang="en-US" sz="1250" dirty="0"/>
          </a:p>
        </p:txBody>
      </p:sp>
      <p:sp>
        <p:nvSpPr>
          <p:cNvPr id="16" name="Shape 14"/>
          <p:cNvSpPr/>
          <p:nvPr/>
        </p:nvSpPr>
        <p:spPr>
          <a:xfrm>
            <a:off x="731520" y="4462272"/>
            <a:ext cx="384048" cy="384048"/>
          </a:xfrm>
          <a:prstGeom prst="ellipse">
            <a:avLst/>
          </a:prstGeom>
          <a:solidFill>
            <a:srgbClr val="1E2761"/>
          </a:solidFill>
          <a:ln/>
        </p:spPr>
      </p:sp>
      <p:sp>
        <p:nvSpPr>
          <p:cNvPr id="17" name="Text 15"/>
          <p:cNvSpPr txBox="1"/>
          <p:nvPr/>
        </p:nvSpPr>
        <p:spPr>
          <a:xfrm>
            <a:off x="731520" y="44622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txBox="1"/>
          <p:nvPr/>
        </p:nvSpPr>
        <p:spPr>
          <a:xfrm>
            <a:off x="1353312" y="4425696"/>
            <a:ext cx="2926080" cy="457200"/>
          </a:xfrm>
          <a:prstGeom prst="rect">
            <a:avLst/>
          </a:prstGeom>
          <a:noFill/>
          <a:ln/>
        </p:spPr>
        <p:txBody>
          <a:bodyPr wrap="square" lIns="0" tIns="0" rIns="0" bIns="0" rtlCol="0" anchor="ctr"/>
          <a:lstStyle/>
          <a:p>
            <a:pPr indent="0" marL="0">
              <a:buNone/>
            </a:pPr>
            <a:r>
              <a:rPr lang="en-US" sz="1500" b="1" dirty="0">
                <a:solidFill>
                  <a:srgbClr val="1B1B1F"/>
                </a:solidFill>
                <a:latin typeface="Calibri" pitchFamily="34" charset="0"/>
                <a:ea typeface="Calibri" pitchFamily="34" charset="-122"/>
                <a:cs typeface="Calibri" pitchFamily="34" charset="-120"/>
              </a:rPr>
              <a:t>Take notes while it is live</a:t>
            </a:r>
            <a:endParaRPr lang="en-US" sz="1500" dirty="0"/>
          </a:p>
        </p:txBody>
      </p:sp>
      <p:sp>
        <p:nvSpPr>
          <p:cNvPr id="19" name="Text 17"/>
          <p:cNvSpPr txBox="1"/>
          <p:nvPr/>
        </p:nvSpPr>
        <p:spPr>
          <a:xfrm>
            <a:off x="4343400" y="4425696"/>
            <a:ext cx="6949440" cy="457200"/>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The note box sits beside the dial. Type as close to their words as you can — a note written after the call is a summary of a memory.</a:t>
            </a:r>
            <a:endParaRPr lang="en-US" sz="1250" dirty="0"/>
          </a:p>
        </p:txBody>
      </p:sp>
      <p:sp>
        <p:nvSpPr>
          <p:cNvPr id="20" name="Shape 18"/>
          <p:cNvSpPr/>
          <p:nvPr/>
        </p:nvSpPr>
        <p:spPr>
          <a:xfrm>
            <a:off x="731520" y="5248656"/>
            <a:ext cx="384048" cy="384048"/>
          </a:xfrm>
          <a:prstGeom prst="ellipse">
            <a:avLst/>
          </a:prstGeom>
          <a:solidFill>
            <a:srgbClr val="1E2761"/>
          </a:solidFill>
          <a:ln/>
        </p:spPr>
      </p:sp>
      <p:sp>
        <p:nvSpPr>
          <p:cNvPr id="21" name="Text 19"/>
          <p:cNvSpPr txBox="1"/>
          <p:nvPr/>
        </p:nvSpPr>
        <p:spPr>
          <a:xfrm>
            <a:off x="731520" y="524865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20"/>
          <p:cNvSpPr txBox="1"/>
          <p:nvPr/>
        </p:nvSpPr>
        <p:spPr>
          <a:xfrm>
            <a:off x="1353312" y="5212080"/>
            <a:ext cx="2926080" cy="457200"/>
          </a:xfrm>
          <a:prstGeom prst="rect">
            <a:avLst/>
          </a:prstGeom>
          <a:noFill/>
          <a:ln/>
        </p:spPr>
        <p:txBody>
          <a:bodyPr wrap="square" lIns="0" tIns="0" rIns="0" bIns="0" rtlCol="0" anchor="ctr"/>
          <a:lstStyle/>
          <a:p>
            <a:pPr indent="0" marL="0">
              <a:buNone/>
            </a:pPr>
            <a:r>
              <a:rPr lang="en-US" sz="1500" b="1" dirty="0">
                <a:solidFill>
                  <a:srgbClr val="1B1B1F"/>
                </a:solidFill>
                <a:latin typeface="Calibri" pitchFamily="34" charset="0"/>
                <a:ea typeface="Calibri" pitchFamily="34" charset="-122"/>
                <a:cs typeface="Calibri" pitchFamily="34" charset="-120"/>
              </a:rPr>
              <a:t>Close the claim out</a:t>
            </a:r>
            <a:endParaRPr lang="en-US" sz="1500" dirty="0"/>
          </a:p>
        </p:txBody>
      </p:sp>
      <p:sp>
        <p:nvSpPr>
          <p:cNvPr id="23" name="Text 21"/>
          <p:cNvSpPr txBox="1"/>
          <p:nvPr/>
        </p:nvSpPr>
        <p:spPr>
          <a:xfrm>
            <a:off x="4343400" y="5212080"/>
            <a:ext cx="6949440" cy="457200"/>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Say what happened. An unclosed claim holds a prospect nobody is working.</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731520" y="822960"/>
            <a:ext cx="10698480" cy="73152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When they ring you back</a:t>
            </a:r>
            <a:endParaRPr lang="en-US" sz="3400" dirty="0"/>
          </a:p>
        </p:txBody>
      </p:sp>
      <p:sp>
        <p:nvSpPr>
          <p:cNvPr id="3" name="Text 1"/>
          <p:cNvSpPr txBox="1"/>
          <p:nvPr/>
        </p:nvSpPr>
        <p:spPr>
          <a:xfrm>
            <a:off x="731520" y="1600200"/>
            <a:ext cx="10698480" cy="548640"/>
          </a:xfrm>
          <a:prstGeom prst="rect">
            <a:avLst/>
          </a:prstGeom>
          <a:noFill/>
          <a:ln/>
        </p:spPr>
        <p:txBody>
          <a:bodyPr wrap="square" rtlCol="0" anchor="ctr"/>
          <a:lstStyle/>
          <a:p>
            <a:pPr indent="0" marL="0">
              <a:buNone/>
            </a:pPr>
            <a:r>
              <a:rPr lang="en-US" sz="1600" dirty="0">
                <a:solidFill>
                  <a:srgbClr val="CADCFC"/>
                </a:solidFill>
                <a:latin typeface="Calibri" pitchFamily="34" charset="0"/>
                <a:ea typeface="Calibri" pitchFamily="34" charset="-122"/>
                <a:cs typeface="Calibri" pitchFamily="34" charset="-120"/>
              </a:rPr>
              <a:t>A contractor who calls the number you rang them from reaches YOU first — not a switchboard, not whoever is nearest.</a:t>
            </a:r>
            <a:endParaRPr lang="en-US" sz="1600" dirty="0"/>
          </a:p>
        </p:txBody>
      </p:sp>
      <p:sp>
        <p:nvSpPr>
          <p:cNvPr id="4" name="Shape 2"/>
          <p:cNvSpPr/>
          <p:nvPr/>
        </p:nvSpPr>
        <p:spPr>
          <a:xfrm>
            <a:off x="731520" y="2377440"/>
            <a:ext cx="10698480" cy="777240"/>
          </a:xfrm>
          <a:prstGeom prst="rect">
            <a:avLst/>
          </a:prstGeom>
          <a:solidFill>
            <a:srgbClr val="27346B"/>
          </a:solidFill>
          <a:ln/>
        </p:spPr>
      </p:sp>
      <p:sp>
        <p:nvSpPr>
          <p:cNvPr id="5" name="Text 3"/>
          <p:cNvSpPr txBox="1"/>
          <p:nvPr/>
        </p:nvSpPr>
        <p:spPr>
          <a:xfrm>
            <a:off x="914400" y="2377440"/>
            <a:ext cx="457200" cy="777240"/>
          </a:xfrm>
          <a:prstGeom prst="rect">
            <a:avLst/>
          </a:prstGeom>
          <a:noFill/>
          <a:ln/>
        </p:spPr>
        <p:txBody>
          <a:bodyPr wrap="square" lIns="0" tIns="0" rIns="0" bIns="0" rtlCol="0" anchor="ctr"/>
          <a:lstStyle/>
          <a:p>
            <a:pPr algn="ctr" indent="0" marL="0">
              <a:buNone/>
            </a:pPr>
            <a:r>
              <a:rPr lang="en-US" sz="2200" b="1" dirty="0">
                <a:solidFill>
                  <a:srgbClr val="C8A44D"/>
                </a:solidFill>
                <a:latin typeface="Cambria" pitchFamily="34" charset="0"/>
                <a:ea typeface="Cambria" pitchFamily="34" charset="-122"/>
                <a:cs typeface="Cambria" pitchFamily="34" charset="-120"/>
              </a:rPr>
              <a:t>1</a:t>
            </a:r>
            <a:endParaRPr lang="en-US" sz="2200" dirty="0"/>
          </a:p>
        </p:txBody>
      </p:sp>
      <p:sp>
        <p:nvSpPr>
          <p:cNvPr id="6" name="Text 4"/>
          <p:cNvSpPr txBox="1"/>
          <p:nvPr/>
        </p:nvSpPr>
        <p:spPr>
          <a:xfrm>
            <a:off x="1508760" y="2377440"/>
            <a:ext cx="2834640" cy="7772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You</a:t>
            </a:r>
            <a:endParaRPr lang="en-US" sz="1500" dirty="0"/>
          </a:p>
        </p:txBody>
      </p:sp>
      <p:sp>
        <p:nvSpPr>
          <p:cNvPr id="7" name="Text 5"/>
          <p:cNvSpPr txBox="1"/>
          <p:nvPr/>
        </p:nvSpPr>
        <p:spPr>
          <a:xfrm>
            <a:off x="4434840" y="2377440"/>
            <a:ext cx="6766560" cy="77724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If the number is assigned to you, it rings you — even mid-call. Your browser decides whether to show it.</a:t>
            </a:r>
            <a:endParaRPr lang="en-US" sz="1250" dirty="0"/>
          </a:p>
        </p:txBody>
      </p:sp>
      <p:sp>
        <p:nvSpPr>
          <p:cNvPr id="8" name="Shape 6"/>
          <p:cNvSpPr/>
          <p:nvPr/>
        </p:nvSpPr>
        <p:spPr>
          <a:xfrm>
            <a:off x="731520" y="3273552"/>
            <a:ext cx="10698480" cy="777240"/>
          </a:xfrm>
          <a:prstGeom prst="rect">
            <a:avLst/>
          </a:prstGeom>
          <a:solidFill>
            <a:srgbClr val="27346B"/>
          </a:solidFill>
          <a:ln/>
        </p:spPr>
      </p:sp>
      <p:sp>
        <p:nvSpPr>
          <p:cNvPr id="9" name="Text 7"/>
          <p:cNvSpPr txBox="1"/>
          <p:nvPr/>
        </p:nvSpPr>
        <p:spPr>
          <a:xfrm>
            <a:off x="914400" y="3273552"/>
            <a:ext cx="457200" cy="777240"/>
          </a:xfrm>
          <a:prstGeom prst="rect">
            <a:avLst/>
          </a:prstGeom>
          <a:noFill/>
          <a:ln/>
        </p:spPr>
        <p:txBody>
          <a:bodyPr wrap="square" lIns="0" tIns="0" rIns="0" bIns="0" rtlCol="0" anchor="ctr"/>
          <a:lstStyle/>
          <a:p>
            <a:pPr algn="ctr" indent="0" marL="0">
              <a:buNone/>
            </a:pPr>
            <a:r>
              <a:rPr lang="en-US" sz="2200" b="1" dirty="0">
                <a:solidFill>
                  <a:srgbClr val="C8A44D"/>
                </a:solidFill>
                <a:latin typeface="Cambria" pitchFamily="34" charset="0"/>
                <a:ea typeface="Cambria" pitchFamily="34" charset="-122"/>
                <a:cs typeface="Cambria" pitchFamily="34" charset="-120"/>
              </a:rPr>
              <a:t>2</a:t>
            </a:r>
            <a:endParaRPr lang="en-US" sz="2200" dirty="0"/>
          </a:p>
        </p:txBody>
      </p:sp>
      <p:sp>
        <p:nvSpPr>
          <p:cNvPr id="10" name="Text 8"/>
          <p:cNvSpPr txBox="1"/>
          <p:nvPr/>
        </p:nvSpPr>
        <p:spPr>
          <a:xfrm>
            <a:off x="1508760" y="3273552"/>
            <a:ext cx="2834640" cy="7772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Whoever spoke to them last</a:t>
            </a:r>
            <a:endParaRPr lang="en-US" sz="1500" dirty="0"/>
          </a:p>
        </p:txBody>
      </p:sp>
      <p:sp>
        <p:nvSpPr>
          <p:cNvPr id="11" name="Text 9"/>
          <p:cNvSpPr txBox="1"/>
          <p:nvPr/>
        </p:nvSpPr>
        <p:spPr>
          <a:xfrm>
            <a:off x="4434840" y="3273552"/>
            <a:ext cx="6766560" cy="77724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On a shared line the call log already knows who rang that contractor. They get it next.</a:t>
            </a:r>
            <a:endParaRPr lang="en-US" sz="1250" dirty="0"/>
          </a:p>
        </p:txBody>
      </p:sp>
      <p:sp>
        <p:nvSpPr>
          <p:cNvPr id="12" name="Shape 10"/>
          <p:cNvSpPr/>
          <p:nvPr/>
        </p:nvSpPr>
        <p:spPr>
          <a:xfrm>
            <a:off x="731520" y="4169664"/>
            <a:ext cx="10698480" cy="777240"/>
          </a:xfrm>
          <a:prstGeom prst="rect">
            <a:avLst/>
          </a:prstGeom>
          <a:solidFill>
            <a:srgbClr val="27346B"/>
          </a:solidFill>
          <a:ln/>
        </p:spPr>
      </p:sp>
      <p:sp>
        <p:nvSpPr>
          <p:cNvPr id="13" name="Text 11"/>
          <p:cNvSpPr txBox="1"/>
          <p:nvPr/>
        </p:nvSpPr>
        <p:spPr>
          <a:xfrm>
            <a:off x="914400" y="4169664"/>
            <a:ext cx="457200" cy="777240"/>
          </a:xfrm>
          <a:prstGeom prst="rect">
            <a:avLst/>
          </a:prstGeom>
          <a:noFill/>
          <a:ln/>
        </p:spPr>
        <p:txBody>
          <a:bodyPr wrap="square" lIns="0" tIns="0" rIns="0" bIns="0" rtlCol="0" anchor="ctr"/>
          <a:lstStyle/>
          <a:p>
            <a:pPr algn="ctr" indent="0" marL="0">
              <a:buNone/>
            </a:pPr>
            <a:r>
              <a:rPr lang="en-US" sz="2200" b="1" dirty="0">
                <a:solidFill>
                  <a:srgbClr val="C8A44D"/>
                </a:solidFill>
                <a:latin typeface="Cambria" pitchFamily="34" charset="0"/>
                <a:ea typeface="Cambria" pitchFamily="34" charset="-122"/>
                <a:cs typeface="Cambria" pitchFamily="34" charset="-120"/>
              </a:rPr>
              <a:t>3</a:t>
            </a:r>
            <a:endParaRPr lang="en-US" sz="2200" dirty="0"/>
          </a:p>
        </p:txBody>
      </p:sp>
      <p:sp>
        <p:nvSpPr>
          <p:cNvPr id="14" name="Text 12"/>
          <p:cNvSpPr txBox="1"/>
          <p:nvPr/>
        </p:nvSpPr>
        <p:spPr>
          <a:xfrm>
            <a:off x="1508760" y="4169664"/>
            <a:ext cx="2834640" cy="7772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Whoever is free</a:t>
            </a:r>
            <a:endParaRPr lang="en-US" sz="1500" dirty="0"/>
          </a:p>
        </p:txBody>
      </p:sp>
      <p:sp>
        <p:nvSpPr>
          <p:cNvPr id="15" name="Text 13"/>
          <p:cNvSpPr txBox="1"/>
          <p:nvPr/>
        </p:nvSpPr>
        <p:spPr>
          <a:xfrm>
            <a:off x="4434840" y="4169664"/>
            <a:ext cx="6766560" cy="77724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Longest idle first, so one rep does not take every call while another sits waiting.</a:t>
            </a:r>
            <a:endParaRPr lang="en-US" sz="1250" dirty="0"/>
          </a:p>
        </p:txBody>
      </p:sp>
      <p:sp>
        <p:nvSpPr>
          <p:cNvPr id="16" name="Shape 14"/>
          <p:cNvSpPr/>
          <p:nvPr/>
        </p:nvSpPr>
        <p:spPr>
          <a:xfrm>
            <a:off x="731520" y="5065776"/>
            <a:ext cx="10698480" cy="777240"/>
          </a:xfrm>
          <a:prstGeom prst="rect">
            <a:avLst/>
          </a:prstGeom>
          <a:solidFill>
            <a:srgbClr val="27346B"/>
          </a:solidFill>
          <a:ln/>
        </p:spPr>
      </p:sp>
      <p:sp>
        <p:nvSpPr>
          <p:cNvPr id="17" name="Text 15"/>
          <p:cNvSpPr txBox="1"/>
          <p:nvPr/>
        </p:nvSpPr>
        <p:spPr>
          <a:xfrm>
            <a:off x="914400" y="5065776"/>
            <a:ext cx="457200" cy="777240"/>
          </a:xfrm>
          <a:prstGeom prst="rect">
            <a:avLst/>
          </a:prstGeom>
          <a:noFill/>
          <a:ln/>
        </p:spPr>
        <p:txBody>
          <a:bodyPr wrap="square" lIns="0" tIns="0" rIns="0" bIns="0" rtlCol="0" anchor="ctr"/>
          <a:lstStyle/>
          <a:p>
            <a:pPr algn="ctr" indent="0" marL="0">
              <a:buNone/>
            </a:pPr>
            <a:r>
              <a:rPr lang="en-US" sz="2200" b="1" dirty="0">
                <a:solidFill>
                  <a:srgbClr val="C8A44D"/>
                </a:solidFill>
                <a:latin typeface="Cambria" pitchFamily="34" charset="0"/>
                <a:ea typeface="Cambria" pitchFamily="34" charset="-122"/>
                <a:cs typeface="Cambria" pitchFamily="34" charset="-120"/>
              </a:rPr>
              <a:t>4</a:t>
            </a:r>
            <a:endParaRPr lang="en-US" sz="2200" dirty="0"/>
          </a:p>
        </p:txBody>
      </p:sp>
      <p:sp>
        <p:nvSpPr>
          <p:cNvPr id="18" name="Text 16"/>
          <p:cNvSpPr txBox="1"/>
          <p:nvPr/>
        </p:nvSpPr>
        <p:spPr>
          <a:xfrm>
            <a:off x="1508760" y="5065776"/>
            <a:ext cx="2834640" cy="7772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Voicemail</a:t>
            </a:r>
            <a:endParaRPr lang="en-US" sz="1500" dirty="0"/>
          </a:p>
        </p:txBody>
      </p:sp>
      <p:sp>
        <p:nvSpPr>
          <p:cNvPr id="19" name="Text 17"/>
          <p:cNvSpPr txBox="1"/>
          <p:nvPr/>
        </p:nvSpPr>
        <p:spPr>
          <a:xfrm>
            <a:off x="4434840" y="5065776"/>
            <a:ext cx="6766560" cy="77724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If nobody picks up they hear who they were trying to reach and can leave a message. Never a silent hang-up.</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731520"/>
          </a:xfrm>
          <a:prstGeom prst="rect">
            <a:avLst/>
          </a:prstGeom>
          <a:noFill/>
          <a:ln/>
        </p:spPr>
        <p:txBody>
          <a:bodyPr wrap="square"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Handing a call to somebody else</a:t>
            </a:r>
            <a:endParaRPr lang="en-US" sz="3600" dirty="0"/>
          </a:p>
        </p:txBody>
      </p:sp>
      <p:sp>
        <p:nvSpPr>
          <p:cNvPr id="3" name="Text 1"/>
          <p:cNvSpPr txBox="1"/>
          <p:nvPr/>
        </p:nvSpPr>
        <p:spPr>
          <a:xfrm>
            <a:off x="731520" y="1207008"/>
            <a:ext cx="10698480" cy="411480"/>
          </a:xfrm>
          <a:prstGeom prst="rect">
            <a:avLst/>
          </a:prstGeom>
          <a:noFill/>
          <a:ln/>
        </p:spPr>
        <p:txBody>
          <a:bodyPr wrap="square" rtlCol="0" anchor="ctr"/>
          <a:lstStyle/>
          <a:p>
            <a:pPr indent="0" marL="0">
              <a:buNone/>
            </a:pPr>
            <a:r>
              <a:rPr lang="en-US" sz="1500" dirty="0">
                <a:solidFill>
                  <a:srgbClr val="5A6070"/>
                </a:solidFill>
                <a:latin typeface="Calibri" pitchFamily="34" charset="0"/>
                <a:ea typeface="Calibri" pitchFamily="34" charset="-122"/>
                <a:cs typeface="Calibri" pitchFamily="34" charset="-120"/>
              </a:rPr>
              <a:t>Two ways, and the caller is never dropped either way</a:t>
            </a:r>
            <a:endParaRPr lang="en-US" sz="1500" dirty="0"/>
          </a:p>
        </p:txBody>
      </p:sp>
      <p:sp>
        <p:nvSpPr>
          <p:cNvPr id="4" name="Shape 2"/>
          <p:cNvSpPr/>
          <p:nvPr/>
        </p:nvSpPr>
        <p:spPr>
          <a:xfrm>
            <a:off x="731520" y="2148840"/>
            <a:ext cx="3383280" cy="2834640"/>
          </a:xfrm>
          <a:prstGeom prst="rect">
            <a:avLst/>
          </a:prstGeom>
          <a:solidFill>
            <a:srgbClr val="F4F6FB"/>
          </a:solidFill>
          <a:ln/>
        </p:spPr>
      </p:sp>
      <p:sp>
        <p:nvSpPr>
          <p:cNvPr id="5" name="Text 3"/>
          <p:cNvSpPr txBox="1"/>
          <p:nvPr/>
        </p:nvSpPr>
        <p:spPr>
          <a:xfrm>
            <a:off x="1005840" y="2377440"/>
            <a:ext cx="2834640" cy="54864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Speak first</a:t>
            </a:r>
            <a:endParaRPr lang="en-US" sz="2200" dirty="0"/>
          </a:p>
        </p:txBody>
      </p:sp>
      <p:sp>
        <p:nvSpPr>
          <p:cNvPr id="6" name="Text 4"/>
          <p:cNvSpPr txBox="1"/>
          <p:nvPr/>
        </p:nvSpPr>
        <p:spPr>
          <a:xfrm>
            <a:off x="1005840" y="2926080"/>
            <a:ext cx="2834640" cy="320040"/>
          </a:xfrm>
          <a:prstGeom prst="rect">
            <a:avLst/>
          </a:prstGeom>
          <a:noFill/>
          <a:ln/>
        </p:spPr>
        <p:txBody>
          <a:bodyPr wrap="square" lIns="0" tIns="0" rIns="0" bIns="0" rtlCol="0" anchor="ctr"/>
          <a:lstStyle/>
          <a:p>
            <a:pPr indent="0" marL="0">
              <a:buNone/>
            </a:pPr>
            <a:r>
              <a:rPr lang="en-US" sz="1100" b="1" spc="100" kern="0" dirty="0">
                <a:solidFill>
                  <a:srgbClr val="C8A44D"/>
                </a:solidFill>
                <a:latin typeface="Calibri" pitchFamily="34" charset="0"/>
                <a:ea typeface="Calibri" pitchFamily="34" charset="-122"/>
                <a:cs typeface="Calibri" pitchFamily="34" charset="-120"/>
              </a:rPr>
              <a:t>Warm transfer</a:t>
            </a:r>
            <a:endParaRPr lang="en-US" sz="1100" dirty="0"/>
          </a:p>
        </p:txBody>
      </p:sp>
      <p:sp>
        <p:nvSpPr>
          <p:cNvPr id="7" name="Text 5"/>
          <p:cNvSpPr txBox="1"/>
          <p:nvPr/>
        </p:nvSpPr>
        <p:spPr>
          <a:xfrm>
            <a:off x="1005840" y="3291840"/>
            <a:ext cx="2834640" cy="1554480"/>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You talk to the other rep privately while the caller waits on hold. Then you put them through. Use it when context has to travel with the call.</a:t>
            </a:r>
            <a:endParaRPr lang="en-US" sz="1250" dirty="0"/>
          </a:p>
        </p:txBody>
      </p:sp>
      <p:sp>
        <p:nvSpPr>
          <p:cNvPr id="8" name="Shape 6"/>
          <p:cNvSpPr/>
          <p:nvPr/>
        </p:nvSpPr>
        <p:spPr>
          <a:xfrm>
            <a:off x="4389120" y="2148840"/>
            <a:ext cx="3383280" cy="2834640"/>
          </a:xfrm>
          <a:prstGeom prst="rect">
            <a:avLst/>
          </a:prstGeom>
          <a:solidFill>
            <a:srgbClr val="F4F6FB"/>
          </a:solidFill>
          <a:ln/>
        </p:spPr>
      </p:sp>
      <p:sp>
        <p:nvSpPr>
          <p:cNvPr id="9" name="Text 7"/>
          <p:cNvSpPr txBox="1"/>
          <p:nvPr/>
        </p:nvSpPr>
        <p:spPr>
          <a:xfrm>
            <a:off x="4663440" y="2377440"/>
            <a:ext cx="2834640" cy="54864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Straight through</a:t>
            </a:r>
            <a:endParaRPr lang="en-US" sz="2200" dirty="0"/>
          </a:p>
        </p:txBody>
      </p:sp>
      <p:sp>
        <p:nvSpPr>
          <p:cNvPr id="10" name="Text 8"/>
          <p:cNvSpPr txBox="1"/>
          <p:nvPr/>
        </p:nvSpPr>
        <p:spPr>
          <a:xfrm>
            <a:off x="4663440" y="2926080"/>
            <a:ext cx="2834640" cy="320040"/>
          </a:xfrm>
          <a:prstGeom prst="rect">
            <a:avLst/>
          </a:prstGeom>
          <a:noFill/>
          <a:ln/>
        </p:spPr>
        <p:txBody>
          <a:bodyPr wrap="square" lIns="0" tIns="0" rIns="0" bIns="0" rtlCol="0" anchor="ctr"/>
          <a:lstStyle/>
          <a:p>
            <a:pPr indent="0" marL="0">
              <a:buNone/>
            </a:pPr>
            <a:r>
              <a:rPr lang="en-US" sz="1100" b="1" spc="100" kern="0" dirty="0">
                <a:solidFill>
                  <a:srgbClr val="C8A44D"/>
                </a:solidFill>
                <a:latin typeface="Calibri" pitchFamily="34" charset="0"/>
                <a:ea typeface="Calibri" pitchFamily="34" charset="-122"/>
                <a:cs typeface="Calibri" pitchFamily="34" charset="-120"/>
              </a:rPr>
              <a:t>Cold transfer</a:t>
            </a:r>
            <a:endParaRPr lang="en-US" sz="1100" dirty="0"/>
          </a:p>
        </p:txBody>
      </p:sp>
      <p:sp>
        <p:nvSpPr>
          <p:cNvPr id="11" name="Text 9"/>
          <p:cNvSpPr txBox="1"/>
          <p:nvPr/>
        </p:nvSpPr>
        <p:spPr>
          <a:xfrm>
            <a:off x="4663440" y="3291840"/>
            <a:ext cx="2834640" cy="1554480"/>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The caller goes to the other rep immediately. Faster, and right when the reason is obvious — wrong trade, wrong province.</a:t>
            </a:r>
            <a:endParaRPr lang="en-US" sz="1250" dirty="0"/>
          </a:p>
        </p:txBody>
      </p:sp>
      <p:sp>
        <p:nvSpPr>
          <p:cNvPr id="12" name="Shape 10"/>
          <p:cNvSpPr/>
          <p:nvPr/>
        </p:nvSpPr>
        <p:spPr>
          <a:xfrm>
            <a:off x="8046720" y="2148840"/>
            <a:ext cx="3383280" cy="2834640"/>
          </a:xfrm>
          <a:prstGeom prst="rect">
            <a:avLst/>
          </a:prstGeom>
          <a:solidFill>
            <a:srgbClr val="F4F6FB"/>
          </a:solidFill>
          <a:ln/>
        </p:spPr>
      </p:sp>
      <p:sp>
        <p:nvSpPr>
          <p:cNvPr id="13" name="Text 11"/>
          <p:cNvSpPr txBox="1"/>
          <p:nvPr/>
        </p:nvSpPr>
        <p:spPr>
          <a:xfrm>
            <a:off x="8321040" y="2377440"/>
            <a:ext cx="2834640" cy="54864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Nobody answers</a:t>
            </a:r>
            <a:endParaRPr lang="en-US" sz="2200" dirty="0"/>
          </a:p>
        </p:txBody>
      </p:sp>
      <p:sp>
        <p:nvSpPr>
          <p:cNvPr id="14" name="Text 12"/>
          <p:cNvSpPr txBox="1"/>
          <p:nvPr/>
        </p:nvSpPr>
        <p:spPr>
          <a:xfrm>
            <a:off x="8321040" y="2926080"/>
            <a:ext cx="2834640" cy="320040"/>
          </a:xfrm>
          <a:prstGeom prst="rect">
            <a:avLst/>
          </a:prstGeom>
          <a:noFill/>
          <a:ln/>
        </p:spPr>
        <p:txBody>
          <a:bodyPr wrap="square" lIns="0" tIns="0" rIns="0" bIns="0" rtlCol="0" anchor="ctr"/>
          <a:lstStyle/>
          <a:p>
            <a:pPr indent="0" marL="0">
              <a:buNone/>
            </a:pPr>
            <a:r>
              <a:rPr lang="en-US" sz="1100" b="1" spc="100" kern="0" dirty="0">
                <a:solidFill>
                  <a:srgbClr val="C8A44D"/>
                </a:solidFill>
                <a:latin typeface="Calibri" pitchFamily="34" charset="0"/>
                <a:ea typeface="Calibri" pitchFamily="34" charset="-122"/>
                <a:cs typeface="Calibri" pitchFamily="34" charset="-120"/>
              </a:rPr>
              <a:t>You get them back</a:t>
            </a:r>
            <a:endParaRPr lang="en-US" sz="1100" dirty="0"/>
          </a:p>
        </p:txBody>
      </p:sp>
      <p:sp>
        <p:nvSpPr>
          <p:cNvPr id="15" name="Text 13"/>
          <p:cNvSpPr txBox="1"/>
          <p:nvPr/>
        </p:nvSpPr>
        <p:spPr>
          <a:xfrm>
            <a:off x="8321040" y="3291840"/>
            <a:ext cx="2834640" cy="1554480"/>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If the person you chose does not pick up, the caller comes back to YOU. They are never quietly dropped into a machine.</a:t>
            </a:r>
            <a:endParaRPr lang="en-US" sz="1250" dirty="0"/>
          </a:p>
        </p:txBody>
      </p:sp>
      <p:sp>
        <p:nvSpPr>
          <p:cNvPr id="16" name="Text 14"/>
          <p:cNvSpPr txBox="1"/>
          <p:nvPr/>
        </p:nvSpPr>
        <p:spPr>
          <a:xfrm>
            <a:off x="731520" y="5257800"/>
            <a:ext cx="10698480" cy="640080"/>
          </a:xfrm>
          <a:prstGeom prst="rect">
            <a:avLst/>
          </a:prstGeom>
          <a:noFill/>
          <a:ln/>
        </p:spPr>
        <p:txBody>
          <a:bodyPr wrap="square" rtlCol="0" anchor="ctr"/>
          <a:lstStyle/>
          <a:p>
            <a:pPr indent="0" marL="0">
              <a:buNone/>
            </a:pPr>
            <a:r>
              <a:rPr lang="en-US" sz="1600" i="1" dirty="0">
                <a:solidFill>
                  <a:srgbClr val="1B1B1F"/>
                </a:solidFill>
                <a:latin typeface="Cambria" pitchFamily="34" charset="0"/>
                <a:ea typeface="Cambria" pitchFamily="34" charset="-122"/>
                <a:cs typeface="Cambria" pitchFamily="34" charset="-120"/>
              </a:rPr>
              <a:t>If every rep is busy, the caller is held with a short message between rings — never silence — and goes to voicemail rather than waiting forever.</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731520"/>
          </a:xfrm>
          <a:prstGeom prst="rect">
            <a:avLst/>
          </a:prstGeom>
          <a:noFill/>
          <a:ln/>
        </p:spPr>
        <p:txBody>
          <a:bodyPr wrap="square"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Texts</a:t>
            </a:r>
            <a:endParaRPr lang="en-US" sz="3600" dirty="0"/>
          </a:p>
        </p:txBody>
      </p:sp>
      <p:sp>
        <p:nvSpPr>
          <p:cNvPr id="3" name="Text 1"/>
          <p:cNvSpPr txBox="1"/>
          <p:nvPr/>
        </p:nvSpPr>
        <p:spPr>
          <a:xfrm>
            <a:off x="731520" y="1207008"/>
            <a:ext cx="10698480" cy="411480"/>
          </a:xfrm>
          <a:prstGeom prst="rect">
            <a:avLst/>
          </a:prstGeom>
          <a:noFill/>
          <a:ln/>
        </p:spPr>
        <p:txBody>
          <a:bodyPr wrap="square" rtlCol="0" anchor="ctr"/>
          <a:lstStyle/>
          <a:p>
            <a:pPr indent="0" marL="0">
              <a:buNone/>
            </a:pPr>
            <a:r>
              <a:rPr lang="en-US" sz="1500" dirty="0">
                <a:solidFill>
                  <a:srgbClr val="5A6070"/>
                </a:solidFill>
                <a:latin typeface="Calibri" pitchFamily="34" charset="0"/>
                <a:ea typeface="Calibri" pitchFamily="34" charset="-122"/>
                <a:cs typeface="Calibri" pitchFamily="34" charset="-120"/>
              </a:rPr>
              <a:t>Your own number, in a thread that looks like your phone</a:t>
            </a:r>
            <a:endParaRPr lang="en-US" sz="1500" dirty="0"/>
          </a:p>
        </p:txBody>
      </p:sp>
      <p:sp>
        <p:nvSpPr>
          <p:cNvPr id="4" name="Shape 2"/>
          <p:cNvSpPr/>
          <p:nvPr/>
        </p:nvSpPr>
        <p:spPr>
          <a:xfrm>
            <a:off x="731520" y="2148840"/>
            <a:ext cx="10698480" cy="841248"/>
          </a:xfrm>
          <a:prstGeom prst="rect">
            <a:avLst/>
          </a:prstGeom>
          <a:solidFill>
            <a:srgbClr val="F4F6FB"/>
          </a:solidFill>
          <a:ln/>
        </p:spPr>
      </p:sp>
      <p:sp>
        <p:nvSpPr>
          <p:cNvPr id="5" name="Text 3"/>
          <p:cNvSpPr txBox="1"/>
          <p:nvPr/>
        </p:nvSpPr>
        <p:spPr>
          <a:xfrm>
            <a:off x="960120" y="2221992"/>
            <a:ext cx="3200400" cy="694944"/>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Your number is yours</a:t>
            </a:r>
            <a:endParaRPr lang="en-US" sz="1500" dirty="0"/>
          </a:p>
        </p:txBody>
      </p:sp>
      <p:sp>
        <p:nvSpPr>
          <p:cNvPr id="6" name="Text 4"/>
          <p:cNvSpPr txBox="1"/>
          <p:nvPr/>
        </p:nvSpPr>
        <p:spPr>
          <a:xfrm>
            <a:off x="4297680" y="2221992"/>
            <a:ext cx="6858000" cy="694944"/>
          </a:xfrm>
          <a:prstGeom prst="rect">
            <a:avLst/>
          </a:prstGeom>
          <a:noFill/>
          <a:ln/>
        </p:spPr>
        <p:txBody>
          <a:bodyPr wrap="square" lIns="0" tIns="0" rIns="0" bIns="0" rtlCol="0" anchor="ctr"/>
          <a:lstStyle/>
          <a:p>
            <a:pPr indent="0" marL="0">
              <a:buNone/>
            </a:pPr>
            <a:r>
              <a:rPr lang="en-US" sz="1300" dirty="0">
                <a:solidFill>
                  <a:srgbClr val="5A6070"/>
                </a:solidFill>
                <a:latin typeface="Calibri" pitchFamily="34" charset="0"/>
                <a:ea typeface="Calibri" pitchFamily="34" charset="-122"/>
                <a:cs typeface="Calibri" pitchFamily="34" charset="-120"/>
              </a:rPr>
              <a:t>The number assigned to you sends and receives. A contractor texting it back reaches you.</a:t>
            </a:r>
            <a:endParaRPr lang="en-US" sz="1300" dirty="0"/>
          </a:p>
        </p:txBody>
      </p:sp>
      <p:sp>
        <p:nvSpPr>
          <p:cNvPr id="7" name="Shape 5"/>
          <p:cNvSpPr/>
          <p:nvPr/>
        </p:nvSpPr>
        <p:spPr>
          <a:xfrm>
            <a:off x="731520" y="3108960"/>
            <a:ext cx="10698480" cy="841248"/>
          </a:xfrm>
          <a:prstGeom prst="rect">
            <a:avLst/>
          </a:prstGeom>
          <a:solidFill>
            <a:srgbClr val="F4F6FB"/>
          </a:solidFill>
          <a:ln/>
        </p:spPr>
      </p:sp>
      <p:sp>
        <p:nvSpPr>
          <p:cNvPr id="8" name="Text 6"/>
          <p:cNvSpPr txBox="1"/>
          <p:nvPr/>
        </p:nvSpPr>
        <p:spPr>
          <a:xfrm>
            <a:off x="960120" y="3182112"/>
            <a:ext cx="3200400" cy="694944"/>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Threads, not an inbox</a:t>
            </a:r>
            <a:endParaRPr lang="en-US" sz="1500" dirty="0"/>
          </a:p>
        </p:txBody>
      </p:sp>
      <p:sp>
        <p:nvSpPr>
          <p:cNvPr id="9" name="Text 7"/>
          <p:cNvSpPr txBox="1"/>
          <p:nvPr/>
        </p:nvSpPr>
        <p:spPr>
          <a:xfrm>
            <a:off x="4297680" y="3182112"/>
            <a:ext cx="6858000" cy="694944"/>
          </a:xfrm>
          <a:prstGeom prst="rect">
            <a:avLst/>
          </a:prstGeom>
          <a:noFill/>
          <a:ln/>
        </p:spPr>
        <p:txBody>
          <a:bodyPr wrap="square" lIns="0" tIns="0" rIns="0" bIns="0" rtlCol="0" anchor="ctr"/>
          <a:lstStyle/>
          <a:p>
            <a:pPr indent="0" marL="0">
              <a:buNone/>
            </a:pPr>
            <a:r>
              <a:rPr lang="en-US" sz="1300" dirty="0">
                <a:solidFill>
                  <a:srgbClr val="5A6070"/>
                </a:solidFill>
                <a:latin typeface="Calibri" pitchFamily="34" charset="0"/>
                <a:ea typeface="Calibri" pitchFamily="34" charset="-122"/>
                <a:cs typeface="Calibri" pitchFamily="34" charset="-120"/>
              </a:rPr>
              <a:t>One conversation per contractor, with the whole history — the same shape as the messaging you already use.</a:t>
            </a:r>
            <a:endParaRPr lang="en-US" sz="1300" dirty="0"/>
          </a:p>
        </p:txBody>
      </p:sp>
      <p:sp>
        <p:nvSpPr>
          <p:cNvPr id="10" name="Shape 8"/>
          <p:cNvSpPr/>
          <p:nvPr/>
        </p:nvSpPr>
        <p:spPr>
          <a:xfrm>
            <a:off x="731520" y="4069080"/>
            <a:ext cx="10698480" cy="841248"/>
          </a:xfrm>
          <a:prstGeom prst="rect">
            <a:avLst/>
          </a:prstGeom>
          <a:solidFill>
            <a:srgbClr val="F4F6FB"/>
          </a:solidFill>
          <a:ln/>
        </p:spPr>
      </p:sp>
      <p:sp>
        <p:nvSpPr>
          <p:cNvPr id="11" name="Text 9"/>
          <p:cNvSpPr txBox="1"/>
          <p:nvPr/>
        </p:nvSpPr>
        <p:spPr>
          <a:xfrm>
            <a:off x="960120" y="4142232"/>
            <a:ext cx="3200400" cy="694944"/>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STOP is honoured instantly</a:t>
            </a:r>
            <a:endParaRPr lang="en-US" sz="1500" dirty="0"/>
          </a:p>
        </p:txBody>
      </p:sp>
      <p:sp>
        <p:nvSpPr>
          <p:cNvPr id="12" name="Text 10"/>
          <p:cNvSpPr txBox="1"/>
          <p:nvPr/>
        </p:nvSpPr>
        <p:spPr>
          <a:xfrm>
            <a:off x="4297680" y="4142232"/>
            <a:ext cx="6858000" cy="694944"/>
          </a:xfrm>
          <a:prstGeom prst="rect">
            <a:avLst/>
          </a:prstGeom>
          <a:noFill/>
          <a:ln/>
        </p:spPr>
        <p:txBody>
          <a:bodyPr wrap="square" lIns="0" tIns="0" rIns="0" bIns="0" rtlCol="0" anchor="ctr"/>
          <a:lstStyle/>
          <a:p>
            <a:pPr indent="0" marL="0">
              <a:buNone/>
            </a:pPr>
            <a:r>
              <a:rPr lang="en-US" sz="1300" dirty="0">
                <a:solidFill>
                  <a:srgbClr val="5A6070"/>
                </a:solidFill>
                <a:latin typeface="Calibri" pitchFamily="34" charset="0"/>
                <a:ea typeface="Calibri" pitchFamily="34" charset="-122"/>
                <a:cs typeface="Calibri" pitchFamily="34" charset="-120"/>
              </a:rPr>
              <a:t>An opt-out is recorded the moment it arrives and covers every channel. Nothing has to be remembered by you.</a:t>
            </a:r>
            <a:endParaRPr lang="en-US" sz="1300" dirty="0"/>
          </a:p>
        </p:txBody>
      </p:sp>
      <p:sp>
        <p:nvSpPr>
          <p:cNvPr id="13" name="Shape 11"/>
          <p:cNvSpPr/>
          <p:nvPr/>
        </p:nvSpPr>
        <p:spPr>
          <a:xfrm>
            <a:off x="731520" y="5029200"/>
            <a:ext cx="10698480" cy="841248"/>
          </a:xfrm>
          <a:prstGeom prst="rect">
            <a:avLst/>
          </a:prstGeom>
          <a:solidFill>
            <a:srgbClr val="F4F6FB"/>
          </a:solidFill>
          <a:ln/>
        </p:spPr>
      </p:sp>
      <p:sp>
        <p:nvSpPr>
          <p:cNvPr id="14" name="Text 12"/>
          <p:cNvSpPr txBox="1"/>
          <p:nvPr/>
        </p:nvSpPr>
        <p:spPr>
          <a:xfrm>
            <a:off x="960120" y="5102352"/>
            <a:ext cx="3200400" cy="694944"/>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Everything is on the record</a:t>
            </a:r>
            <a:endParaRPr lang="en-US" sz="1500" dirty="0"/>
          </a:p>
        </p:txBody>
      </p:sp>
      <p:sp>
        <p:nvSpPr>
          <p:cNvPr id="15" name="Text 13"/>
          <p:cNvSpPr txBox="1"/>
          <p:nvPr/>
        </p:nvSpPr>
        <p:spPr>
          <a:xfrm>
            <a:off x="4297680" y="5102352"/>
            <a:ext cx="6858000" cy="694944"/>
          </a:xfrm>
          <a:prstGeom prst="rect">
            <a:avLst/>
          </a:prstGeom>
          <a:noFill/>
          <a:ln/>
        </p:spPr>
        <p:txBody>
          <a:bodyPr wrap="square" lIns="0" tIns="0" rIns="0" bIns="0" rtlCol="0" anchor="ctr"/>
          <a:lstStyle/>
          <a:p>
            <a:pPr indent="0" marL="0">
              <a:buNone/>
            </a:pPr>
            <a:r>
              <a:rPr lang="en-US" sz="1300" dirty="0">
                <a:solidFill>
                  <a:srgbClr val="5A6070"/>
                </a:solidFill>
                <a:latin typeface="Calibri" pitchFamily="34" charset="0"/>
                <a:ea typeface="Calibri" pitchFamily="34" charset="-122"/>
                <a:cs typeface="Calibri" pitchFamily="34" charset="-120"/>
              </a:rPr>
              <a:t>Texts sit against the business, so the next person to speak to them can read what was said.</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731520"/>
          </a:xfrm>
          <a:prstGeom prst="rect">
            <a:avLst/>
          </a:prstGeom>
          <a:noFill/>
          <a:ln/>
        </p:spPr>
        <p:txBody>
          <a:bodyPr wrap="square"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Your pay details</a:t>
            </a:r>
            <a:endParaRPr lang="en-US" sz="3600" dirty="0"/>
          </a:p>
        </p:txBody>
      </p:sp>
      <p:sp>
        <p:nvSpPr>
          <p:cNvPr id="3" name="Text 1"/>
          <p:cNvSpPr txBox="1"/>
          <p:nvPr/>
        </p:nvSpPr>
        <p:spPr>
          <a:xfrm>
            <a:off x="731520" y="1207008"/>
            <a:ext cx="10698480" cy="411480"/>
          </a:xfrm>
          <a:prstGeom prst="rect">
            <a:avLst/>
          </a:prstGeom>
          <a:noFill/>
          <a:ln/>
        </p:spPr>
        <p:txBody>
          <a:bodyPr wrap="square" rtlCol="0" anchor="ctr"/>
          <a:lstStyle/>
          <a:p>
            <a:pPr indent="0" marL="0">
              <a:buNone/>
            </a:pPr>
            <a:r>
              <a:rPr lang="en-US" sz="1500" dirty="0">
                <a:solidFill>
                  <a:srgbClr val="5A6070"/>
                </a:solidFill>
                <a:latin typeface="Calibri" pitchFamily="34" charset="0"/>
                <a:ea typeface="Calibri" pitchFamily="34" charset="-122"/>
                <a:cs typeface="Calibri" pitchFamily="34" charset="-120"/>
              </a:rPr>
              <a:t>The Pay tab — set it on your first day</a:t>
            </a:r>
            <a:endParaRPr lang="en-US" sz="1500" dirty="0"/>
          </a:p>
        </p:txBody>
      </p:sp>
      <p:sp>
        <p:nvSpPr>
          <p:cNvPr id="4" name="Shape 2"/>
          <p:cNvSpPr/>
          <p:nvPr/>
        </p:nvSpPr>
        <p:spPr>
          <a:xfrm>
            <a:off x="731520" y="2148840"/>
            <a:ext cx="10698480" cy="868680"/>
          </a:xfrm>
          <a:prstGeom prst="rect">
            <a:avLst/>
          </a:prstGeom>
          <a:solidFill>
            <a:srgbClr val="F4F6FB"/>
          </a:solidFill>
          <a:ln/>
        </p:spPr>
      </p:sp>
      <p:sp>
        <p:nvSpPr>
          <p:cNvPr id="5" name="Text 3"/>
          <p:cNvSpPr txBox="1"/>
          <p:nvPr/>
        </p:nvSpPr>
        <p:spPr>
          <a:xfrm>
            <a:off x="960120" y="2221992"/>
            <a:ext cx="3200400" cy="722376"/>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How you want the money</a:t>
            </a:r>
            <a:endParaRPr lang="en-US" sz="1500" dirty="0"/>
          </a:p>
        </p:txBody>
      </p:sp>
      <p:sp>
        <p:nvSpPr>
          <p:cNvPr id="6" name="Text 4"/>
          <p:cNvSpPr txBox="1"/>
          <p:nvPr/>
        </p:nvSpPr>
        <p:spPr>
          <a:xfrm>
            <a:off x="4297680" y="2221992"/>
            <a:ext cx="6858000" cy="722376"/>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Upwork, PayPal, Interac e-Transfer or a bank transfer. Each one says its own trade-off before you choose, not after the money arrives short.</a:t>
            </a:r>
            <a:endParaRPr lang="en-US" sz="1250" dirty="0"/>
          </a:p>
        </p:txBody>
      </p:sp>
      <p:sp>
        <p:nvSpPr>
          <p:cNvPr id="7" name="Shape 5"/>
          <p:cNvSpPr/>
          <p:nvPr/>
        </p:nvSpPr>
        <p:spPr>
          <a:xfrm>
            <a:off x="731520" y="3136392"/>
            <a:ext cx="10698480" cy="868680"/>
          </a:xfrm>
          <a:prstGeom prst="rect">
            <a:avLst/>
          </a:prstGeom>
          <a:solidFill>
            <a:srgbClr val="F4F6FB"/>
          </a:solidFill>
          <a:ln/>
        </p:spPr>
      </p:sp>
      <p:sp>
        <p:nvSpPr>
          <p:cNvPr id="8" name="Text 6"/>
          <p:cNvSpPr txBox="1"/>
          <p:nvPr/>
        </p:nvSpPr>
        <p:spPr>
          <a:xfrm>
            <a:off x="960120" y="3209544"/>
            <a:ext cx="3200400" cy="722376"/>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Where it goes</a:t>
            </a:r>
            <a:endParaRPr lang="en-US" sz="1500" dirty="0"/>
          </a:p>
        </p:txBody>
      </p:sp>
      <p:sp>
        <p:nvSpPr>
          <p:cNvPr id="9" name="Text 7"/>
          <p:cNvSpPr txBox="1"/>
          <p:nvPr/>
        </p:nvSpPr>
        <p:spPr>
          <a:xfrm>
            <a:off x="4297680" y="3209544"/>
            <a:ext cx="6858000" cy="722376"/>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Your handle or account. A method with no destination is refused rather than saved — half-set reads as done on every other screen.</a:t>
            </a:r>
            <a:endParaRPr lang="en-US" sz="1250" dirty="0"/>
          </a:p>
        </p:txBody>
      </p:sp>
      <p:sp>
        <p:nvSpPr>
          <p:cNvPr id="10" name="Shape 8"/>
          <p:cNvSpPr/>
          <p:nvPr/>
        </p:nvSpPr>
        <p:spPr>
          <a:xfrm>
            <a:off x="731520" y="4123944"/>
            <a:ext cx="10698480" cy="868680"/>
          </a:xfrm>
          <a:prstGeom prst="rect">
            <a:avLst/>
          </a:prstGeom>
          <a:solidFill>
            <a:srgbClr val="F4F6FB"/>
          </a:solidFill>
          <a:ln/>
        </p:spPr>
      </p:sp>
      <p:sp>
        <p:nvSpPr>
          <p:cNvPr id="11" name="Text 9"/>
          <p:cNvSpPr txBox="1"/>
          <p:nvPr/>
        </p:nvSpPr>
        <p:spPr>
          <a:xfrm>
            <a:off x="960120" y="4197096"/>
            <a:ext cx="3200400" cy="722376"/>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When you last confirmed it</a:t>
            </a:r>
            <a:endParaRPr lang="en-US" sz="1500" dirty="0"/>
          </a:p>
        </p:txBody>
      </p:sp>
      <p:sp>
        <p:nvSpPr>
          <p:cNvPr id="12" name="Text 10"/>
          <p:cNvSpPr txBox="1"/>
          <p:nvPr/>
        </p:nvSpPr>
        <p:spPr>
          <a:xfrm>
            <a:off x="4297680" y="4197096"/>
            <a:ext cx="6858000" cy="722376"/>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The date is shown, not a tick. An account confirmed two years ago is not the same claim as one confirmed last week.</a:t>
            </a:r>
            <a:endParaRPr lang="en-US" sz="1250" dirty="0"/>
          </a:p>
        </p:txBody>
      </p:sp>
      <p:sp>
        <p:nvSpPr>
          <p:cNvPr id="13" name="Shape 11"/>
          <p:cNvSpPr/>
          <p:nvPr/>
        </p:nvSpPr>
        <p:spPr>
          <a:xfrm>
            <a:off x="731520" y="5111496"/>
            <a:ext cx="10698480" cy="868680"/>
          </a:xfrm>
          <a:prstGeom prst="rect">
            <a:avLst/>
          </a:prstGeom>
          <a:solidFill>
            <a:srgbClr val="F4F6FB"/>
          </a:solidFill>
          <a:ln/>
        </p:spPr>
      </p:sp>
      <p:sp>
        <p:nvSpPr>
          <p:cNvPr id="14" name="Text 12"/>
          <p:cNvSpPr txBox="1"/>
          <p:nvPr/>
        </p:nvSpPr>
        <p:spPr>
          <a:xfrm>
            <a:off x="960120" y="5184648"/>
            <a:ext cx="3200400" cy="722376"/>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Freelancer or employee</a:t>
            </a:r>
            <a:endParaRPr lang="en-US" sz="1500" dirty="0"/>
          </a:p>
        </p:txBody>
      </p:sp>
      <p:sp>
        <p:nvSpPr>
          <p:cNvPr id="15" name="Text 13"/>
          <p:cNvSpPr txBox="1"/>
          <p:nvPr/>
        </p:nvSpPr>
        <p:spPr>
          <a:xfrm>
            <a:off x="4297680" y="5184648"/>
            <a:ext cx="6858000" cy="722376"/>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Shown, not chosen. It decides paid leave and what is withheld, so FieldQuo sets it. If it looks wrong, say so and it is corrected.</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you work — sales rep SOP</dc:title>
  <dc:subject>PptxGenJS Presentation</dc:subject>
  <dc:creator>FieldQuo</dc:creator>
  <cp:lastModifiedBy>FieldQuo</cp:lastModifiedBy>
  <cp:revision>1</cp:revision>
  <dcterms:created xsi:type="dcterms:W3CDTF">2026-09-10T02:44:50Z</dcterms:created>
  <dcterms:modified xsi:type="dcterms:W3CDTF">2026-09-10T02:44:50Z</dcterms:modified>
</cp:coreProperties>
</file>