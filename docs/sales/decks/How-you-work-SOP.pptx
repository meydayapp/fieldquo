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The written SOP is the reference; this is the orientation.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rule 1 — it is the one that lands, because it protects THEM. Do not read these out like a policy; the point of the slide is that nobody has to remember any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straight off app/sales/SalesShell.js. Say out loud that older material calls this "the five screens you have" — it is out of date, and Voicemail, Support, Pay and Texts are the new ones.
On a phone the tabs wrap into rows of three rather than scrolling sideways. Tell them the portal is built to work in a phone browser, because they will be on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48-hour lapse is the answer to 'how locked are leads' — nothing sits reserved by someone not working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keeps a rep out of trouble on a call. Fact, inference, recommendation — never blended.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Absence of a statement is not a statement. This is the single most common way a rep says something untrue without meaning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that matters: this is not a rule anybody has to remember, it is a rule you cannot break by accident. A rep who finds a way around it is creating a legal problem for FieldQuo, not showing initiative.
If somebody in the room has the old deck or the old SOP, say the correction out loud — it used to teach a flat 09:00-21:30 and it used to say the window was not enforced. Both were true once and neither is now.
Still on the rep, and worth saying: identify yourself and give a callback number on every call, and a human dials, one call at a time. The US TCPA has no business exemption for autodialled calls to mobiles and small contractors answer on mobiles.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live rather than describing it — open the queue, claim one, walk the six steps, then hand the headset over.
The number they see comes from the pool and is matched on area code, because a local number gets answered. It is always a number FieldQuo actually owns; nothing here invents a plausible local one, which is spoofing. Two calls to the same business come from the same number so they do not see two strangers.
Stress the note box. The single biggest difference between reps is whether the next person can pick up the thread six weeks later.
The playbook — nine stages and eight written objection answers — sits on the same screen. Note it only exists for a prospect from the queue; a lead typed in by hand has no discovery behind it and the screen says so rather than showing a blank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your own number matters. Tell reps to give out the number the product dialled from, never a personal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is offered only when the other rep is genuinely reachable — a stale browser is not offered as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recorder fires after a few seconds of silence, so a zero-length recording is somebody who rang, heard the beep and hung up. Hiding it as "empty" would throw away the warmest signal on the screen, and most reps ignore it.
Before this screen existed the only place a sales voicemail could be played was the superadmin board — so the person the message was FOR could not hear it. Worth telling the room as an example of the standard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labels here are the ones on the screen today. "Stop working this one" used to say "They asked not to be contacted", which promised something it does not do — worth mentioning, because it is the reason the next slide exists.
The ten call dispositions live beside the dial rather than here: no answer, busy, voicemail left, someone answered but not the owner, ring back, spoke-interested, spoke-not-interested, asked not to be called, wrong number, not a business we can sell to. "Wrong number" releases the claim AND flags the record, so the pool cannot hand the same dead number to the next rep.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easiest thing on the whole product to get wrong, and the screen now says so above both controls — until 2026-09-03 the queue button was labelled "They asked not to be contacted" and promised something it did not do.
How to teach it: the queue button is housekeeping — sold the business, wrong trade, gone bust. The disposition is what you press when a human said the words. If in doubt, press the disposition; over-suppression is the failure this list is allowed to have.
And tell them plainly that nine opt-outs a week is a rep working the phone properly. A rep who gets nervous about them starts fudging them, and a fudged one is the expensive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corrections worth saying out loud, because both used to be taught the other way.
One: the old material said you get exactly one fixed message and nothing comes back. Free-text replies are real now — /sales/messages, and the server adds the identification line so nobody can delete it out of the box.
Two: calls and texts do NOT share a number. Calls present a sales number matched to the contractor's area code; texts all go out on one shared sales-purpose number. The reason it is shared is cost, not compliance — every sending number has to be registered for A2P/10DLC before it may text a US contractor, so numbers are not free to add. An older comment claimed sharing was needed so a STOP could not fragment; that was false and has been corrected in the code. The opt-out is recorded against THEIR number and is already global.
Keep replies short. Two segments is the ceiling and one emoji re-encodes the whole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touchpoints are the owner's own words: "1 day after they sign up to see if they have any questions and make sure they completed the onboarding process. and 7 days after they sign up ... to see if everything is okay." They do different jobs, which is why they are two entries rather than a repeat.
The framing: sixty days is a long time to remember thirty companies by hand. This screen is not management watching, it is the thing that stops good customers quietly falling off the end of a rep's memory.
"Nothing looks wrong — say hello" is a legitimate reason on that list, not filler. Do not let a rep treat it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is paid until this is set. Do it in the first ten minutes of day one — and it is also the first thing the welcome screen asks for after an invite is accepted, alongside the language.
On the language row, do not oversell it. Four of the twelve tabs are translated and eight are not, deliberately: a translated tab opening an English page is the worse inconsistency. Each becomes a key the day its screen is translated.
One more thing to say out loud before they leave the room: there is no forgotten-password flow, and re-inviting somebody who has already set one is refused. Tell them to write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rough edges in the first meeting buys more trust than pretending the product is finished.
The good news to pair it with: the one that used to be on this slide — nothing turning a claimed prospect into a lead — is fixed. "Work this one as a lead" carries the name, the number and where they are across and links the two records, and pressing it twice hands back the lead that already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here and hand out the written SOP. Do not try to cover claiming, closing out and lead work in the same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2103120"/>
            <a:ext cx="8686800" cy="100584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How you work</a:t>
            </a:r>
            <a:endParaRPr lang="en-US" sz="5400" dirty="0"/>
          </a:p>
        </p:txBody>
      </p:sp>
      <p:sp>
        <p:nvSpPr>
          <p:cNvPr id="3" name="Text 1"/>
          <p:cNvSpPr txBox="1"/>
          <p:nvPr/>
        </p:nvSpPr>
        <p:spPr>
          <a:xfrm>
            <a:off x="731520" y="3200400"/>
            <a:ext cx="8686800" cy="54864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The rep's standard operating procedure, in one sitting</a:t>
            </a:r>
            <a:endParaRPr lang="en-US" sz="2000" dirty="0"/>
          </a:p>
        </p:txBody>
      </p:sp>
      <p:sp>
        <p:nvSpPr>
          <p:cNvPr id="4" name="Text 2"/>
          <p:cNvSpPr txBox="1"/>
          <p:nvPr/>
        </p:nvSpPr>
        <p:spPr>
          <a:xfrm>
            <a:off x="731520" y="4114800"/>
            <a:ext cx="8686800" cy="457200"/>
          </a:xfrm>
          <a:prstGeom prst="rect">
            <a:avLst/>
          </a:prstGeom>
          <a:noFill/>
          <a:ln/>
        </p:spPr>
        <p:txBody>
          <a:bodyPr wrap="square"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Keep the full SOP open on your second screen. This is the shape of 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Five things you can't get wrong</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Not because we're watching — because the software won't let you. You don't have to memorise any of it.</a:t>
            </a:r>
            <a:endParaRPr lang="en-US" sz="1500" dirty="0"/>
          </a:p>
        </p:txBody>
      </p:sp>
      <p:sp>
        <p:nvSpPr>
          <p:cNvPr id="4" name="Shape 2"/>
          <p:cNvSpPr/>
          <p:nvPr/>
        </p:nvSpPr>
        <p:spPr>
          <a:xfrm>
            <a:off x="731520" y="1801368"/>
            <a:ext cx="365760" cy="365760"/>
          </a:xfrm>
          <a:prstGeom prst="ellipse">
            <a:avLst/>
          </a:prstGeom>
          <a:solidFill>
            <a:srgbClr val="8C2F39"/>
          </a:solidFill>
          <a:ln/>
        </p:spPr>
      </p:sp>
      <p:sp>
        <p:nvSpPr>
          <p:cNvPr id="5" name="Text 3"/>
          <p:cNvSpPr txBox="1"/>
          <p:nvPr/>
        </p:nvSpPr>
        <p:spPr>
          <a:xfrm>
            <a:off x="731520" y="180136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98448" y="1783080"/>
            <a:ext cx="10149840" cy="310896"/>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Nobody can touch your commission — including us</a:t>
            </a:r>
            <a:endParaRPr lang="en-US" sz="1700" dirty="0"/>
          </a:p>
        </p:txBody>
      </p:sp>
      <p:sp>
        <p:nvSpPr>
          <p:cNvPr id="7" name="Text 5"/>
          <p:cNvSpPr txBox="1"/>
          <p:nvPr/>
        </p:nvSpPr>
        <p:spPr>
          <a:xfrm>
            <a:off x="1298448" y="2093976"/>
            <a:ext cx="10149840" cy="4572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Your attribution and payouts refuse every write from a rep account. That cuts both ways: you can't adjust your own record, and neither can anybody else quietly adjust it for you.</a:t>
            </a:r>
            <a:endParaRPr lang="en-US" sz="1300" dirty="0"/>
          </a:p>
        </p:txBody>
      </p:sp>
      <p:sp>
        <p:nvSpPr>
          <p:cNvPr id="8" name="Shape 6"/>
          <p:cNvSpPr/>
          <p:nvPr/>
        </p:nvSpPr>
        <p:spPr>
          <a:xfrm>
            <a:off x="731520" y="2660904"/>
            <a:ext cx="365760" cy="365760"/>
          </a:xfrm>
          <a:prstGeom prst="ellipse">
            <a:avLst/>
          </a:prstGeom>
          <a:solidFill>
            <a:srgbClr val="1E2761"/>
          </a:solidFill>
          <a:ln/>
        </p:spPr>
      </p:sp>
      <p:sp>
        <p:nvSpPr>
          <p:cNvPr id="9" name="Text 7"/>
          <p:cNvSpPr txBox="1"/>
          <p:nvPr/>
        </p:nvSpPr>
        <p:spPr>
          <a:xfrm>
            <a:off x="731520" y="26609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298448" y="2642616"/>
            <a:ext cx="10149840" cy="310896"/>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If somebody says stop, we stop</a:t>
            </a:r>
            <a:endParaRPr lang="en-US" sz="1700" dirty="0"/>
          </a:p>
        </p:txBody>
      </p:sp>
      <p:sp>
        <p:nvSpPr>
          <p:cNvPr id="11" name="Text 9"/>
          <p:cNvSpPr txBox="1"/>
          <p:nvPr/>
        </p:nvSpPr>
        <p:spPr>
          <a:xfrm>
            <a:off x="1298448" y="2953512"/>
            <a:ext cx="10149840" cy="4572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A STOP text is recorded the second it lands and covers calls, texts and email — the dial button simply isn't there next time. You don't have to remember who said it. Undoing one takes a superadmin and a written reason, so it never happens by accident.</a:t>
            </a:r>
            <a:endParaRPr lang="en-US" sz="1300" dirty="0"/>
          </a:p>
        </p:txBody>
      </p:sp>
      <p:sp>
        <p:nvSpPr>
          <p:cNvPr id="12" name="Shape 10"/>
          <p:cNvSpPr/>
          <p:nvPr/>
        </p:nvSpPr>
        <p:spPr>
          <a:xfrm>
            <a:off x="731520" y="3520440"/>
            <a:ext cx="365760" cy="365760"/>
          </a:xfrm>
          <a:prstGeom prst="ellipse">
            <a:avLst/>
          </a:prstGeom>
          <a:solidFill>
            <a:srgbClr val="1E2761"/>
          </a:solidFill>
          <a:ln/>
        </p:spPr>
      </p:sp>
      <p:sp>
        <p:nvSpPr>
          <p:cNvPr id="13" name="Text 11"/>
          <p:cNvSpPr txBox="1"/>
          <p:nvPr/>
        </p:nvSpPr>
        <p:spPr>
          <a:xfrm>
            <a:off x="731520" y="3520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298448" y="3502152"/>
            <a:ext cx="10149840" cy="310896"/>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You can't accidentally sign up your own company</a:t>
            </a:r>
            <a:endParaRPr lang="en-US" sz="1700" dirty="0"/>
          </a:p>
        </p:txBody>
      </p:sp>
      <p:sp>
        <p:nvSpPr>
          <p:cNvPr id="15" name="Text 13"/>
          <p:cNvSpPr txBox="1"/>
          <p:nvPr/>
        </p:nvSpPr>
        <p:spPr>
          <a:xfrm>
            <a:off x="1298448" y="3813048"/>
            <a:ext cx="10149840" cy="4572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If your email matches the company, or you're already a member of it, the system says no before it checks anything else. It saves an awkward conversation three months later.</a:t>
            </a:r>
            <a:endParaRPr lang="en-US" sz="1300" dirty="0"/>
          </a:p>
        </p:txBody>
      </p:sp>
      <p:sp>
        <p:nvSpPr>
          <p:cNvPr id="16" name="Shape 14"/>
          <p:cNvSpPr/>
          <p:nvPr/>
        </p:nvSpPr>
        <p:spPr>
          <a:xfrm>
            <a:off x="731520" y="4379976"/>
            <a:ext cx="365760" cy="365760"/>
          </a:xfrm>
          <a:prstGeom prst="ellipse">
            <a:avLst/>
          </a:prstGeom>
          <a:solidFill>
            <a:srgbClr val="1E2761"/>
          </a:solidFill>
          <a:ln/>
        </p:spPr>
      </p:sp>
      <p:sp>
        <p:nvSpPr>
          <p:cNvPr id="17" name="Text 15"/>
          <p:cNvSpPr txBox="1"/>
          <p:nvPr/>
        </p:nvSpPr>
        <p:spPr>
          <a:xfrm>
            <a:off x="731520" y="437997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298448" y="4361688"/>
            <a:ext cx="10149840" cy="310896"/>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Write notes like a colleague will read them</a:t>
            </a:r>
            <a:endParaRPr lang="en-US" sz="1700" dirty="0"/>
          </a:p>
        </p:txBody>
      </p:sp>
      <p:sp>
        <p:nvSpPr>
          <p:cNvPr id="19" name="Text 17"/>
          <p:cNvSpPr txBox="1"/>
          <p:nvPr/>
        </p:nvSpPr>
        <p:spPr>
          <a:xfrm>
            <a:off x="1298448" y="4672584"/>
            <a:ext cx="10149840" cy="4572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Because one will. Superadmins can see everything you write, and the screen tells you so rather than letting you find out.</a:t>
            </a:r>
            <a:endParaRPr lang="en-US" sz="1300" dirty="0"/>
          </a:p>
        </p:txBody>
      </p:sp>
      <p:sp>
        <p:nvSpPr>
          <p:cNvPr id="20" name="Shape 18"/>
          <p:cNvSpPr/>
          <p:nvPr/>
        </p:nvSpPr>
        <p:spPr>
          <a:xfrm>
            <a:off x="731520" y="5239512"/>
            <a:ext cx="365760" cy="365760"/>
          </a:xfrm>
          <a:prstGeom prst="ellipse">
            <a:avLst/>
          </a:prstGeom>
          <a:solidFill>
            <a:srgbClr val="1E2761"/>
          </a:solidFill>
          <a:ln/>
        </p:spPr>
      </p:sp>
      <p:sp>
        <p:nvSpPr>
          <p:cNvPr id="21" name="Text 19"/>
          <p:cNvSpPr txBox="1"/>
          <p:nvPr/>
        </p:nvSpPr>
        <p:spPr>
          <a:xfrm>
            <a:off x="731520" y="52395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298448" y="5221224"/>
            <a:ext cx="10149840" cy="310896"/>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The prospect's rules win, not yours</a:t>
            </a:r>
            <a:endParaRPr lang="en-US" sz="1700" dirty="0"/>
          </a:p>
        </p:txBody>
      </p:sp>
      <p:sp>
        <p:nvSpPr>
          <p:cNvPr id="23" name="Text 21"/>
          <p:cNvSpPr txBox="1"/>
          <p:nvPr/>
        </p:nvSpPr>
        <p:spPr>
          <a:xfrm>
            <a:off x="1298448" y="5532120"/>
            <a:ext cx="10149840" cy="4572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Wherever they are decides what's legal — the hours you may ring, the registrations we need. The screen works it out and just won't offer you the button outside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Twelve tabs, and four of them are your morning</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The rest you open when something happens. Nobody learns them all on day one.</a:t>
            </a:r>
            <a:endParaRPr lang="en-US" sz="1500" dirty="0"/>
          </a:p>
        </p:txBody>
      </p:sp>
      <p:sp>
        <p:nvSpPr>
          <p:cNvPr id="4" name="Shape 2"/>
          <p:cNvSpPr/>
          <p:nvPr/>
        </p:nvSpPr>
        <p:spPr>
          <a:xfrm>
            <a:off x="731520" y="1828800"/>
            <a:ext cx="2496312" cy="1325880"/>
          </a:xfrm>
          <a:prstGeom prst="roundRect">
            <a:avLst>
              <a:gd name="adj" fmla="val 6897"/>
            </a:avLst>
          </a:prstGeom>
          <a:solidFill>
            <a:srgbClr val="F4F6FB"/>
          </a:solidFill>
          <a:ln/>
        </p:spPr>
      </p:sp>
      <p:sp>
        <p:nvSpPr>
          <p:cNvPr id="5" name="Text 3"/>
          <p:cNvSpPr txBox="1"/>
          <p:nvPr/>
        </p:nvSpPr>
        <p:spPr>
          <a:xfrm>
            <a:off x="932688" y="193852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Today</a:t>
            </a:r>
            <a:endParaRPr lang="en-US" sz="1500" dirty="0"/>
          </a:p>
        </p:txBody>
      </p:sp>
      <p:sp>
        <p:nvSpPr>
          <p:cNvPr id="6" name="Text 4"/>
          <p:cNvSpPr txBox="1"/>
          <p:nvPr/>
        </p:nvSpPr>
        <p:spPr>
          <a:xfrm>
            <a:off x="932688" y="223113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Daily</a:t>
            </a:r>
            <a:endParaRPr lang="en-US" sz="950" dirty="0"/>
          </a:p>
        </p:txBody>
      </p:sp>
      <p:sp>
        <p:nvSpPr>
          <p:cNvPr id="7" name="Text 5"/>
          <p:cNvSpPr txBox="1"/>
          <p:nvPr/>
        </p:nvSpPr>
        <p:spPr>
          <a:xfrm>
            <a:off x="932688" y="248716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One sentence: what to do next. It refuses to guess when a count failed to load.</a:t>
            </a:r>
            <a:endParaRPr lang="en-US" sz="1050" dirty="0"/>
          </a:p>
        </p:txBody>
      </p:sp>
      <p:sp>
        <p:nvSpPr>
          <p:cNvPr id="8" name="Shape 6"/>
          <p:cNvSpPr/>
          <p:nvPr/>
        </p:nvSpPr>
        <p:spPr>
          <a:xfrm>
            <a:off x="3465576" y="1828800"/>
            <a:ext cx="2496312" cy="1325880"/>
          </a:xfrm>
          <a:prstGeom prst="roundRect">
            <a:avLst>
              <a:gd name="adj" fmla="val 6897"/>
            </a:avLst>
          </a:prstGeom>
          <a:solidFill>
            <a:srgbClr val="F4F6FB"/>
          </a:solidFill>
          <a:ln/>
        </p:spPr>
      </p:sp>
      <p:sp>
        <p:nvSpPr>
          <p:cNvPr id="9" name="Text 7"/>
          <p:cNvSpPr txBox="1"/>
          <p:nvPr/>
        </p:nvSpPr>
        <p:spPr>
          <a:xfrm>
            <a:off x="3666744" y="193852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Queue</a:t>
            </a:r>
            <a:endParaRPr lang="en-US" sz="1500" dirty="0"/>
          </a:p>
        </p:txBody>
      </p:sp>
      <p:sp>
        <p:nvSpPr>
          <p:cNvPr id="10" name="Text 8"/>
          <p:cNvSpPr txBox="1"/>
          <p:nvPr/>
        </p:nvSpPr>
        <p:spPr>
          <a:xfrm>
            <a:off x="3666744" y="223113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Daily</a:t>
            </a:r>
            <a:endParaRPr lang="en-US" sz="950" dirty="0"/>
          </a:p>
        </p:txBody>
      </p:sp>
      <p:sp>
        <p:nvSpPr>
          <p:cNvPr id="11" name="Text 9"/>
          <p:cNvSpPr txBox="1"/>
          <p:nvPr/>
        </p:nvSpPr>
        <p:spPr>
          <a:xfrm>
            <a:off x="3666744" y="248716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Claim a prospect, read the research, call, close the claim out.</a:t>
            </a:r>
            <a:endParaRPr lang="en-US" sz="1050" dirty="0"/>
          </a:p>
        </p:txBody>
      </p:sp>
      <p:sp>
        <p:nvSpPr>
          <p:cNvPr id="12" name="Shape 10"/>
          <p:cNvSpPr/>
          <p:nvPr/>
        </p:nvSpPr>
        <p:spPr>
          <a:xfrm>
            <a:off x="6199632" y="1828800"/>
            <a:ext cx="2496312" cy="1325880"/>
          </a:xfrm>
          <a:prstGeom prst="roundRect">
            <a:avLst>
              <a:gd name="adj" fmla="val 6897"/>
            </a:avLst>
          </a:prstGeom>
          <a:solidFill>
            <a:srgbClr val="F4F6FB"/>
          </a:solidFill>
          <a:ln/>
        </p:spPr>
      </p:sp>
      <p:sp>
        <p:nvSpPr>
          <p:cNvPr id="13" name="Text 11"/>
          <p:cNvSpPr txBox="1"/>
          <p:nvPr/>
        </p:nvSpPr>
        <p:spPr>
          <a:xfrm>
            <a:off x="6400800" y="193852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Leads</a:t>
            </a:r>
            <a:endParaRPr lang="en-US" sz="1500" dirty="0"/>
          </a:p>
        </p:txBody>
      </p:sp>
      <p:sp>
        <p:nvSpPr>
          <p:cNvPr id="14" name="Text 12"/>
          <p:cNvSpPr txBox="1"/>
          <p:nvPr/>
        </p:nvSpPr>
        <p:spPr>
          <a:xfrm>
            <a:off x="6400800" y="223113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Daily</a:t>
            </a:r>
            <a:endParaRPr lang="en-US" sz="950" dirty="0"/>
          </a:p>
        </p:txBody>
      </p:sp>
      <p:sp>
        <p:nvSpPr>
          <p:cNvPr id="15" name="Text 13"/>
          <p:cNvSpPr txBox="1"/>
          <p:nvPr/>
        </p:nvSpPr>
        <p:spPr>
          <a:xfrm>
            <a:off x="6400800" y="248716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Businesses you typed in or carried across. Email and the first text go from here.</a:t>
            </a:r>
            <a:endParaRPr lang="en-US" sz="1050" dirty="0"/>
          </a:p>
        </p:txBody>
      </p:sp>
      <p:sp>
        <p:nvSpPr>
          <p:cNvPr id="16" name="Shape 14"/>
          <p:cNvSpPr/>
          <p:nvPr/>
        </p:nvSpPr>
        <p:spPr>
          <a:xfrm>
            <a:off x="8933688" y="1828800"/>
            <a:ext cx="2496312" cy="1325880"/>
          </a:xfrm>
          <a:prstGeom prst="roundRect">
            <a:avLst>
              <a:gd name="adj" fmla="val 6897"/>
            </a:avLst>
          </a:prstGeom>
          <a:solidFill>
            <a:srgbClr val="F4F6FB"/>
          </a:solidFill>
          <a:ln/>
        </p:spPr>
      </p:sp>
      <p:sp>
        <p:nvSpPr>
          <p:cNvPr id="17" name="Text 15"/>
          <p:cNvSpPr txBox="1"/>
          <p:nvPr/>
        </p:nvSpPr>
        <p:spPr>
          <a:xfrm>
            <a:off x="9134856" y="193852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Conversations</a:t>
            </a:r>
            <a:endParaRPr lang="en-US" sz="1500" dirty="0"/>
          </a:p>
        </p:txBody>
      </p:sp>
      <p:sp>
        <p:nvSpPr>
          <p:cNvPr id="18" name="Text 16"/>
          <p:cNvSpPr txBox="1"/>
          <p:nvPr/>
        </p:nvSpPr>
        <p:spPr>
          <a:xfrm>
            <a:off x="9134856" y="223113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Daily</a:t>
            </a:r>
            <a:endParaRPr lang="en-US" sz="950" dirty="0"/>
          </a:p>
        </p:txBody>
      </p:sp>
      <p:sp>
        <p:nvSpPr>
          <p:cNvPr id="19" name="Text 17"/>
          <p:cNvSpPr txBox="1"/>
          <p:nvPr/>
        </p:nvSpPr>
        <p:spPr>
          <a:xfrm>
            <a:off x="9134856" y="248716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Email replies. Somebody is waiting on you.</a:t>
            </a:r>
            <a:endParaRPr lang="en-US" sz="1050" dirty="0"/>
          </a:p>
        </p:txBody>
      </p:sp>
      <p:sp>
        <p:nvSpPr>
          <p:cNvPr id="20" name="Shape 18"/>
          <p:cNvSpPr/>
          <p:nvPr/>
        </p:nvSpPr>
        <p:spPr>
          <a:xfrm>
            <a:off x="731520" y="3291840"/>
            <a:ext cx="2496312" cy="1325880"/>
          </a:xfrm>
          <a:prstGeom prst="roundRect">
            <a:avLst>
              <a:gd name="adj" fmla="val 6897"/>
            </a:avLst>
          </a:prstGeom>
          <a:solidFill>
            <a:srgbClr val="F4F6FB"/>
          </a:solidFill>
          <a:ln/>
        </p:spPr>
      </p:sp>
      <p:sp>
        <p:nvSpPr>
          <p:cNvPr id="21" name="Text 19"/>
          <p:cNvSpPr txBox="1"/>
          <p:nvPr/>
        </p:nvSpPr>
        <p:spPr>
          <a:xfrm>
            <a:off x="932688" y="340156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Texts</a:t>
            </a:r>
            <a:endParaRPr lang="en-US" sz="1500" dirty="0"/>
          </a:p>
        </p:txBody>
      </p:sp>
      <p:sp>
        <p:nvSpPr>
          <p:cNvPr id="22" name="Text 20"/>
          <p:cNvSpPr txBox="1"/>
          <p:nvPr/>
        </p:nvSpPr>
        <p:spPr>
          <a:xfrm>
            <a:off x="932688" y="369417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When it buzzes</a:t>
            </a:r>
            <a:endParaRPr lang="en-US" sz="950" dirty="0"/>
          </a:p>
        </p:txBody>
      </p:sp>
      <p:sp>
        <p:nvSpPr>
          <p:cNvPr id="23" name="Text 21"/>
          <p:cNvSpPr txBox="1"/>
          <p:nvPr/>
        </p:nvSpPr>
        <p:spPr>
          <a:xfrm>
            <a:off x="932688" y="395020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Two-way threads, and your check-in drafts.</a:t>
            </a:r>
            <a:endParaRPr lang="en-US" sz="1050" dirty="0"/>
          </a:p>
        </p:txBody>
      </p:sp>
      <p:sp>
        <p:nvSpPr>
          <p:cNvPr id="24" name="Shape 22"/>
          <p:cNvSpPr/>
          <p:nvPr/>
        </p:nvSpPr>
        <p:spPr>
          <a:xfrm>
            <a:off x="3465576" y="3291840"/>
            <a:ext cx="2496312" cy="1325880"/>
          </a:xfrm>
          <a:prstGeom prst="roundRect">
            <a:avLst>
              <a:gd name="adj" fmla="val 6897"/>
            </a:avLst>
          </a:prstGeom>
          <a:solidFill>
            <a:srgbClr val="F4F6FB"/>
          </a:solidFill>
          <a:ln/>
        </p:spPr>
      </p:sp>
      <p:sp>
        <p:nvSpPr>
          <p:cNvPr id="25" name="Text 23"/>
          <p:cNvSpPr txBox="1"/>
          <p:nvPr/>
        </p:nvSpPr>
        <p:spPr>
          <a:xfrm>
            <a:off x="3666744" y="340156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Voicemail</a:t>
            </a:r>
            <a:endParaRPr lang="en-US" sz="1500" dirty="0"/>
          </a:p>
        </p:txBody>
      </p:sp>
      <p:sp>
        <p:nvSpPr>
          <p:cNvPr id="26" name="Text 24"/>
          <p:cNvSpPr txBox="1"/>
          <p:nvPr/>
        </p:nvSpPr>
        <p:spPr>
          <a:xfrm>
            <a:off x="3666744" y="369417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When it buzzes</a:t>
            </a:r>
            <a:endParaRPr lang="en-US" sz="950" dirty="0"/>
          </a:p>
        </p:txBody>
      </p:sp>
      <p:sp>
        <p:nvSpPr>
          <p:cNvPr id="27" name="Text 25"/>
          <p:cNvSpPr txBox="1"/>
          <p:nvPr/>
        </p:nvSpPr>
        <p:spPr>
          <a:xfrm>
            <a:off x="3666744" y="395020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Messages left on the number you rang from.</a:t>
            </a:r>
            <a:endParaRPr lang="en-US" sz="1050" dirty="0"/>
          </a:p>
        </p:txBody>
      </p:sp>
      <p:sp>
        <p:nvSpPr>
          <p:cNvPr id="28" name="Shape 26"/>
          <p:cNvSpPr/>
          <p:nvPr/>
        </p:nvSpPr>
        <p:spPr>
          <a:xfrm>
            <a:off x="6199632" y="3291840"/>
            <a:ext cx="2496312" cy="1325880"/>
          </a:xfrm>
          <a:prstGeom prst="roundRect">
            <a:avLst>
              <a:gd name="adj" fmla="val 6897"/>
            </a:avLst>
          </a:prstGeom>
          <a:solidFill>
            <a:srgbClr val="F4F6FB"/>
          </a:solidFill>
          <a:ln/>
        </p:spPr>
      </p:sp>
      <p:sp>
        <p:nvSpPr>
          <p:cNvPr id="29" name="Text 27"/>
          <p:cNvSpPr txBox="1"/>
          <p:nvPr/>
        </p:nvSpPr>
        <p:spPr>
          <a:xfrm>
            <a:off x="6400800" y="340156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Calendar</a:t>
            </a:r>
            <a:endParaRPr lang="en-US" sz="1500" dirty="0"/>
          </a:p>
        </p:txBody>
      </p:sp>
      <p:sp>
        <p:nvSpPr>
          <p:cNvPr id="30" name="Text 28"/>
          <p:cNvSpPr txBox="1"/>
          <p:nvPr/>
        </p:nvSpPr>
        <p:spPr>
          <a:xfrm>
            <a:off x="6400800" y="369417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When it buzzes</a:t>
            </a:r>
            <a:endParaRPr lang="en-US" sz="950" dirty="0"/>
          </a:p>
        </p:txBody>
      </p:sp>
      <p:sp>
        <p:nvSpPr>
          <p:cNvPr id="31" name="Text 29"/>
          <p:cNvSpPr txBox="1"/>
          <p:nvPr/>
        </p:nvSpPr>
        <p:spPr>
          <a:xfrm>
            <a:off x="6400800" y="395020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Your appointments and callbacks.</a:t>
            </a:r>
            <a:endParaRPr lang="en-US" sz="1050" dirty="0"/>
          </a:p>
        </p:txBody>
      </p:sp>
      <p:sp>
        <p:nvSpPr>
          <p:cNvPr id="32" name="Shape 30"/>
          <p:cNvSpPr/>
          <p:nvPr/>
        </p:nvSpPr>
        <p:spPr>
          <a:xfrm>
            <a:off x="8933688" y="3291840"/>
            <a:ext cx="2496312" cy="1325880"/>
          </a:xfrm>
          <a:prstGeom prst="roundRect">
            <a:avLst>
              <a:gd name="adj" fmla="val 6897"/>
            </a:avLst>
          </a:prstGeom>
          <a:solidFill>
            <a:srgbClr val="F4F6FB"/>
          </a:solidFill>
          <a:ln/>
        </p:spPr>
      </p:sp>
      <p:sp>
        <p:nvSpPr>
          <p:cNvPr id="33" name="Text 31"/>
          <p:cNvSpPr txBox="1"/>
          <p:nvPr/>
        </p:nvSpPr>
        <p:spPr>
          <a:xfrm>
            <a:off x="9134856" y="340156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My companies</a:t>
            </a:r>
            <a:endParaRPr lang="en-US" sz="1500" dirty="0"/>
          </a:p>
        </p:txBody>
      </p:sp>
      <p:sp>
        <p:nvSpPr>
          <p:cNvPr id="34" name="Text 32"/>
          <p:cNvSpPr txBox="1"/>
          <p:nvPr/>
        </p:nvSpPr>
        <p:spPr>
          <a:xfrm>
            <a:off x="9134856" y="369417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Weekly</a:t>
            </a:r>
            <a:endParaRPr lang="en-US" sz="950" dirty="0"/>
          </a:p>
        </p:txBody>
      </p:sp>
      <p:sp>
        <p:nvSpPr>
          <p:cNvPr id="35" name="Text 33"/>
          <p:cNvSpPr txBox="1"/>
          <p:nvPr/>
        </p:nvSpPr>
        <p:spPr>
          <a:xfrm>
            <a:off x="9134856" y="395020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The contractors you signed up. Your retention book.</a:t>
            </a:r>
            <a:endParaRPr lang="en-US" sz="1050" dirty="0"/>
          </a:p>
        </p:txBody>
      </p:sp>
      <p:sp>
        <p:nvSpPr>
          <p:cNvPr id="36" name="Shape 34"/>
          <p:cNvSpPr/>
          <p:nvPr/>
        </p:nvSpPr>
        <p:spPr>
          <a:xfrm>
            <a:off x="731520" y="4754880"/>
            <a:ext cx="2496312" cy="1325880"/>
          </a:xfrm>
          <a:prstGeom prst="roundRect">
            <a:avLst>
              <a:gd name="adj" fmla="val 6897"/>
            </a:avLst>
          </a:prstGeom>
          <a:solidFill>
            <a:srgbClr val="F4F6FB"/>
          </a:solidFill>
          <a:ln/>
        </p:spPr>
      </p:sp>
      <p:sp>
        <p:nvSpPr>
          <p:cNvPr id="37" name="Text 35"/>
          <p:cNvSpPr txBox="1"/>
          <p:nvPr/>
        </p:nvSpPr>
        <p:spPr>
          <a:xfrm>
            <a:off x="932688" y="486460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Support</a:t>
            </a:r>
            <a:endParaRPr lang="en-US" sz="1500" dirty="0"/>
          </a:p>
        </p:txBody>
      </p:sp>
      <p:sp>
        <p:nvSpPr>
          <p:cNvPr id="38" name="Text 36"/>
          <p:cNvSpPr txBox="1"/>
          <p:nvPr/>
        </p:nvSpPr>
        <p:spPr>
          <a:xfrm>
            <a:off x="932688" y="515721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When it breaks</a:t>
            </a:r>
            <a:endParaRPr lang="en-US" sz="950" dirty="0"/>
          </a:p>
        </p:txBody>
      </p:sp>
      <p:sp>
        <p:nvSpPr>
          <p:cNvPr id="39" name="Text 37"/>
          <p:cNvSpPr txBox="1"/>
          <p:nvPr/>
        </p:nvSpPr>
        <p:spPr>
          <a:xfrm>
            <a:off x="932688" y="541324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Send a technical problem to FieldQuo.</a:t>
            </a:r>
            <a:endParaRPr lang="en-US" sz="1050" dirty="0"/>
          </a:p>
        </p:txBody>
      </p:sp>
      <p:sp>
        <p:nvSpPr>
          <p:cNvPr id="40" name="Shape 38"/>
          <p:cNvSpPr/>
          <p:nvPr/>
        </p:nvSpPr>
        <p:spPr>
          <a:xfrm>
            <a:off x="3465576" y="4754880"/>
            <a:ext cx="2496312" cy="1325880"/>
          </a:xfrm>
          <a:prstGeom prst="roundRect">
            <a:avLst>
              <a:gd name="adj" fmla="val 6897"/>
            </a:avLst>
          </a:prstGeom>
          <a:solidFill>
            <a:srgbClr val="F4F6FB"/>
          </a:solidFill>
          <a:ln/>
        </p:spPr>
      </p:sp>
      <p:sp>
        <p:nvSpPr>
          <p:cNvPr id="41" name="Text 39"/>
          <p:cNvSpPr txBox="1"/>
          <p:nvPr/>
        </p:nvSpPr>
        <p:spPr>
          <a:xfrm>
            <a:off x="3666744" y="486460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Notes</a:t>
            </a:r>
            <a:endParaRPr lang="en-US" sz="1500" dirty="0"/>
          </a:p>
        </p:txBody>
      </p:sp>
      <p:sp>
        <p:nvSpPr>
          <p:cNvPr id="42" name="Text 40"/>
          <p:cNvSpPr txBox="1"/>
          <p:nvPr/>
        </p:nvSpPr>
        <p:spPr>
          <a:xfrm>
            <a:off x="3666744" y="515721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Whenever</a:t>
            </a:r>
            <a:endParaRPr lang="en-US" sz="950" dirty="0"/>
          </a:p>
        </p:txBody>
      </p:sp>
      <p:sp>
        <p:nvSpPr>
          <p:cNvPr id="43" name="Text 41"/>
          <p:cNvSpPr txBox="1"/>
          <p:nvPr/>
        </p:nvSpPr>
        <p:spPr>
          <a:xfrm>
            <a:off x="3666744" y="541324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Autosaves. Archive only — nothing deletes.</a:t>
            </a:r>
            <a:endParaRPr lang="en-US" sz="1050" dirty="0"/>
          </a:p>
        </p:txBody>
      </p:sp>
      <p:sp>
        <p:nvSpPr>
          <p:cNvPr id="44" name="Shape 42"/>
          <p:cNvSpPr/>
          <p:nvPr/>
        </p:nvSpPr>
        <p:spPr>
          <a:xfrm>
            <a:off x="6199632" y="4754880"/>
            <a:ext cx="2496312" cy="1325880"/>
          </a:xfrm>
          <a:prstGeom prst="roundRect">
            <a:avLst>
              <a:gd name="adj" fmla="val 6897"/>
            </a:avLst>
          </a:prstGeom>
          <a:solidFill>
            <a:srgbClr val="F4F6FB"/>
          </a:solidFill>
          <a:ln/>
        </p:spPr>
      </p:sp>
      <p:sp>
        <p:nvSpPr>
          <p:cNvPr id="45" name="Text 43"/>
          <p:cNvSpPr txBox="1"/>
          <p:nvPr/>
        </p:nvSpPr>
        <p:spPr>
          <a:xfrm>
            <a:off x="6400800" y="486460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Demo</a:t>
            </a:r>
            <a:endParaRPr lang="en-US" sz="1500" dirty="0"/>
          </a:p>
        </p:txBody>
      </p:sp>
      <p:sp>
        <p:nvSpPr>
          <p:cNvPr id="46" name="Text 44"/>
          <p:cNvSpPr txBox="1"/>
          <p:nvPr/>
        </p:nvSpPr>
        <p:spPr>
          <a:xfrm>
            <a:off x="6400800" y="515721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On a call</a:t>
            </a:r>
            <a:endParaRPr lang="en-US" sz="950" dirty="0"/>
          </a:p>
        </p:txBody>
      </p:sp>
      <p:sp>
        <p:nvSpPr>
          <p:cNvPr id="47" name="Text 45"/>
          <p:cNvSpPr txBox="1"/>
          <p:nvPr/>
        </p:nvSpPr>
        <p:spPr>
          <a:xfrm>
            <a:off x="6400800" y="541324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The account you drive in front of a prospect.</a:t>
            </a:r>
            <a:endParaRPr lang="en-US" sz="1050" dirty="0"/>
          </a:p>
        </p:txBody>
      </p:sp>
      <p:sp>
        <p:nvSpPr>
          <p:cNvPr id="48" name="Shape 46"/>
          <p:cNvSpPr/>
          <p:nvPr/>
        </p:nvSpPr>
        <p:spPr>
          <a:xfrm>
            <a:off x="8933688" y="4754880"/>
            <a:ext cx="2496312" cy="1325880"/>
          </a:xfrm>
          <a:prstGeom prst="roundRect">
            <a:avLst>
              <a:gd name="adj" fmla="val 6897"/>
            </a:avLst>
          </a:prstGeom>
          <a:solidFill>
            <a:srgbClr val="F4F6FB"/>
          </a:solidFill>
          <a:ln/>
        </p:spPr>
      </p:sp>
      <p:sp>
        <p:nvSpPr>
          <p:cNvPr id="49" name="Text 47"/>
          <p:cNvSpPr txBox="1"/>
          <p:nvPr/>
        </p:nvSpPr>
        <p:spPr>
          <a:xfrm>
            <a:off x="9134856" y="4864608"/>
            <a:ext cx="2093976"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Pay</a:t>
            </a:r>
            <a:endParaRPr lang="en-US" sz="1500" dirty="0"/>
          </a:p>
        </p:txBody>
      </p:sp>
      <p:sp>
        <p:nvSpPr>
          <p:cNvPr id="50" name="Text 48"/>
          <p:cNvSpPr txBox="1"/>
          <p:nvPr/>
        </p:nvSpPr>
        <p:spPr>
          <a:xfrm>
            <a:off x="9134856" y="5157216"/>
            <a:ext cx="2093976" cy="237744"/>
          </a:xfrm>
          <a:prstGeom prst="rect">
            <a:avLst/>
          </a:prstGeom>
          <a:noFill/>
          <a:ln/>
        </p:spPr>
        <p:txBody>
          <a:bodyPr wrap="square" lIns="0" tIns="0" rIns="0" bIns="0" rtlCol="0" anchor="ctr"/>
          <a:lstStyle/>
          <a:p>
            <a:pPr indent="0" marL="0">
              <a:buNone/>
            </a:pPr>
            <a:r>
              <a:rPr lang="en-US" sz="950" b="1" spc="100" kern="0" dirty="0">
                <a:solidFill>
                  <a:srgbClr val="C8A44D"/>
                </a:solidFill>
                <a:latin typeface="Calibri" pitchFamily="34" charset="0"/>
                <a:ea typeface="Calibri" pitchFamily="34" charset="-122"/>
                <a:cs typeface="Calibri" pitchFamily="34" charset="-120"/>
              </a:rPr>
              <a:t>Day one, then never</a:t>
            </a:r>
            <a:endParaRPr lang="en-US" sz="950" dirty="0"/>
          </a:p>
        </p:txBody>
      </p:sp>
      <p:sp>
        <p:nvSpPr>
          <p:cNvPr id="51" name="Text 49"/>
          <p:cNvSpPr txBox="1"/>
          <p:nvPr/>
        </p:nvSpPr>
        <p:spPr>
          <a:xfrm>
            <a:off x="9134856" y="5413248"/>
            <a:ext cx="2093976" cy="603504"/>
          </a:xfrm>
          <a:prstGeom prst="rect">
            <a:avLst/>
          </a:prstGeom>
          <a:noFill/>
          <a:ln/>
        </p:spPr>
        <p:txBody>
          <a:bodyPr wrap="square" lIns="0" tIns="0" rIns="0" bIns="0" rtlCol="0" anchor="ctr"/>
          <a:lstStyle/>
          <a:p>
            <a:pPr indent="0" marL="0">
              <a:buNone/>
            </a:pPr>
            <a:r>
              <a:rPr lang="en-US" sz="1050" dirty="0">
                <a:solidFill>
                  <a:srgbClr val="5A6070"/>
                </a:solidFill>
                <a:latin typeface="Calibri" pitchFamily="34" charset="0"/>
                <a:ea typeface="Calibri" pitchFamily="34" charset="-122"/>
                <a:cs typeface="Calibri" pitchFamily="34" charset="-120"/>
              </a:rPr>
              <a:t>How you want the money, and your language.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Working the queue</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Claim before you call. Always.</a:t>
            </a:r>
            <a:endParaRPr lang="en-US" sz="1500" dirty="0"/>
          </a:p>
        </p:txBody>
      </p:sp>
      <p:sp>
        <p:nvSpPr>
          <p:cNvPr id="4" name="Shape 2"/>
          <p:cNvSpPr/>
          <p:nvPr/>
        </p:nvSpPr>
        <p:spPr>
          <a:xfrm>
            <a:off x="731520" y="1828800"/>
            <a:ext cx="3383280" cy="2377440"/>
          </a:xfrm>
          <a:prstGeom prst="roundRect">
            <a:avLst>
              <a:gd name="adj" fmla="val 5385"/>
            </a:avLst>
          </a:prstGeom>
          <a:solidFill>
            <a:srgbClr val="F4F6FB"/>
          </a:solidFill>
          <a:ln/>
        </p:spPr>
      </p:sp>
      <p:sp>
        <p:nvSpPr>
          <p:cNvPr id="5" name="Text 3"/>
          <p:cNvSpPr txBox="1"/>
          <p:nvPr/>
        </p:nvSpPr>
        <p:spPr>
          <a:xfrm>
            <a:off x="1024128" y="1993392"/>
            <a:ext cx="2798064" cy="822960"/>
          </a:xfrm>
          <a:prstGeom prst="rect">
            <a:avLst/>
          </a:prstGeom>
          <a:noFill/>
          <a:ln/>
        </p:spPr>
        <p:txBody>
          <a:bodyPr wrap="square" lIns="0" tIns="0" rIns="0" bIns="0" rtlCol="0" anchor="ctr"/>
          <a:lstStyle/>
          <a:p>
            <a:pPr indent="0" marL="0">
              <a:buNone/>
            </a:pPr>
            <a:r>
              <a:rPr lang="en-US" sz="4600" b="1" dirty="0">
                <a:solidFill>
                  <a:srgbClr val="1E2761"/>
                </a:solidFill>
                <a:latin typeface="Cambria" pitchFamily="34" charset="0"/>
                <a:ea typeface="Cambria" pitchFamily="34" charset="-122"/>
                <a:cs typeface="Cambria" pitchFamily="34" charset="-120"/>
              </a:rPr>
              <a:t>39</a:t>
            </a:r>
            <a:endParaRPr lang="en-US" sz="4600" dirty="0"/>
          </a:p>
        </p:txBody>
      </p:sp>
      <p:sp>
        <p:nvSpPr>
          <p:cNvPr id="6" name="Text 4"/>
          <p:cNvSpPr txBox="1"/>
          <p:nvPr/>
        </p:nvSpPr>
        <p:spPr>
          <a:xfrm>
            <a:off x="1024128" y="2788920"/>
            <a:ext cx="2798064" cy="320040"/>
          </a:xfrm>
          <a:prstGeom prst="rect">
            <a:avLst/>
          </a:prstGeom>
          <a:noFill/>
          <a:ln/>
        </p:spPr>
        <p:txBody>
          <a:bodyPr wrap="square" lIns="0" tIns="0" rIns="0" bIns="0" rtlCol="0" anchor="ctr"/>
          <a:lstStyle/>
          <a:p>
            <a:pPr indent="0" marL="0">
              <a:buNone/>
            </a:pPr>
            <a:r>
              <a:rPr lang="en-US" sz="1400" b="1" dirty="0">
                <a:solidFill>
                  <a:srgbClr val="C8A44D"/>
                </a:solidFill>
                <a:latin typeface="Calibri" pitchFamily="34" charset="0"/>
                <a:ea typeface="Calibri" pitchFamily="34" charset="-122"/>
                <a:cs typeface="Calibri" pitchFamily="34" charset="-120"/>
              </a:rPr>
              <a:t>trades in the picker</a:t>
            </a:r>
            <a:endParaRPr lang="en-US" sz="1400" dirty="0"/>
          </a:p>
        </p:txBody>
      </p:sp>
      <p:sp>
        <p:nvSpPr>
          <p:cNvPr id="7" name="Text 5"/>
          <p:cNvSpPr txBox="1"/>
          <p:nvPr/>
        </p:nvSpPr>
        <p:spPr>
          <a:xfrm>
            <a:off x="1024128" y="3154680"/>
            <a:ext cx="2798064" cy="9144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Pick a trade, then press Claim the next one.</a:t>
            </a:r>
            <a:endParaRPr lang="en-US" sz="1300" dirty="0"/>
          </a:p>
        </p:txBody>
      </p:sp>
      <p:sp>
        <p:nvSpPr>
          <p:cNvPr id="8" name="Shape 6"/>
          <p:cNvSpPr/>
          <p:nvPr/>
        </p:nvSpPr>
        <p:spPr>
          <a:xfrm>
            <a:off x="4480560" y="1828800"/>
            <a:ext cx="3383280" cy="2377440"/>
          </a:xfrm>
          <a:prstGeom prst="roundRect">
            <a:avLst>
              <a:gd name="adj" fmla="val 5385"/>
            </a:avLst>
          </a:prstGeom>
          <a:solidFill>
            <a:srgbClr val="F4F6FB"/>
          </a:solidFill>
          <a:ln/>
        </p:spPr>
      </p:sp>
      <p:sp>
        <p:nvSpPr>
          <p:cNvPr id="9" name="Text 7"/>
          <p:cNvSpPr txBox="1"/>
          <p:nvPr/>
        </p:nvSpPr>
        <p:spPr>
          <a:xfrm>
            <a:off x="4773168" y="1993392"/>
            <a:ext cx="2798064" cy="822960"/>
          </a:xfrm>
          <a:prstGeom prst="rect">
            <a:avLst/>
          </a:prstGeom>
          <a:noFill/>
          <a:ln/>
        </p:spPr>
        <p:txBody>
          <a:bodyPr wrap="square" lIns="0" tIns="0" rIns="0" bIns="0" rtlCol="0" anchor="ctr"/>
          <a:lstStyle/>
          <a:p>
            <a:pPr indent="0" marL="0">
              <a:buNone/>
            </a:pPr>
            <a:r>
              <a:rPr lang="en-US" sz="4600" b="1" dirty="0">
                <a:solidFill>
                  <a:srgbClr val="1E2761"/>
                </a:solidFill>
                <a:latin typeface="Cambria" pitchFamily="34" charset="0"/>
                <a:ea typeface="Cambria" pitchFamily="34" charset="-122"/>
                <a:cs typeface="Cambria" pitchFamily="34" charset="-120"/>
              </a:rPr>
              <a:t>48h</a:t>
            </a:r>
            <a:endParaRPr lang="en-US" sz="4600" dirty="0"/>
          </a:p>
        </p:txBody>
      </p:sp>
      <p:sp>
        <p:nvSpPr>
          <p:cNvPr id="10" name="Text 8"/>
          <p:cNvSpPr txBox="1"/>
          <p:nvPr/>
        </p:nvSpPr>
        <p:spPr>
          <a:xfrm>
            <a:off x="4773168" y="2788920"/>
            <a:ext cx="2798064" cy="320040"/>
          </a:xfrm>
          <a:prstGeom prst="rect">
            <a:avLst/>
          </a:prstGeom>
          <a:noFill/>
          <a:ln/>
        </p:spPr>
        <p:txBody>
          <a:bodyPr wrap="square" lIns="0" tIns="0" rIns="0" bIns="0" rtlCol="0" anchor="ctr"/>
          <a:lstStyle/>
          <a:p>
            <a:pPr indent="0" marL="0">
              <a:buNone/>
            </a:pPr>
            <a:r>
              <a:rPr lang="en-US" sz="1400" b="1" dirty="0">
                <a:solidFill>
                  <a:srgbClr val="C8A44D"/>
                </a:solidFill>
                <a:latin typeface="Calibri" pitchFamily="34" charset="0"/>
                <a:ea typeface="Calibri" pitchFamily="34" charset="-122"/>
                <a:cs typeface="Calibri" pitchFamily="34" charset="-120"/>
              </a:rPr>
              <a:t>before a claim lapses</a:t>
            </a:r>
            <a:endParaRPr lang="en-US" sz="1400" dirty="0"/>
          </a:p>
        </p:txBody>
      </p:sp>
      <p:sp>
        <p:nvSpPr>
          <p:cNvPr id="11" name="Text 9"/>
          <p:cNvSpPr txBox="1"/>
          <p:nvPr/>
        </p:nvSpPr>
        <p:spPr>
          <a:xfrm>
            <a:off x="4773168" y="3154680"/>
            <a:ext cx="2798064" cy="9144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If you do not work it, the prospect returns to the pool for somebody else.</a:t>
            </a:r>
            <a:endParaRPr lang="en-US" sz="1300" dirty="0"/>
          </a:p>
        </p:txBody>
      </p:sp>
      <p:sp>
        <p:nvSpPr>
          <p:cNvPr id="12" name="Shape 10"/>
          <p:cNvSpPr/>
          <p:nvPr/>
        </p:nvSpPr>
        <p:spPr>
          <a:xfrm>
            <a:off x="8229600" y="1828800"/>
            <a:ext cx="3383280" cy="2377440"/>
          </a:xfrm>
          <a:prstGeom prst="roundRect">
            <a:avLst>
              <a:gd name="adj" fmla="val 5385"/>
            </a:avLst>
          </a:prstGeom>
          <a:solidFill>
            <a:srgbClr val="F4F6FB"/>
          </a:solidFill>
          <a:ln/>
        </p:spPr>
      </p:sp>
      <p:sp>
        <p:nvSpPr>
          <p:cNvPr id="13" name="Text 11"/>
          <p:cNvSpPr txBox="1"/>
          <p:nvPr/>
        </p:nvSpPr>
        <p:spPr>
          <a:xfrm>
            <a:off x="8522208" y="1993392"/>
            <a:ext cx="2798064" cy="822960"/>
          </a:xfrm>
          <a:prstGeom prst="rect">
            <a:avLst/>
          </a:prstGeom>
          <a:noFill/>
          <a:ln/>
        </p:spPr>
        <p:txBody>
          <a:bodyPr wrap="square" lIns="0" tIns="0" rIns="0" bIns="0" rtlCol="0" anchor="ctr"/>
          <a:lstStyle/>
          <a:p>
            <a:pPr indent="0" marL="0">
              <a:buNone/>
            </a:pPr>
            <a:r>
              <a:rPr lang="en-US" sz="4600" b="1" dirty="0">
                <a:solidFill>
                  <a:srgbClr val="1E2761"/>
                </a:solidFill>
                <a:latin typeface="Cambria" pitchFamily="34" charset="0"/>
                <a:ea typeface="Cambria" pitchFamily="34" charset="-122"/>
                <a:cs typeface="Cambria" pitchFamily="34" charset="-120"/>
              </a:rPr>
              <a:t>0</a:t>
            </a:r>
            <a:endParaRPr lang="en-US" sz="4600" dirty="0"/>
          </a:p>
        </p:txBody>
      </p:sp>
      <p:sp>
        <p:nvSpPr>
          <p:cNvPr id="14" name="Text 12"/>
          <p:cNvSpPr txBox="1"/>
          <p:nvPr/>
        </p:nvSpPr>
        <p:spPr>
          <a:xfrm>
            <a:off x="8522208" y="2788920"/>
            <a:ext cx="2798064" cy="320040"/>
          </a:xfrm>
          <a:prstGeom prst="rect">
            <a:avLst/>
          </a:prstGeom>
          <a:noFill/>
          <a:ln/>
        </p:spPr>
        <p:txBody>
          <a:bodyPr wrap="square" lIns="0" tIns="0" rIns="0" bIns="0" rtlCol="0" anchor="ctr"/>
          <a:lstStyle/>
          <a:p>
            <a:pPr indent="0" marL="0">
              <a:buNone/>
            </a:pPr>
            <a:r>
              <a:rPr lang="en-US" sz="1400" b="1" dirty="0">
                <a:solidFill>
                  <a:srgbClr val="C8A44D"/>
                </a:solidFill>
                <a:latin typeface="Calibri" pitchFamily="34" charset="0"/>
                <a:ea typeface="Calibri" pitchFamily="34" charset="-122"/>
                <a:cs typeface="Calibri" pitchFamily="34" charset="-120"/>
              </a:rPr>
              <a:t>prospects you can browse</a:t>
            </a:r>
            <a:endParaRPr lang="en-US" sz="1400" dirty="0"/>
          </a:p>
        </p:txBody>
      </p:sp>
      <p:sp>
        <p:nvSpPr>
          <p:cNvPr id="15" name="Text 13"/>
          <p:cNvSpPr txBox="1"/>
          <p:nvPr/>
        </p:nvSpPr>
        <p:spPr>
          <a:xfrm>
            <a:off x="8522208" y="3154680"/>
            <a:ext cx="2798064" cy="9144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You get a count per trade, never a list. A count is not a list — it stops one rep claiming two hundred and calling nine.</a:t>
            </a:r>
            <a:endParaRPr lang="en-US" sz="1300" dirty="0"/>
          </a:p>
        </p:txBody>
      </p:sp>
      <p:sp>
        <p:nvSpPr>
          <p:cNvPr id="16" name="Text 14"/>
          <p:cNvSpPr txBox="1"/>
          <p:nvPr/>
        </p:nvSpPr>
        <p:spPr>
          <a:xfrm>
            <a:off x="731520" y="4526280"/>
            <a:ext cx="10698480" cy="457200"/>
          </a:xfrm>
          <a:prstGeom prst="rect">
            <a:avLst/>
          </a:prstGeom>
          <a:noFill/>
          <a:ln/>
        </p:spPr>
        <p:txBody>
          <a:bodyPr wrap="square" rtlCol="0" anchor="ctr"/>
          <a:lstStyle/>
          <a:p>
            <a:pPr indent="0" marL="0">
              <a:buNone/>
            </a:pPr>
            <a:r>
              <a:rPr lang="en-US" sz="1500" i="1" dirty="0">
                <a:solidFill>
                  <a:srgbClr val="1E2761"/>
                </a:solidFill>
                <a:latin typeface="Calibri" pitchFamily="34" charset="0"/>
                <a:ea typeface="Calibri" pitchFamily="34" charset="-122"/>
                <a:cs typeface="Calibri" pitchFamily="34" charset="-120"/>
              </a:rPr>
              <a:t>You cannot trigger discovery. It runs on a schedule. If a trade is empty, the screen tells you which of three reasons applies.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640080"/>
            <a:ext cx="10698480" cy="73152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Read the three layers. Keep them separate.</a:t>
            </a:r>
            <a:endParaRPr lang="en-US" sz="3600" dirty="0"/>
          </a:p>
        </p:txBody>
      </p:sp>
      <p:sp>
        <p:nvSpPr>
          <p:cNvPr id="3" name="Text 1"/>
          <p:cNvSpPr txBox="1"/>
          <p:nvPr/>
        </p:nvSpPr>
        <p:spPr>
          <a:xfrm>
            <a:off x="731520" y="1371600"/>
            <a:ext cx="10698480" cy="411480"/>
          </a:xfrm>
          <a:prstGeom prst="rect">
            <a:avLst/>
          </a:prstGeom>
          <a:noFill/>
          <a:ln/>
        </p:spPr>
        <p:txBody>
          <a:bodyPr wrap="square"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research screen never merges fact with guesswork. Neither should you on a call.</a:t>
            </a:r>
            <a:endParaRPr lang="en-US" sz="1500" dirty="0"/>
          </a:p>
        </p:txBody>
      </p:sp>
      <p:sp>
        <p:nvSpPr>
          <p:cNvPr id="4" name="Shape 2"/>
          <p:cNvSpPr/>
          <p:nvPr/>
        </p:nvSpPr>
        <p:spPr>
          <a:xfrm>
            <a:off x="731520" y="2057400"/>
            <a:ext cx="10698480" cy="713232"/>
          </a:xfrm>
          <a:prstGeom prst="roundRect">
            <a:avLst>
              <a:gd name="adj" fmla="val 12821"/>
            </a:avLst>
          </a:prstGeom>
          <a:solidFill>
            <a:srgbClr val="2A3A78"/>
          </a:solidFill>
          <a:ln/>
        </p:spPr>
      </p:sp>
      <p:sp>
        <p:nvSpPr>
          <p:cNvPr id="5" name="Text 3"/>
          <p:cNvSpPr txBox="1"/>
          <p:nvPr/>
        </p:nvSpPr>
        <p:spPr>
          <a:xfrm>
            <a:off x="1005840" y="2057400"/>
            <a:ext cx="2834640" cy="713232"/>
          </a:xfrm>
          <a:prstGeom prst="rect">
            <a:avLst/>
          </a:prstGeom>
          <a:noFill/>
          <a:ln/>
        </p:spPr>
        <p:txBody>
          <a:bodyPr wrap="square" lIns="0" tIns="0" rIns="0" bIns="0" rtlCol="0" anchor="ctr"/>
          <a:lstStyle/>
          <a:p>
            <a:pPr indent="0" marL="0">
              <a:buNone/>
            </a:pPr>
            <a:r>
              <a:rPr lang="en-US" sz="1600" b="1" dirty="0">
                <a:solidFill>
                  <a:srgbClr val="C8A44D"/>
                </a:solidFill>
                <a:latin typeface="Calibri" pitchFamily="34" charset="0"/>
                <a:ea typeface="Calibri" pitchFamily="34" charset="-122"/>
                <a:cs typeface="Calibri" pitchFamily="34" charset="-120"/>
              </a:rPr>
              <a:t>What we observed</a:t>
            </a:r>
            <a:endParaRPr lang="en-US" sz="1600" dirty="0"/>
          </a:p>
        </p:txBody>
      </p:sp>
      <p:sp>
        <p:nvSpPr>
          <p:cNvPr id="6" name="Text 4"/>
          <p:cNvSpPr txBox="1"/>
          <p:nvPr/>
        </p:nvSpPr>
        <p:spPr>
          <a:xfrm>
            <a:off x="3931920" y="2057400"/>
            <a:ext cx="3474720" cy="713232"/>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Fact. A crawler actually saw it.</a:t>
            </a:r>
            <a:endParaRPr lang="en-US" sz="1400" dirty="0"/>
          </a:p>
        </p:txBody>
      </p:sp>
      <p:sp>
        <p:nvSpPr>
          <p:cNvPr id="7" name="Text 5"/>
          <p:cNvSpPr txBox="1"/>
          <p:nvPr/>
        </p:nvSpPr>
        <p:spPr>
          <a:xfrm>
            <a:off x="7589520" y="2057400"/>
            <a:ext cx="3657600" cy="713232"/>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Safe to state directly.</a:t>
            </a:r>
            <a:endParaRPr lang="en-US" sz="1400" dirty="0"/>
          </a:p>
        </p:txBody>
      </p:sp>
      <p:sp>
        <p:nvSpPr>
          <p:cNvPr id="8" name="Shape 6"/>
          <p:cNvSpPr/>
          <p:nvPr/>
        </p:nvSpPr>
        <p:spPr>
          <a:xfrm>
            <a:off x="731520" y="2862072"/>
            <a:ext cx="10698480" cy="713232"/>
          </a:xfrm>
          <a:prstGeom prst="roundRect">
            <a:avLst>
              <a:gd name="adj" fmla="val 12821"/>
            </a:avLst>
          </a:prstGeom>
          <a:solidFill>
            <a:srgbClr val="2A3A78"/>
          </a:solidFill>
          <a:ln/>
        </p:spPr>
      </p:sp>
      <p:sp>
        <p:nvSpPr>
          <p:cNvPr id="9" name="Text 7"/>
          <p:cNvSpPr txBox="1"/>
          <p:nvPr/>
        </p:nvSpPr>
        <p:spPr>
          <a:xfrm>
            <a:off x="1005840" y="2862072"/>
            <a:ext cx="2834640" cy="713232"/>
          </a:xfrm>
          <a:prstGeom prst="rect">
            <a:avLst/>
          </a:prstGeom>
          <a:noFill/>
          <a:ln/>
        </p:spPr>
        <p:txBody>
          <a:bodyPr wrap="square" lIns="0" tIns="0" rIns="0" bIns="0" rtlCol="0" anchor="ctr"/>
          <a:lstStyle/>
          <a:p>
            <a:pPr indent="0" marL="0">
              <a:buNone/>
            </a:pPr>
            <a:r>
              <a:rPr lang="en-US" sz="1600" b="1" dirty="0">
                <a:solidFill>
                  <a:srgbClr val="C8A44D"/>
                </a:solidFill>
                <a:latin typeface="Calibri" pitchFamily="34" charset="0"/>
                <a:ea typeface="Calibri" pitchFamily="34" charset="-122"/>
                <a:cs typeface="Calibri" pitchFamily="34" charset="-120"/>
              </a:rPr>
              <a:t>What we infer</a:t>
            </a:r>
            <a:endParaRPr lang="en-US" sz="1600" dirty="0"/>
          </a:p>
        </p:txBody>
      </p:sp>
      <p:sp>
        <p:nvSpPr>
          <p:cNvPr id="10" name="Text 8"/>
          <p:cNvSpPr txBox="1"/>
          <p:nvPr/>
        </p:nvSpPr>
        <p:spPr>
          <a:xfrm>
            <a:off x="3931920" y="2862072"/>
            <a:ext cx="3474720" cy="713232"/>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Inference, with a confidence.</a:t>
            </a:r>
            <a:endParaRPr lang="en-US" sz="1400" dirty="0"/>
          </a:p>
        </p:txBody>
      </p:sp>
      <p:sp>
        <p:nvSpPr>
          <p:cNvPr id="11" name="Text 9"/>
          <p:cNvSpPr txBox="1"/>
          <p:nvPr/>
        </p:nvSpPr>
        <p:spPr>
          <a:xfrm>
            <a:off x="7589520" y="2862072"/>
            <a:ext cx="3657600" cy="713232"/>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Say it as a question, never a claim.</a:t>
            </a:r>
            <a:endParaRPr lang="en-US" sz="1400" dirty="0"/>
          </a:p>
        </p:txBody>
      </p:sp>
      <p:sp>
        <p:nvSpPr>
          <p:cNvPr id="12" name="Shape 10"/>
          <p:cNvSpPr/>
          <p:nvPr/>
        </p:nvSpPr>
        <p:spPr>
          <a:xfrm>
            <a:off x="731520" y="3666744"/>
            <a:ext cx="10698480" cy="713232"/>
          </a:xfrm>
          <a:prstGeom prst="roundRect">
            <a:avLst>
              <a:gd name="adj" fmla="val 12821"/>
            </a:avLst>
          </a:prstGeom>
          <a:solidFill>
            <a:srgbClr val="2A3A78"/>
          </a:solidFill>
          <a:ln/>
        </p:spPr>
      </p:sp>
      <p:sp>
        <p:nvSpPr>
          <p:cNvPr id="13" name="Text 11"/>
          <p:cNvSpPr txBox="1"/>
          <p:nvPr/>
        </p:nvSpPr>
        <p:spPr>
          <a:xfrm>
            <a:off x="1005840" y="3666744"/>
            <a:ext cx="2834640" cy="713232"/>
          </a:xfrm>
          <a:prstGeom prst="rect">
            <a:avLst/>
          </a:prstGeom>
          <a:noFill/>
          <a:ln/>
        </p:spPr>
        <p:txBody>
          <a:bodyPr wrap="square" lIns="0" tIns="0" rIns="0" bIns="0" rtlCol="0" anchor="ctr"/>
          <a:lstStyle/>
          <a:p>
            <a:pPr indent="0" marL="0">
              <a:buNone/>
            </a:pPr>
            <a:r>
              <a:rPr lang="en-US" sz="1600" b="1" dirty="0">
                <a:solidFill>
                  <a:srgbClr val="C8A44D"/>
                </a:solidFill>
                <a:latin typeface="Calibri" pitchFamily="34" charset="0"/>
                <a:ea typeface="Calibri" pitchFamily="34" charset="-122"/>
                <a:cs typeface="Calibri" pitchFamily="34" charset="-120"/>
              </a:rPr>
              <a:t>What to pitch</a:t>
            </a:r>
            <a:endParaRPr lang="en-US" sz="1600" dirty="0"/>
          </a:p>
        </p:txBody>
      </p:sp>
      <p:sp>
        <p:nvSpPr>
          <p:cNvPr id="14" name="Text 12"/>
          <p:cNvSpPr txBox="1"/>
          <p:nvPr/>
        </p:nvSpPr>
        <p:spPr>
          <a:xfrm>
            <a:off x="3931920" y="3666744"/>
            <a:ext cx="3474720" cy="713232"/>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 recommendation.</a:t>
            </a:r>
            <a:endParaRPr lang="en-US" sz="1400" dirty="0"/>
          </a:p>
        </p:txBody>
      </p:sp>
      <p:sp>
        <p:nvSpPr>
          <p:cNvPr id="15" name="Text 13"/>
          <p:cNvSpPr txBox="1"/>
          <p:nvPr/>
        </p:nvSpPr>
        <p:spPr>
          <a:xfrm>
            <a:off x="7589520" y="3666744"/>
            <a:ext cx="3657600" cy="713232"/>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 suggestion, not a script.</a:t>
            </a:r>
            <a:endParaRPr lang="en-US" sz="1400" dirty="0"/>
          </a:p>
        </p:txBody>
      </p:sp>
      <p:sp>
        <p:nvSpPr>
          <p:cNvPr id="16" name="Shape 14"/>
          <p:cNvSpPr/>
          <p:nvPr/>
        </p:nvSpPr>
        <p:spPr>
          <a:xfrm>
            <a:off x="731520" y="4471416"/>
            <a:ext cx="10698480" cy="713232"/>
          </a:xfrm>
          <a:prstGeom prst="roundRect">
            <a:avLst>
              <a:gd name="adj" fmla="val 12821"/>
            </a:avLst>
          </a:prstGeom>
          <a:solidFill>
            <a:srgbClr val="2A3A78"/>
          </a:solidFill>
          <a:ln/>
        </p:spPr>
      </p:sp>
      <p:sp>
        <p:nvSpPr>
          <p:cNvPr id="17" name="Text 15"/>
          <p:cNvSpPr txBox="1"/>
          <p:nvPr/>
        </p:nvSpPr>
        <p:spPr>
          <a:xfrm>
            <a:off x="1005840" y="4471416"/>
            <a:ext cx="2834640" cy="713232"/>
          </a:xfrm>
          <a:prstGeom prst="rect">
            <a:avLst/>
          </a:prstGeom>
          <a:noFill/>
          <a:ln/>
        </p:spPr>
        <p:txBody>
          <a:bodyPr wrap="square" lIns="0" tIns="0" rIns="0" bIns="0" rtlCol="0" anchor="ctr"/>
          <a:lstStyle/>
          <a:p>
            <a:pPr indent="0" marL="0">
              <a:buNone/>
            </a:pPr>
            <a:r>
              <a:rPr lang="en-US" sz="1600" b="1" dirty="0">
                <a:solidFill>
                  <a:srgbClr val="C8A44D"/>
                </a:solidFill>
                <a:latin typeface="Calibri" pitchFamily="34" charset="0"/>
                <a:ea typeface="Calibri" pitchFamily="34" charset="-122"/>
                <a:cs typeface="Calibri" pitchFamily="34" charset="-120"/>
              </a:rPr>
              <a:t>What we do not know</a:t>
            </a:r>
            <a:endParaRPr lang="en-US" sz="1600" dirty="0"/>
          </a:p>
        </p:txBody>
      </p:sp>
      <p:sp>
        <p:nvSpPr>
          <p:cNvPr id="18" name="Text 16"/>
          <p:cNvSpPr txBox="1"/>
          <p:nvPr/>
        </p:nvSpPr>
        <p:spPr>
          <a:xfrm>
            <a:off x="3931920" y="4471416"/>
            <a:ext cx="3474720" cy="713232"/>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Named gaps.</a:t>
            </a:r>
            <a:endParaRPr lang="en-US" sz="1400" dirty="0"/>
          </a:p>
        </p:txBody>
      </p:sp>
      <p:sp>
        <p:nvSpPr>
          <p:cNvPr id="19" name="Text 17"/>
          <p:cNvSpPr txBox="1"/>
          <p:nvPr/>
        </p:nvSpPr>
        <p:spPr>
          <a:xfrm>
            <a:off x="7589520" y="4471416"/>
            <a:ext cx="3657600" cy="713232"/>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Ask about these.</a:t>
            </a:r>
            <a:endParaRPr lang="en-US" sz="1400" dirty="0"/>
          </a:p>
        </p:txBody>
      </p:sp>
      <p:sp>
        <p:nvSpPr>
          <p:cNvPr id="20" name="Text 18"/>
          <p:cNvSpPr txBox="1"/>
          <p:nvPr/>
        </p:nvSpPr>
        <p:spPr>
          <a:xfrm>
            <a:off x="731520" y="5486400"/>
            <a:ext cx="10698480" cy="457200"/>
          </a:xfrm>
          <a:prstGeom prst="rect">
            <a:avLst/>
          </a:prstGeom>
          <a:noFill/>
          <a:ln/>
        </p:spPr>
        <p:txBody>
          <a:bodyPr wrap="square" rtlCol="0" anchor="ctr"/>
          <a:lstStyle/>
          <a:p>
            <a:pPr indent="0" marL="0">
              <a:buNone/>
            </a:pPr>
            <a:r>
              <a:rPr lang="en-US" sz="1800" i="1" dirty="0">
                <a:solidFill>
                  <a:srgbClr val="FFFFFF"/>
                </a:solidFill>
                <a:latin typeface="Cambria" pitchFamily="34" charset="0"/>
                <a:ea typeface="Cambria" pitchFamily="34" charset="-122"/>
                <a:cs typeface="Cambria" pitchFamily="34" charset="-120"/>
              </a:rPr>
              <a:t>If a confidence is missing, the screen refuses to make the claim. Do not repair it by guessing.</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Three things the research does NOT mean</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Getting these backwards is how a call goes wrong in the first ten seconds.</a:t>
            </a:r>
            <a:endParaRPr lang="en-US" sz="1500" dirty="0"/>
          </a:p>
        </p:txBody>
      </p:sp>
      <p:sp>
        <p:nvSpPr>
          <p:cNvPr id="4" name="Shape 2"/>
          <p:cNvSpPr/>
          <p:nvPr/>
        </p:nvSpPr>
        <p:spPr>
          <a:xfrm>
            <a:off x="731520" y="1965960"/>
            <a:ext cx="10698480" cy="960120"/>
          </a:xfrm>
          <a:prstGeom prst="roundRect">
            <a:avLst>
              <a:gd name="adj" fmla="val 11429"/>
            </a:avLst>
          </a:prstGeom>
          <a:solidFill>
            <a:srgbClr val="F4F6FB"/>
          </a:solidFill>
          <a:ln/>
        </p:spPr>
      </p:sp>
      <p:sp>
        <p:nvSpPr>
          <p:cNvPr id="5" name="Text 3"/>
          <p:cNvSpPr txBox="1"/>
          <p:nvPr/>
        </p:nvSpPr>
        <p:spPr>
          <a:xfrm>
            <a:off x="1051560" y="2020824"/>
            <a:ext cx="4206240" cy="822960"/>
          </a:xfrm>
          <a:prstGeom prst="rect">
            <a:avLst/>
          </a:prstGeom>
          <a:noFill/>
          <a:ln/>
        </p:spPr>
        <p:txBody>
          <a:bodyPr wrap="square" lIns="0" tIns="0" rIns="0" bIns="0" rtlCol="0" anchor="ctr"/>
          <a:lstStyle/>
          <a:p>
            <a:pPr indent="0" marL="0">
              <a:buNone/>
            </a:pPr>
            <a:r>
              <a:rPr lang="en-US" sz="1700" b="1" dirty="0">
                <a:solidFill>
                  <a:srgbClr val="8C2F39"/>
                </a:solidFill>
                <a:latin typeface="Calibri" pitchFamily="34" charset="0"/>
                <a:ea typeface="Calibri" pitchFamily="34" charset="-122"/>
                <a:cs typeface="Calibri" pitchFamily="34" charset="-120"/>
              </a:rPr>
              <a:t>A website that will not load</a:t>
            </a:r>
            <a:endParaRPr lang="en-US" sz="1700" dirty="0"/>
          </a:p>
        </p:txBody>
      </p:sp>
      <p:sp>
        <p:nvSpPr>
          <p:cNvPr id="6" name="Text 4"/>
          <p:cNvSpPr txBox="1"/>
          <p:nvPr/>
        </p:nvSpPr>
        <p:spPr>
          <a:xfrm>
            <a:off x="5394960" y="2020824"/>
            <a:ext cx="5760720" cy="822960"/>
          </a:xfrm>
          <a:prstGeom prst="rect">
            <a:avLst/>
          </a:prstGeom>
          <a:noFill/>
          <a:ln/>
        </p:spPr>
        <p:txBody>
          <a:bodyPr wrap="square" lIns="0" tIns="0" rIns="0" bIns="0" rtlCol="0" anchor="ctr"/>
          <a:lstStyle/>
          <a:p>
            <a:pPr indent="0" marL="0">
              <a:buNone/>
            </a:pPr>
            <a:r>
              <a:rPr lang="en-US" sz="1500" dirty="0">
                <a:solidFill>
                  <a:srgbClr val="1B1B1F"/>
                </a:solidFill>
                <a:latin typeface="Calibri" pitchFamily="34" charset="0"/>
                <a:ea typeface="Calibri" pitchFamily="34" charset="-122"/>
                <a:cs typeface="Calibri" pitchFamily="34" charset="-120"/>
              </a:rPr>
              <a:t>is not a business without a website</a:t>
            </a:r>
            <a:endParaRPr lang="en-US" sz="1500" dirty="0"/>
          </a:p>
        </p:txBody>
      </p:sp>
      <p:sp>
        <p:nvSpPr>
          <p:cNvPr id="7" name="Shape 5"/>
          <p:cNvSpPr/>
          <p:nvPr/>
        </p:nvSpPr>
        <p:spPr>
          <a:xfrm>
            <a:off x="731520" y="3108960"/>
            <a:ext cx="10698480" cy="960120"/>
          </a:xfrm>
          <a:prstGeom prst="roundRect">
            <a:avLst>
              <a:gd name="adj" fmla="val 11429"/>
            </a:avLst>
          </a:prstGeom>
          <a:solidFill>
            <a:srgbClr val="F4F6FB"/>
          </a:solidFill>
          <a:ln/>
        </p:spPr>
      </p:sp>
      <p:sp>
        <p:nvSpPr>
          <p:cNvPr id="8" name="Text 6"/>
          <p:cNvSpPr txBox="1"/>
          <p:nvPr/>
        </p:nvSpPr>
        <p:spPr>
          <a:xfrm>
            <a:off x="1051560" y="3163824"/>
            <a:ext cx="4206240" cy="822960"/>
          </a:xfrm>
          <a:prstGeom prst="rect">
            <a:avLst/>
          </a:prstGeom>
          <a:noFill/>
          <a:ln/>
        </p:spPr>
        <p:txBody>
          <a:bodyPr wrap="square" lIns="0" tIns="0" rIns="0" bIns="0" rtlCol="0" anchor="ctr"/>
          <a:lstStyle/>
          <a:p>
            <a:pPr indent="0" marL="0">
              <a:buNone/>
            </a:pPr>
            <a:r>
              <a:rPr lang="en-US" sz="1700" b="1" dirty="0">
                <a:solidFill>
                  <a:srgbClr val="8C2F39"/>
                </a:solidFill>
                <a:latin typeface="Calibri" pitchFamily="34" charset="0"/>
                <a:ea typeface="Calibri" pitchFamily="34" charset="-122"/>
                <a:cs typeface="Calibri" pitchFamily="34" charset="-120"/>
              </a:rPr>
              <a:t>A page with no links</a:t>
            </a:r>
            <a:endParaRPr lang="en-US" sz="1700" dirty="0"/>
          </a:p>
        </p:txBody>
      </p:sp>
      <p:sp>
        <p:nvSpPr>
          <p:cNvPr id="9" name="Text 7"/>
          <p:cNvSpPr txBox="1"/>
          <p:nvPr/>
        </p:nvSpPr>
        <p:spPr>
          <a:xfrm>
            <a:off x="5394960" y="3163824"/>
            <a:ext cx="5760720" cy="822960"/>
          </a:xfrm>
          <a:prstGeom prst="rect">
            <a:avLst/>
          </a:prstGeom>
          <a:noFill/>
          <a:ln/>
        </p:spPr>
        <p:txBody>
          <a:bodyPr wrap="square" lIns="0" tIns="0" rIns="0" bIns="0" rtlCol="0" anchor="ctr"/>
          <a:lstStyle/>
          <a:p>
            <a:pPr indent="0" marL="0">
              <a:buNone/>
            </a:pPr>
            <a:r>
              <a:rPr lang="en-US" sz="1500" dirty="0">
                <a:solidFill>
                  <a:srgbClr val="1B1B1F"/>
                </a:solidFill>
                <a:latin typeface="Calibri" pitchFamily="34" charset="0"/>
                <a:ea typeface="Calibri" pitchFamily="34" charset="-122"/>
                <a:cs typeface="Calibri" pitchFamily="34" charset="-120"/>
              </a:rPr>
              <a:t>is not proof they offer nothing — it is usually a site our crawler cannot read</a:t>
            </a:r>
            <a:endParaRPr lang="en-US" sz="1500" dirty="0"/>
          </a:p>
        </p:txBody>
      </p:sp>
      <p:sp>
        <p:nvSpPr>
          <p:cNvPr id="10" name="Shape 8"/>
          <p:cNvSpPr/>
          <p:nvPr/>
        </p:nvSpPr>
        <p:spPr>
          <a:xfrm>
            <a:off x="731520" y="4251960"/>
            <a:ext cx="10698480" cy="960120"/>
          </a:xfrm>
          <a:prstGeom prst="roundRect">
            <a:avLst>
              <a:gd name="adj" fmla="val 11429"/>
            </a:avLst>
          </a:prstGeom>
          <a:solidFill>
            <a:srgbClr val="F4F6FB"/>
          </a:solidFill>
          <a:ln/>
        </p:spPr>
      </p:sp>
      <p:sp>
        <p:nvSpPr>
          <p:cNvPr id="11" name="Text 9"/>
          <p:cNvSpPr txBox="1"/>
          <p:nvPr/>
        </p:nvSpPr>
        <p:spPr>
          <a:xfrm>
            <a:off x="1051560" y="4306824"/>
            <a:ext cx="4206240" cy="822960"/>
          </a:xfrm>
          <a:prstGeom prst="rect">
            <a:avLst/>
          </a:prstGeom>
          <a:noFill/>
          <a:ln/>
        </p:spPr>
        <p:txBody>
          <a:bodyPr wrap="square" lIns="0" tIns="0" rIns="0" bIns="0" rtlCol="0" anchor="ctr"/>
          <a:lstStyle/>
          <a:p>
            <a:pPr indent="0" marL="0">
              <a:buNone/>
            </a:pPr>
            <a:r>
              <a:rPr lang="en-US" sz="1700" b="1" dirty="0">
                <a:solidFill>
                  <a:srgbClr val="8C2F39"/>
                </a:solidFill>
                <a:latin typeface="Calibri" pitchFamily="34" charset="0"/>
                <a:ea typeface="Calibri" pitchFamily="34" charset="-122"/>
                <a:cs typeface="Calibri" pitchFamily="34" charset="-120"/>
              </a:rPr>
              <a:t>“We could not look today”</a:t>
            </a:r>
            <a:endParaRPr lang="en-US" sz="1700" dirty="0"/>
          </a:p>
        </p:txBody>
      </p:sp>
      <p:sp>
        <p:nvSpPr>
          <p:cNvPr id="12" name="Text 10"/>
          <p:cNvSpPr txBox="1"/>
          <p:nvPr/>
        </p:nvSpPr>
        <p:spPr>
          <a:xfrm>
            <a:off x="5394960" y="4306824"/>
            <a:ext cx="5760720" cy="822960"/>
          </a:xfrm>
          <a:prstGeom prst="rect">
            <a:avLst/>
          </a:prstGeom>
          <a:noFill/>
          <a:ln/>
        </p:spPr>
        <p:txBody>
          <a:bodyPr wrap="square" lIns="0" tIns="0" rIns="0" bIns="0" rtlCol="0" anchor="ctr"/>
          <a:lstStyle/>
          <a:p>
            <a:pPr indent="0" marL="0">
              <a:buNone/>
            </a:pPr>
            <a:r>
              <a:rPr lang="en-US" sz="1500" dirty="0">
                <a:solidFill>
                  <a:srgbClr val="1B1B1F"/>
                </a:solidFill>
                <a:latin typeface="Calibri" pitchFamily="34" charset="0"/>
                <a:ea typeface="Calibri" pitchFamily="34" charset="-122"/>
                <a:cs typeface="Calibri" pitchFamily="34" charset="-120"/>
              </a:rPr>
              <a:t>never overwrites what we saw last week</a:t>
            </a:r>
            <a:endParaRPr lang="en-US" sz="1500" dirty="0"/>
          </a:p>
        </p:txBody>
      </p:sp>
      <p:sp>
        <p:nvSpPr>
          <p:cNvPr id="13" name="Text 11"/>
          <p:cNvSpPr txBox="1"/>
          <p:nvPr/>
        </p:nvSpPr>
        <p:spPr>
          <a:xfrm>
            <a:off x="731520" y="5440680"/>
            <a:ext cx="10698480" cy="457200"/>
          </a:xfrm>
          <a:prstGeom prst="rect">
            <a:avLst/>
          </a:prstGeom>
          <a:noFill/>
          <a:ln/>
        </p:spPr>
        <p:txBody>
          <a:bodyPr wrap="square" rtlCol="0" anchor="ctr"/>
          <a:lstStyle/>
          <a:p>
            <a:pPr indent="0" marL="0">
              <a:buNone/>
            </a:pPr>
            <a:r>
              <a:rPr lang="en-US" sz="1500" i="1" dirty="0">
                <a:solidFill>
                  <a:srgbClr val="1E2761"/>
                </a:solidFill>
                <a:latin typeface="Calibri" pitchFamily="34" charset="0"/>
                <a:ea typeface="Calibri" pitchFamily="34" charset="-122"/>
                <a:cs typeface="Calibri" pitchFamily="34" charset="-120"/>
              </a:rPr>
              <a:t>A capability marked false is a real observation. Null means we did not find out — they are not the same thing.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The hours you may ring — the screen works them out</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There is no one window. Whose rule applies depends on where THEY are, and it is read on their clock.</a:t>
            </a:r>
            <a:endParaRPr lang="en-US" sz="1500" dirty="0"/>
          </a:p>
        </p:txBody>
      </p:sp>
      <p:sp>
        <p:nvSpPr>
          <p:cNvPr id="4" name="Shape 2"/>
          <p:cNvSpPr/>
          <p:nvPr/>
        </p:nvSpPr>
        <p:spPr>
          <a:xfrm>
            <a:off x="731520" y="1874520"/>
            <a:ext cx="5120640" cy="1600200"/>
          </a:xfrm>
          <a:prstGeom prst="roundRect">
            <a:avLst>
              <a:gd name="adj" fmla="val 8000"/>
            </a:avLst>
          </a:prstGeom>
          <a:solidFill>
            <a:srgbClr val="F4F6FB"/>
          </a:solidFill>
          <a:ln/>
        </p:spPr>
      </p:sp>
      <p:sp>
        <p:nvSpPr>
          <p:cNvPr id="5" name="Text 3"/>
          <p:cNvSpPr txBox="1"/>
          <p:nvPr/>
        </p:nvSpPr>
        <p:spPr>
          <a:xfrm>
            <a:off x="1024128" y="2057400"/>
            <a:ext cx="4572000" cy="12801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Canada, every province
</a:t>
            </a:r>
            <a:pPr indent="0" marL="0">
              <a:buNone/>
            </a:pPr>
            <a:r>
              <a:rPr lang="en-US" sz="2100" b="1" dirty="0">
                <a:solidFill>
                  <a:srgbClr val="1E2761"/>
                </a:solidFill>
                <a:latin typeface="Cambria" pitchFamily="34" charset="0"/>
                <a:ea typeface="Cambria" pitchFamily="34" charset="-122"/>
                <a:cs typeface="Cambria" pitchFamily="34" charset="-120"/>
              </a:rPr>
              <a:t>09:00 – 21:30 weekdays
</a:t>
            </a:r>
            <a:pPr indent="0" marL="0">
              <a:buNone/>
            </a:pPr>
            <a:r>
              <a:rPr lang="en-US" sz="1600" b="1" dirty="0">
                <a:solidFill>
                  <a:srgbClr val="1E2761"/>
                </a:solidFill>
                <a:latin typeface="Cambria" pitchFamily="34" charset="0"/>
                <a:ea typeface="Cambria" pitchFamily="34" charset="-122"/>
                <a:cs typeface="Cambria" pitchFamily="34" charset="-120"/>
              </a:rPr>
              <a:t>10:00 – 18:00 weekends</a:t>
            </a:r>
            <a:endParaRPr lang="en-US" sz="1400" dirty="0"/>
          </a:p>
        </p:txBody>
      </p:sp>
      <p:sp>
        <p:nvSpPr>
          <p:cNvPr id="6" name="Shape 4"/>
          <p:cNvSpPr/>
          <p:nvPr/>
        </p:nvSpPr>
        <p:spPr>
          <a:xfrm>
            <a:off x="6309360" y="1874520"/>
            <a:ext cx="5120640" cy="1600200"/>
          </a:xfrm>
          <a:prstGeom prst="roundRect">
            <a:avLst>
              <a:gd name="adj" fmla="val 8000"/>
            </a:avLst>
          </a:prstGeom>
          <a:solidFill>
            <a:srgbClr val="F4F6FB"/>
          </a:solidFill>
          <a:ln/>
        </p:spPr>
      </p:sp>
      <p:sp>
        <p:nvSpPr>
          <p:cNvPr id="7" name="Text 5"/>
          <p:cNvSpPr txBox="1"/>
          <p:nvPr/>
        </p:nvSpPr>
        <p:spPr>
          <a:xfrm>
            <a:off x="6601968" y="2057400"/>
            <a:ext cx="4572000" cy="12801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The commonest US state window
</a:t>
            </a:r>
            <a:pPr indent="0" marL="0">
              <a:buNone/>
            </a:pPr>
            <a:r>
              <a:rPr lang="en-US" sz="2100" b="1" dirty="0">
                <a:solidFill>
                  <a:srgbClr val="1E2761"/>
                </a:solidFill>
                <a:latin typeface="Cambria" pitchFamily="34" charset="0"/>
                <a:ea typeface="Cambria" pitchFamily="34" charset="-122"/>
                <a:cs typeface="Cambria" pitchFamily="34" charset="-120"/>
              </a:rPr>
              <a:t>08:00 – 21:00
</a:t>
            </a:r>
            <a:pPr indent="0" marL="0">
              <a:buNone/>
            </a:pPr>
            <a:r>
              <a:rPr lang="en-US" sz="1150" dirty="0">
                <a:solidFill>
                  <a:srgbClr val="5A6070"/>
                </a:solidFill>
                <a:latin typeface="Calibri" pitchFamily="34" charset="0"/>
                <a:ea typeface="Calibri" pitchFamily="34" charset="-122"/>
                <a:cs typeface="Calibri" pitchFamily="34" charset="-120"/>
              </a:rPr>
              <a:t>Several are narrower. Arizona forbids the call outright. Nevada imposes none, so our own 08:00–20:00 applies — and the screen says it is OUR rule, not the state's.</a:t>
            </a:r>
            <a:endParaRPr lang="en-US" sz="1400" dirty="0"/>
          </a:p>
        </p:txBody>
      </p:sp>
      <p:sp>
        <p:nvSpPr>
          <p:cNvPr id="8" name="Shape 6"/>
          <p:cNvSpPr/>
          <p:nvPr/>
        </p:nvSpPr>
        <p:spPr>
          <a:xfrm>
            <a:off x="731520" y="3657600"/>
            <a:ext cx="10698480" cy="694944"/>
          </a:xfrm>
          <a:prstGeom prst="rect">
            <a:avLst/>
          </a:prstGeom>
          <a:solidFill>
            <a:srgbClr val="F4F6FB"/>
          </a:solidFill>
          <a:ln/>
        </p:spPr>
      </p:sp>
      <p:sp>
        <p:nvSpPr>
          <p:cNvPr id="9" name="Text 7"/>
          <p:cNvSpPr txBox="1"/>
          <p:nvPr/>
        </p:nvSpPr>
        <p:spPr>
          <a:xfrm>
            <a:off x="960120" y="3657600"/>
            <a:ext cx="3108960" cy="694944"/>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You do not do this maths</a:t>
            </a:r>
            <a:endParaRPr lang="en-US" sz="1400" dirty="0"/>
          </a:p>
        </p:txBody>
      </p:sp>
      <p:sp>
        <p:nvSpPr>
          <p:cNvPr id="10" name="Text 8"/>
          <p:cNvSpPr txBox="1"/>
          <p:nvPr/>
        </p:nvSpPr>
        <p:spPr>
          <a:xfrm>
            <a:off x="4206240" y="3657600"/>
            <a:ext cx="6949440" cy="694944"/>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It reads their country and state, converts to their clock, and decides. Outside the window there is no dial control — not greyed out, gone.</a:t>
            </a:r>
            <a:endParaRPr lang="en-US" sz="1200" dirty="0"/>
          </a:p>
        </p:txBody>
      </p:sp>
      <p:sp>
        <p:nvSpPr>
          <p:cNvPr id="11" name="Shape 9"/>
          <p:cNvSpPr/>
          <p:nvPr/>
        </p:nvSpPr>
        <p:spPr>
          <a:xfrm>
            <a:off x="731520" y="4434840"/>
            <a:ext cx="10698480" cy="694944"/>
          </a:xfrm>
          <a:prstGeom prst="rect">
            <a:avLst/>
          </a:prstGeom>
          <a:solidFill>
            <a:srgbClr val="F4F6FB"/>
          </a:solidFill>
          <a:ln/>
        </p:spPr>
      </p:sp>
      <p:sp>
        <p:nvSpPr>
          <p:cNvPr id="12" name="Text 10"/>
          <p:cNvSpPr txBox="1"/>
          <p:nvPr/>
        </p:nvSpPr>
        <p:spPr>
          <a:xfrm>
            <a:off x="960120" y="4434840"/>
            <a:ext cx="3108960" cy="694944"/>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server checks again</a:t>
            </a:r>
            <a:endParaRPr lang="en-US" sz="1400" dirty="0"/>
          </a:p>
        </p:txBody>
      </p:sp>
      <p:sp>
        <p:nvSpPr>
          <p:cNvPr id="13" name="Text 11"/>
          <p:cNvSpPr txBox="1"/>
          <p:nvPr/>
        </p:nvSpPr>
        <p:spPr>
          <a:xfrm>
            <a:off x="4206240" y="4434840"/>
            <a:ext cx="6949440" cy="694944"/>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Pressing Call re-reads the whole decision from the database, so a screen you left open an hour ago cannot authorise anything.</a:t>
            </a:r>
            <a:endParaRPr lang="en-US" sz="1200" dirty="0"/>
          </a:p>
        </p:txBody>
      </p:sp>
      <p:sp>
        <p:nvSpPr>
          <p:cNvPr id="14" name="Shape 12"/>
          <p:cNvSpPr/>
          <p:nvPr/>
        </p:nvSpPr>
        <p:spPr>
          <a:xfrm>
            <a:off x="731520" y="5212080"/>
            <a:ext cx="10698480" cy="694944"/>
          </a:xfrm>
          <a:prstGeom prst="rect">
            <a:avLst/>
          </a:prstGeom>
          <a:solidFill>
            <a:srgbClr val="F4F6FB"/>
          </a:solidFill>
          <a:ln/>
        </p:spPr>
      </p:sp>
      <p:sp>
        <p:nvSpPr>
          <p:cNvPr id="15" name="Text 13"/>
          <p:cNvSpPr txBox="1"/>
          <p:nvPr/>
        </p:nvSpPr>
        <p:spPr>
          <a:xfrm>
            <a:off x="960120" y="5212080"/>
            <a:ext cx="3108960" cy="694944"/>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Some refusals are honest ignorance</a:t>
            </a:r>
            <a:endParaRPr lang="en-US" sz="1400" dirty="0"/>
          </a:p>
        </p:txBody>
      </p:sp>
      <p:sp>
        <p:nvSpPr>
          <p:cNvPr id="16" name="Text 14"/>
          <p:cNvSpPr txBox="1"/>
          <p:nvPr/>
        </p:nvSpPr>
        <p:spPr>
          <a:xfrm>
            <a:off x="4206240" y="5212080"/>
            <a:ext cx="6949440" cy="694944"/>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Two states have not been read to our standard, and an unread rule says “we cannot confirm this is allowed” rather than defaulting to yes.</a:t>
            </a:r>
            <a:endParaRPr lang="en-US" sz="1200" dirty="0"/>
          </a:p>
        </p:txBody>
      </p:sp>
      <p:sp>
        <p:nvSpPr>
          <p:cNvPr id="17" name="Shape 15"/>
          <p:cNvSpPr/>
          <p:nvPr/>
        </p:nvSpPr>
        <p:spPr>
          <a:xfrm>
            <a:off x="731520" y="5989320"/>
            <a:ext cx="10698480" cy="694944"/>
          </a:xfrm>
          <a:prstGeom prst="rect">
            <a:avLst/>
          </a:prstGeom>
          <a:solidFill>
            <a:srgbClr val="F4F6FB"/>
          </a:solidFill>
          <a:ln/>
        </p:spPr>
      </p:sp>
      <p:sp>
        <p:nvSpPr>
          <p:cNvPr id="18" name="Text 16"/>
          <p:cNvSpPr txBox="1"/>
          <p:nvPr/>
        </p:nvSpPr>
        <p:spPr>
          <a:xfrm>
            <a:off x="960120" y="5989320"/>
            <a:ext cx="3108960" cy="694944"/>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Two things it cannot do for you</a:t>
            </a:r>
            <a:endParaRPr lang="en-US" sz="1400" dirty="0"/>
          </a:p>
        </p:txBody>
      </p:sp>
      <p:sp>
        <p:nvSpPr>
          <p:cNvPr id="19" name="Text 17"/>
          <p:cNvSpPr txBox="1"/>
          <p:nvPr/>
        </p:nvSpPr>
        <p:spPr>
          <a:xfrm>
            <a:off x="4206240" y="5989320"/>
            <a:ext cx="6949440" cy="694944"/>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Oklahoma and Florida cap you at three calls to one business in 24 hours, and nothing counts them yet. Alabama and Rhode Island also ban holidays.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Placing a call</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Everything happens on one screen. You never leave the record.</a:t>
            </a:r>
            <a:endParaRPr lang="en-US" sz="1500" dirty="0"/>
          </a:p>
        </p:txBody>
      </p:sp>
      <p:sp>
        <p:nvSpPr>
          <p:cNvPr id="4" name="Shape 2"/>
          <p:cNvSpPr/>
          <p:nvPr/>
        </p:nvSpPr>
        <p:spPr>
          <a:xfrm>
            <a:off x="731520" y="2057400"/>
            <a:ext cx="384048" cy="384048"/>
          </a:xfrm>
          <a:prstGeom prst="ellipse">
            <a:avLst/>
          </a:prstGeom>
          <a:solidFill>
            <a:srgbClr val="1E2761"/>
          </a:solidFill>
          <a:ln/>
        </p:spPr>
      </p:sp>
      <p:sp>
        <p:nvSpPr>
          <p:cNvPr id="5" name="Text 3"/>
          <p:cNvSpPr txBox="1"/>
          <p:nvPr/>
        </p:nvSpPr>
        <p:spPr>
          <a:xfrm>
            <a:off x="731520" y="20574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53312" y="2002536"/>
            <a:ext cx="3017520" cy="502920"/>
          </a:xfrm>
          <a:prstGeom prst="rect">
            <a:avLst/>
          </a:prstGeom>
          <a:noFill/>
          <a:ln/>
        </p:spPr>
        <p:txBody>
          <a:bodyPr wrap="square" lIns="0" tIns="0" rIns="0" bIns="0" rtlCol="0" anchor="ctr"/>
          <a:lstStyle/>
          <a:p>
            <a:pPr indent="0" marL="0">
              <a:buNone/>
            </a:pPr>
            <a:r>
              <a:rPr lang="en-US" sz="1500" b="1" dirty="0">
                <a:solidFill>
                  <a:srgbClr val="1B1B1F"/>
                </a:solidFill>
                <a:latin typeface="Calibri" pitchFamily="34" charset="0"/>
                <a:ea typeface="Calibri" pitchFamily="34" charset="-122"/>
                <a:cs typeface="Calibri" pitchFamily="34" charset="-120"/>
              </a:rPr>
              <a:t>Claim one</a:t>
            </a:r>
            <a:endParaRPr lang="en-US" sz="1500" dirty="0"/>
          </a:p>
        </p:txBody>
      </p:sp>
      <p:sp>
        <p:nvSpPr>
          <p:cNvPr id="7" name="Text 5"/>
          <p:cNvSpPr txBox="1"/>
          <p:nvPr/>
        </p:nvSpPr>
        <p:spPr>
          <a:xfrm>
            <a:off x="4434840" y="2002536"/>
            <a:ext cx="6812280" cy="50292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One at a time. A claim stops every other rep phoning the same business — that is what makes it fair.</a:t>
            </a:r>
            <a:endParaRPr lang="en-US" sz="1250" dirty="0"/>
          </a:p>
        </p:txBody>
      </p:sp>
      <p:sp>
        <p:nvSpPr>
          <p:cNvPr id="8" name="Shape 6"/>
          <p:cNvSpPr/>
          <p:nvPr/>
        </p:nvSpPr>
        <p:spPr>
          <a:xfrm>
            <a:off x="731520" y="2743200"/>
            <a:ext cx="384048" cy="384048"/>
          </a:xfrm>
          <a:prstGeom prst="ellipse">
            <a:avLst/>
          </a:prstGeom>
          <a:solidFill>
            <a:srgbClr val="1E2761"/>
          </a:solidFill>
          <a:ln/>
        </p:spPr>
      </p:sp>
      <p:sp>
        <p:nvSpPr>
          <p:cNvPr id="9" name="Text 7"/>
          <p:cNvSpPr txBox="1"/>
          <p:nvPr/>
        </p:nvSpPr>
        <p:spPr>
          <a:xfrm>
            <a:off x="731520" y="2743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353312" y="2688336"/>
            <a:ext cx="3017520" cy="502920"/>
          </a:xfrm>
          <a:prstGeom prst="rect">
            <a:avLst/>
          </a:prstGeom>
          <a:noFill/>
          <a:ln/>
        </p:spPr>
        <p:txBody>
          <a:bodyPr wrap="square" lIns="0" tIns="0" rIns="0" bIns="0" rtlCol="0" anchor="ctr"/>
          <a:lstStyle/>
          <a:p>
            <a:pPr indent="0" marL="0">
              <a:buNone/>
            </a:pPr>
            <a:r>
              <a:rPr lang="en-US" sz="1500" b="1" dirty="0">
                <a:solidFill>
                  <a:srgbClr val="1B1B1F"/>
                </a:solidFill>
                <a:latin typeface="Calibri" pitchFamily="34" charset="0"/>
                <a:ea typeface="Calibri" pitchFamily="34" charset="-122"/>
                <a:cs typeface="Calibri" pitchFamily="34" charset="-120"/>
              </a:rPr>
              <a:t>Read all four layers first</a:t>
            </a:r>
            <a:endParaRPr lang="en-US" sz="1500" dirty="0"/>
          </a:p>
        </p:txBody>
      </p:sp>
      <p:sp>
        <p:nvSpPr>
          <p:cNvPr id="11" name="Text 9"/>
          <p:cNvSpPr txBox="1"/>
          <p:nvPr/>
        </p:nvSpPr>
        <p:spPr>
          <a:xfrm>
            <a:off x="4434840" y="2688336"/>
            <a:ext cx="6812280" cy="50292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Fact, inference, what to pitch, and what we do not know. Never repair a missing one by guessing on the call.</a:t>
            </a:r>
            <a:endParaRPr lang="en-US" sz="1250" dirty="0"/>
          </a:p>
        </p:txBody>
      </p:sp>
      <p:sp>
        <p:nvSpPr>
          <p:cNvPr id="12" name="Shape 10"/>
          <p:cNvSpPr/>
          <p:nvPr/>
        </p:nvSpPr>
        <p:spPr>
          <a:xfrm>
            <a:off x="731520" y="3429000"/>
            <a:ext cx="384048" cy="384048"/>
          </a:xfrm>
          <a:prstGeom prst="ellipse">
            <a:avLst/>
          </a:prstGeom>
          <a:solidFill>
            <a:srgbClr val="1E2761"/>
          </a:solidFill>
          <a:ln/>
        </p:spPr>
      </p:sp>
      <p:sp>
        <p:nvSpPr>
          <p:cNvPr id="13" name="Text 11"/>
          <p:cNvSpPr txBox="1"/>
          <p:nvPr/>
        </p:nvSpPr>
        <p:spPr>
          <a:xfrm>
            <a:off x="731520" y="34290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53312" y="3374136"/>
            <a:ext cx="3017520" cy="502920"/>
          </a:xfrm>
          <a:prstGeom prst="rect">
            <a:avLst/>
          </a:prstGeom>
          <a:noFill/>
          <a:ln/>
        </p:spPr>
        <p:txBody>
          <a:bodyPr wrap="square" lIns="0" tIns="0" rIns="0" bIns="0" rtlCol="0" anchor="ctr"/>
          <a:lstStyle/>
          <a:p>
            <a:pPr indent="0" marL="0">
              <a:buNone/>
            </a:pPr>
            <a:r>
              <a:rPr lang="en-US" sz="1500" b="1" dirty="0">
                <a:solidFill>
                  <a:srgbClr val="1B1B1F"/>
                </a:solidFill>
                <a:latin typeface="Calibri" pitchFamily="34" charset="0"/>
                <a:ea typeface="Calibri" pitchFamily="34" charset="-122"/>
                <a:cs typeface="Calibri" pitchFamily="34" charset="-120"/>
              </a:rPr>
              <a:t>Press Call</a:t>
            </a:r>
            <a:endParaRPr lang="en-US" sz="1500" dirty="0"/>
          </a:p>
        </p:txBody>
      </p:sp>
      <p:sp>
        <p:nvSpPr>
          <p:cNvPr id="15" name="Text 13"/>
          <p:cNvSpPr txBox="1"/>
          <p:nvPr/>
        </p:nvSpPr>
        <p:spPr>
          <a:xfrm>
            <a:off x="4434840" y="3374136"/>
            <a:ext cx="6812280" cy="50292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It rings in your browser. They see a FieldQuo number matched to their area code, and the screen shows you which.</a:t>
            </a:r>
            <a:endParaRPr lang="en-US" sz="1250" dirty="0"/>
          </a:p>
        </p:txBody>
      </p:sp>
      <p:sp>
        <p:nvSpPr>
          <p:cNvPr id="16" name="Shape 14"/>
          <p:cNvSpPr/>
          <p:nvPr/>
        </p:nvSpPr>
        <p:spPr>
          <a:xfrm>
            <a:off x="731520" y="4114800"/>
            <a:ext cx="384048" cy="384048"/>
          </a:xfrm>
          <a:prstGeom prst="ellipse">
            <a:avLst/>
          </a:prstGeom>
          <a:solidFill>
            <a:srgbClr val="1E2761"/>
          </a:solidFill>
          <a:ln/>
        </p:spPr>
      </p:sp>
      <p:sp>
        <p:nvSpPr>
          <p:cNvPr id="17" name="Text 15"/>
          <p:cNvSpPr txBox="1"/>
          <p:nvPr/>
        </p:nvSpPr>
        <p:spPr>
          <a:xfrm>
            <a:off x="731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353312" y="4059936"/>
            <a:ext cx="3017520" cy="502920"/>
          </a:xfrm>
          <a:prstGeom prst="rect">
            <a:avLst/>
          </a:prstGeom>
          <a:noFill/>
          <a:ln/>
        </p:spPr>
        <p:txBody>
          <a:bodyPr wrap="square" lIns="0" tIns="0" rIns="0" bIns="0" rtlCol="0" anchor="ctr"/>
          <a:lstStyle/>
          <a:p>
            <a:pPr indent="0" marL="0">
              <a:buNone/>
            </a:pPr>
            <a:r>
              <a:rPr lang="en-US" sz="1500" b="1" dirty="0">
                <a:solidFill>
                  <a:srgbClr val="1B1B1F"/>
                </a:solidFill>
                <a:latin typeface="Calibri" pitchFamily="34" charset="0"/>
                <a:ea typeface="Calibri" pitchFamily="34" charset="-122"/>
                <a:cs typeface="Calibri" pitchFamily="34" charset="-120"/>
              </a:rPr>
              <a:t>Say who you are, and the number</a:t>
            </a:r>
            <a:endParaRPr lang="en-US" sz="1500" dirty="0"/>
          </a:p>
        </p:txBody>
      </p:sp>
      <p:sp>
        <p:nvSpPr>
          <p:cNvPr id="19" name="Text 17"/>
          <p:cNvSpPr txBox="1"/>
          <p:nvPr/>
        </p:nvSpPr>
        <p:spPr>
          <a:xfrm>
            <a:off x="4434840" y="4059936"/>
            <a:ext cx="6812280" cy="50292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Required, every call. The screen shows the number being presented so you can read it out.</a:t>
            </a:r>
            <a:endParaRPr lang="en-US" sz="1250" dirty="0"/>
          </a:p>
        </p:txBody>
      </p:sp>
      <p:sp>
        <p:nvSpPr>
          <p:cNvPr id="20" name="Shape 18"/>
          <p:cNvSpPr/>
          <p:nvPr/>
        </p:nvSpPr>
        <p:spPr>
          <a:xfrm>
            <a:off x="731520" y="4800600"/>
            <a:ext cx="384048" cy="384048"/>
          </a:xfrm>
          <a:prstGeom prst="ellipse">
            <a:avLst/>
          </a:prstGeom>
          <a:solidFill>
            <a:srgbClr val="1E2761"/>
          </a:solidFill>
          <a:ln/>
        </p:spPr>
      </p:sp>
      <p:sp>
        <p:nvSpPr>
          <p:cNvPr id="21" name="Text 19"/>
          <p:cNvSpPr txBox="1"/>
          <p:nvPr/>
        </p:nvSpPr>
        <p:spPr>
          <a:xfrm>
            <a:off x="731520" y="4800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353312" y="4745736"/>
            <a:ext cx="3017520" cy="502920"/>
          </a:xfrm>
          <a:prstGeom prst="rect">
            <a:avLst/>
          </a:prstGeom>
          <a:noFill/>
          <a:ln/>
        </p:spPr>
        <p:txBody>
          <a:bodyPr wrap="square" lIns="0" tIns="0" rIns="0" bIns="0" rtlCol="0" anchor="ctr"/>
          <a:lstStyle/>
          <a:p>
            <a:pPr indent="0" marL="0">
              <a:buNone/>
            </a:pPr>
            <a:r>
              <a:rPr lang="en-US" sz="1500" b="1" dirty="0">
                <a:solidFill>
                  <a:srgbClr val="1B1B1F"/>
                </a:solidFill>
                <a:latin typeface="Calibri" pitchFamily="34" charset="0"/>
                <a:ea typeface="Calibri" pitchFamily="34" charset="-122"/>
                <a:cs typeface="Calibri" pitchFamily="34" charset="-120"/>
              </a:rPr>
              <a:t>Type while they talk</a:t>
            </a:r>
            <a:endParaRPr lang="en-US" sz="1500" dirty="0"/>
          </a:p>
        </p:txBody>
      </p:sp>
      <p:sp>
        <p:nvSpPr>
          <p:cNvPr id="23" name="Text 21"/>
          <p:cNvSpPr txBox="1"/>
          <p:nvPr/>
        </p:nvSpPr>
        <p:spPr>
          <a:xfrm>
            <a:off x="4434840" y="4745736"/>
            <a:ext cx="6812280" cy="50292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The note box sits beside the dial, and the playbook beside that. A note written afterwards is a summary of a memory.</a:t>
            </a:r>
            <a:endParaRPr lang="en-US" sz="1250" dirty="0"/>
          </a:p>
        </p:txBody>
      </p:sp>
      <p:sp>
        <p:nvSpPr>
          <p:cNvPr id="24" name="Shape 22"/>
          <p:cNvSpPr/>
          <p:nvPr/>
        </p:nvSpPr>
        <p:spPr>
          <a:xfrm>
            <a:off x="731520" y="5486400"/>
            <a:ext cx="384048" cy="384048"/>
          </a:xfrm>
          <a:prstGeom prst="ellipse">
            <a:avLst/>
          </a:prstGeom>
          <a:solidFill>
            <a:srgbClr val="C8A44D"/>
          </a:solidFill>
          <a:ln/>
        </p:spPr>
      </p:sp>
      <p:sp>
        <p:nvSpPr>
          <p:cNvPr id="25" name="Text 23"/>
          <p:cNvSpPr txBox="1"/>
          <p:nvPr/>
        </p:nvSpPr>
        <p:spPr>
          <a:xfrm>
            <a:off x="731520" y="5486400"/>
            <a:ext cx="384048" cy="384048"/>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353312" y="5431536"/>
            <a:ext cx="3017520" cy="502920"/>
          </a:xfrm>
          <a:prstGeom prst="rect">
            <a:avLst/>
          </a:prstGeom>
          <a:noFill/>
          <a:ln/>
        </p:spPr>
        <p:txBody>
          <a:bodyPr wrap="square" lIns="0" tIns="0" rIns="0" bIns="0" rtlCol="0" anchor="ctr"/>
          <a:lstStyle/>
          <a:p>
            <a:pPr indent="0" marL="0">
              <a:buNone/>
            </a:pPr>
            <a:r>
              <a:rPr lang="en-US" sz="1500" b="1" dirty="0">
                <a:solidFill>
                  <a:srgbClr val="1B1B1F"/>
                </a:solidFill>
                <a:latin typeface="Calibri" pitchFamily="34" charset="0"/>
                <a:ea typeface="Calibri" pitchFamily="34" charset="-122"/>
                <a:cs typeface="Calibri" pitchFamily="34" charset="-120"/>
              </a:rPr>
              <a:t>Close the claim out</a:t>
            </a:r>
            <a:endParaRPr lang="en-US" sz="1500" dirty="0"/>
          </a:p>
        </p:txBody>
      </p:sp>
      <p:sp>
        <p:nvSpPr>
          <p:cNvPr id="27" name="Text 25"/>
          <p:cNvSpPr txBox="1"/>
          <p:nvPr/>
        </p:nvSpPr>
        <p:spPr>
          <a:xfrm>
            <a:off x="4434840" y="5431536"/>
            <a:ext cx="6812280" cy="50292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Pick what happened from the list. Some choices will not save without the note first.</a:t>
            </a:r>
            <a:endParaRPr lang="en-US" sz="1250" dirty="0"/>
          </a:p>
        </p:txBody>
      </p:sp>
      <p:sp>
        <p:nvSpPr>
          <p:cNvPr id="28" name="Text 26"/>
          <p:cNvSpPr txBox="1"/>
          <p:nvPr/>
        </p:nvSpPr>
        <p:spPr>
          <a:xfrm>
            <a:off x="731520" y="5989320"/>
            <a:ext cx="10698480" cy="502920"/>
          </a:xfrm>
          <a:prstGeom prst="rect">
            <a:avLst/>
          </a:prstGeom>
          <a:noFill/>
          <a:ln/>
        </p:spPr>
        <p:txBody>
          <a:bodyPr wrap="square" rtlCol="0" anchor="ctr"/>
          <a:lstStyle/>
          <a:p>
            <a:pPr indent="0" marL="0">
              <a:buNone/>
            </a:pPr>
            <a:r>
              <a:rPr lang="en-US" sz="1600" i="1" dirty="0">
                <a:solidFill>
                  <a:srgbClr val="1E2761"/>
                </a:solidFill>
                <a:latin typeface="Cambria" pitchFamily="34" charset="0"/>
                <a:ea typeface="Cambria" pitchFamily="34" charset="-122"/>
                <a:cs typeface="Cambria" pitchFamily="34" charset="-120"/>
              </a:rPr>
              <a:t>Ten ways a call can end, and the screen keeps the unfinished one in front of you until you say which it was. Calls are never recorded — that is consent law, not a setting.</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822960"/>
            <a:ext cx="1069848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When they ring you back</a:t>
            </a:r>
            <a:endParaRPr lang="en-US" sz="3400" dirty="0"/>
          </a:p>
        </p:txBody>
      </p:sp>
      <p:sp>
        <p:nvSpPr>
          <p:cNvPr id="3" name="Text 1"/>
          <p:cNvSpPr txBox="1"/>
          <p:nvPr/>
        </p:nvSpPr>
        <p:spPr>
          <a:xfrm>
            <a:off x="731520" y="1600200"/>
            <a:ext cx="10698480" cy="54864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contractor who calls the number you rang them from reaches YOU first — the call log knows who rang them. Not a switchboard, not whoever is nearest.</a:t>
            </a:r>
            <a:endParaRPr lang="en-US" sz="1600" dirty="0"/>
          </a:p>
        </p:txBody>
      </p:sp>
      <p:sp>
        <p:nvSpPr>
          <p:cNvPr id="4" name="Shape 2"/>
          <p:cNvSpPr/>
          <p:nvPr/>
        </p:nvSpPr>
        <p:spPr>
          <a:xfrm>
            <a:off x="731520" y="2377440"/>
            <a:ext cx="10698480" cy="777240"/>
          </a:xfrm>
          <a:prstGeom prst="rect">
            <a:avLst/>
          </a:prstGeom>
          <a:solidFill>
            <a:srgbClr val="27346B"/>
          </a:solidFill>
          <a:ln/>
        </p:spPr>
      </p:sp>
      <p:sp>
        <p:nvSpPr>
          <p:cNvPr id="5" name="Text 3"/>
          <p:cNvSpPr txBox="1"/>
          <p:nvPr/>
        </p:nvSpPr>
        <p:spPr>
          <a:xfrm>
            <a:off x="914400" y="2377440"/>
            <a:ext cx="457200" cy="777240"/>
          </a:xfrm>
          <a:prstGeom prst="rect">
            <a:avLst/>
          </a:prstGeom>
          <a:noFill/>
          <a:ln/>
        </p:spPr>
        <p:txBody>
          <a:bodyPr wrap="square" lIns="0" tIns="0" rIns="0" bIns="0" rtlCol="0" anchor="ctr"/>
          <a:lstStyle/>
          <a:p>
            <a:pPr algn="ctr" indent="0" marL="0">
              <a:buNone/>
            </a:pPr>
            <a:r>
              <a:rPr lang="en-US" sz="2200" b="1" dirty="0">
                <a:solidFill>
                  <a:srgbClr val="C8A44D"/>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1508760" y="2377440"/>
            <a:ext cx="2834640" cy="7772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You</a:t>
            </a:r>
            <a:endParaRPr lang="en-US" sz="1500" dirty="0"/>
          </a:p>
        </p:txBody>
      </p:sp>
      <p:sp>
        <p:nvSpPr>
          <p:cNvPr id="7" name="Text 5"/>
          <p:cNvSpPr txBox="1"/>
          <p:nvPr/>
        </p:nvSpPr>
        <p:spPr>
          <a:xfrm>
            <a:off x="4434840" y="2377440"/>
            <a:ext cx="676656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If the number is assigned to you, it rings you — even mid-call. Your browser decides whether to show it.</a:t>
            </a:r>
            <a:endParaRPr lang="en-US" sz="1250" dirty="0"/>
          </a:p>
        </p:txBody>
      </p:sp>
      <p:sp>
        <p:nvSpPr>
          <p:cNvPr id="8" name="Shape 6"/>
          <p:cNvSpPr/>
          <p:nvPr/>
        </p:nvSpPr>
        <p:spPr>
          <a:xfrm>
            <a:off x="731520" y="3273552"/>
            <a:ext cx="10698480" cy="777240"/>
          </a:xfrm>
          <a:prstGeom prst="rect">
            <a:avLst/>
          </a:prstGeom>
          <a:solidFill>
            <a:srgbClr val="27346B"/>
          </a:solidFill>
          <a:ln/>
        </p:spPr>
      </p:sp>
      <p:sp>
        <p:nvSpPr>
          <p:cNvPr id="9" name="Text 7"/>
          <p:cNvSpPr txBox="1"/>
          <p:nvPr/>
        </p:nvSpPr>
        <p:spPr>
          <a:xfrm>
            <a:off x="914400" y="3273552"/>
            <a:ext cx="457200" cy="777240"/>
          </a:xfrm>
          <a:prstGeom prst="rect">
            <a:avLst/>
          </a:prstGeom>
          <a:noFill/>
          <a:ln/>
        </p:spPr>
        <p:txBody>
          <a:bodyPr wrap="square" lIns="0" tIns="0" rIns="0" bIns="0" rtlCol="0" anchor="ctr"/>
          <a:lstStyle/>
          <a:p>
            <a:pPr algn="ctr" indent="0" marL="0">
              <a:buNone/>
            </a:pPr>
            <a:r>
              <a:rPr lang="en-US" sz="2200" b="1" dirty="0">
                <a:solidFill>
                  <a:srgbClr val="C8A44D"/>
                </a:solidFill>
                <a:latin typeface="Cambria" pitchFamily="34" charset="0"/>
                <a:ea typeface="Cambria" pitchFamily="34" charset="-122"/>
                <a:cs typeface="Cambria" pitchFamily="34" charset="-120"/>
              </a:rPr>
              <a:t>2</a:t>
            </a:r>
            <a:endParaRPr lang="en-US" sz="2200" dirty="0"/>
          </a:p>
        </p:txBody>
      </p:sp>
      <p:sp>
        <p:nvSpPr>
          <p:cNvPr id="10" name="Text 8"/>
          <p:cNvSpPr txBox="1"/>
          <p:nvPr/>
        </p:nvSpPr>
        <p:spPr>
          <a:xfrm>
            <a:off x="1508760" y="3273552"/>
            <a:ext cx="2834640" cy="7772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Whoever spoke to them last</a:t>
            </a:r>
            <a:endParaRPr lang="en-US" sz="1500" dirty="0"/>
          </a:p>
        </p:txBody>
      </p:sp>
      <p:sp>
        <p:nvSpPr>
          <p:cNvPr id="11" name="Text 9"/>
          <p:cNvSpPr txBox="1"/>
          <p:nvPr/>
        </p:nvSpPr>
        <p:spPr>
          <a:xfrm>
            <a:off x="4434840" y="3273552"/>
            <a:ext cx="676656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On a shared line the call log already knows who rang that contractor. They get it next.</a:t>
            </a:r>
            <a:endParaRPr lang="en-US" sz="1250" dirty="0"/>
          </a:p>
        </p:txBody>
      </p:sp>
      <p:sp>
        <p:nvSpPr>
          <p:cNvPr id="12" name="Shape 10"/>
          <p:cNvSpPr/>
          <p:nvPr/>
        </p:nvSpPr>
        <p:spPr>
          <a:xfrm>
            <a:off x="731520" y="4169664"/>
            <a:ext cx="10698480" cy="777240"/>
          </a:xfrm>
          <a:prstGeom prst="rect">
            <a:avLst/>
          </a:prstGeom>
          <a:solidFill>
            <a:srgbClr val="27346B"/>
          </a:solidFill>
          <a:ln/>
        </p:spPr>
      </p:sp>
      <p:sp>
        <p:nvSpPr>
          <p:cNvPr id="13" name="Text 11"/>
          <p:cNvSpPr txBox="1"/>
          <p:nvPr/>
        </p:nvSpPr>
        <p:spPr>
          <a:xfrm>
            <a:off x="914400" y="4169664"/>
            <a:ext cx="457200" cy="777240"/>
          </a:xfrm>
          <a:prstGeom prst="rect">
            <a:avLst/>
          </a:prstGeom>
          <a:noFill/>
          <a:ln/>
        </p:spPr>
        <p:txBody>
          <a:bodyPr wrap="square" lIns="0" tIns="0" rIns="0" bIns="0" rtlCol="0" anchor="ctr"/>
          <a:lstStyle/>
          <a:p>
            <a:pPr algn="ctr" indent="0" marL="0">
              <a:buNone/>
            </a:pPr>
            <a:r>
              <a:rPr lang="en-US" sz="2200" b="1" dirty="0">
                <a:solidFill>
                  <a:srgbClr val="C8A44D"/>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1508760" y="4169664"/>
            <a:ext cx="2834640" cy="7772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Whoever is free</a:t>
            </a:r>
            <a:endParaRPr lang="en-US" sz="1500" dirty="0"/>
          </a:p>
        </p:txBody>
      </p:sp>
      <p:sp>
        <p:nvSpPr>
          <p:cNvPr id="15" name="Text 13"/>
          <p:cNvSpPr txBox="1"/>
          <p:nvPr/>
        </p:nvSpPr>
        <p:spPr>
          <a:xfrm>
            <a:off x="4434840" y="4169664"/>
            <a:ext cx="676656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Longest idle first, so one rep does not take every call while another sits waiting.</a:t>
            </a:r>
            <a:endParaRPr lang="en-US" sz="1250" dirty="0"/>
          </a:p>
        </p:txBody>
      </p:sp>
      <p:sp>
        <p:nvSpPr>
          <p:cNvPr id="16" name="Shape 14"/>
          <p:cNvSpPr/>
          <p:nvPr/>
        </p:nvSpPr>
        <p:spPr>
          <a:xfrm>
            <a:off x="731520" y="5065776"/>
            <a:ext cx="10698480" cy="777240"/>
          </a:xfrm>
          <a:prstGeom prst="rect">
            <a:avLst/>
          </a:prstGeom>
          <a:solidFill>
            <a:srgbClr val="27346B"/>
          </a:solidFill>
          <a:ln/>
        </p:spPr>
      </p:sp>
      <p:sp>
        <p:nvSpPr>
          <p:cNvPr id="17" name="Text 15"/>
          <p:cNvSpPr txBox="1"/>
          <p:nvPr/>
        </p:nvSpPr>
        <p:spPr>
          <a:xfrm>
            <a:off x="914400" y="5065776"/>
            <a:ext cx="457200" cy="777240"/>
          </a:xfrm>
          <a:prstGeom prst="rect">
            <a:avLst/>
          </a:prstGeom>
          <a:noFill/>
          <a:ln/>
        </p:spPr>
        <p:txBody>
          <a:bodyPr wrap="square" lIns="0" tIns="0" rIns="0" bIns="0" rtlCol="0" anchor="ctr"/>
          <a:lstStyle/>
          <a:p>
            <a:pPr algn="ctr" indent="0" marL="0">
              <a:buNone/>
            </a:pPr>
            <a:r>
              <a:rPr lang="en-US" sz="2200" b="1" dirty="0">
                <a:solidFill>
                  <a:srgbClr val="C8A44D"/>
                </a:solidFill>
                <a:latin typeface="Cambria" pitchFamily="34" charset="0"/>
                <a:ea typeface="Cambria" pitchFamily="34" charset="-122"/>
                <a:cs typeface="Cambria" pitchFamily="34" charset="-120"/>
              </a:rPr>
              <a:t>4</a:t>
            </a:r>
            <a:endParaRPr lang="en-US" sz="2200" dirty="0"/>
          </a:p>
        </p:txBody>
      </p:sp>
      <p:sp>
        <p:nvSpPr>
          <p:cNvPr id="18" name="Text 16"/>
          <p:cNvSpPr txBox="1"/>
          <p:nvPr/>
        </p:nvSpPr>
        <p:spPr>
          <a:xfrm>
            <a:off x="1508760" y="5065776"/>
            <a:ext cx="2834640" cy="7772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Voicemail</a:t>
            </a:r>
            <a:endParaRPr lang="en-US" sz="1500" dirty="0"/>
          </a:p>
        </p:txBody>
      </p:sp>
      <p:sp>
        <p:nvSpPr>
          <p:cNvPr id="19" name="Text 17"/>
          <p:cNvSpPr txBox="1"/>
          <p:nvPr/>
        </p:nvSpPr>
        <p:spPr>
          <a:xfrm>
            <a:off x="4434840" y="5065776"/>
            <a:ext cx="676656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If nobody picks up they hear who they were trying to reach and can leave a message. Never a silent hang-up.</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Handing a call to somebody else</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Two ways, and the caller is never dropped either way</a:t>
            </a:r>
            <a:endParaRPr lang="en-US" sz="1500" dirty="0"/>
          </a:p>
        </p:txBody>
      </p:sp>
      <p:sp>
        <p:nvSpPr>
          <p:cNvPr id="4" name="Shape 2"/>
          <p:cNvSpPr/>
          <p:nvPr/>
        </p:nvSpPr>
        <p:spPr>
          <a:xfrm>
            <a:off x="731520" y="2148840"/>
            <a:ext cx="3383280" cy="2834640"/>
          </a:xfrm>
          <a:prstGeom prst="rect">
            <a:avLst/>
          </a:prstGeom>
          <a:solidFill>
            <a:srgbClr val="F4F6FB"/>
          </a:solidFill>
          <a:ln/>
        </p:spPr>
      </p:sp>
      <p:sp>
        <p:nvSpPr>
          <p:cNvPr id="5" name="Text 3"/>
          <p:cNvSpPr txBox="1"/>
          <p:nvPr/>
        </p:nvSpPr>
        <p:spPr>
          <a:xfrm>
            <a:off x="1005840" y="2377440"/>
            <a:ext cx="2834640" cy="548640"/>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Speak first</a:t>
            </a:r>
            <a:endParaRPr lang="en-US" sz="2200" dirty="0"/>
          </a:p>
        </p:txBody>
      </p:sp>
      <p:sp>
        <p:nvSpPr>
          <p:cNvPr id="6" name="Text 4"/>
          <p:cNvSpPr txBox="1"/>
          <p:nvPr/>
        </p:nvSpPr>
        <p:spPr>
          <a:xfrm>
            <a:off x="1005840" y="2926080"/>
            <a:ext cx="2834640" cy="320040"/>
          </a:xfrm>
          <a:prstGeom prst="rect">
            <a:avLst/>
          </a:prstGeom>
          <a:noFill/>
          <a:ln/>
        </p:spPr>
        <p:txBody>
          <a:bodyPr wrap="square" lIns="0" tIns="0" rIns="0" bIns="0" rtlCol="0" anchor="ctr"/>
          <a:lstStyle/>
          <a:p>
            <a:pPr indent="0" marL="0">
              <a:buNone/>
            </a:pPr>
            <a:r>
              <a:rPr lang="en-US" sz="1100" b="1" spc="100" kern="0" dirty="0">
                <a:solidFill>
                  <a:srgbClr val="C8A44D"/>
                </a:solidFill>
                <a:latin typeface="Calibri" pitchFamily="34" charset="0"/>
                <a:ea typeface="Calibri" pitchFamily="34" charset="-122"/>
                <a:cs typeface="Calibri" pitchFamily="34" charset="-120"/>
              </a:rPr>
              <a:t>Warm transfer</a:t>
            </a:r>
            <a:endParaRPr lang="en-US" sz="1100" dirty="0"/>
          </a:p>
        </p:txBody>
      </p:sp>
      <p:sp>
        <p:nvSpPr>
          <p:cNvPr id="7" name="Text 5"/>
          <p:cNvSpPr txBox="1"/>
          <p:nvPr/>
        </p:nvSpPr>
        <p:spPr>
          <a:xfrm>
            <a:off x="1005840" y="3291840"/>
            <a:ext cx="2834640" cy="155448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You talk to the other rep privately while the caller waits on hold. Then you put them through. Use it when context has to travel with the call.</a:t>
            </a:r>
            <a:endParaRPr lang="en-US" sz="1250" dirty="0"/>
          </a:p>
        </p:txBody>
      </p:sp>
      <p:sp>
        <p:nvSpPr>
          <p:cNvPr id="8" name="Shape 6"/>
          <p:cNvSpPr/>
          <p:nvPr/>
        </p:nvSpPr>
        <p:spPr>
          <a:xfrm>
            <a:off x="4389120" y="2148840"/>
            <a:ext cx="3383280" cy="2834640"/>
          </a:xfrm>
          <a:prstGeom prst="rect">
            <a:avLst/>
          </a:prstGeom>
          <a:solidFill>
            <a:srgbClr val="F4F6FB"/>
          </a:solidFill>
          <a:ln/>
        </p:spPr>
      </p:sp>
      <p:sp>
        <p:nvSpPr>
          <p:cNvPr id="9" name="Text 7"/>
          <p:cNvSpPr txBox="1"/>
          <p:nvPr/>
        </p:nvSpPr>
        <p:spPr>
          <a:xfrm>
            <a:off x="4663440" y="2377440"/>
            <a:ext cx="2834640" cy="548640"/>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Straight through</a:t>
            </a:r>
            <a:endParaRPr lang="en-US" sz="2200" dirty="0"/>
          </a:p>
        </p:txBody>
      </p:sp>
      <p:sp>
        <p:nvSpPr>
          <p:cNvPr id="10" name="Text 8"/>
          <p:cNvSpPr txBox="1"/>
          <p:nvPr/>
        </p:nvSpPr>
        <p:spPr>
          <a:xfrm>
            <a:off x="4663440" y="2926080"/>
            <a:ext cx="2834640" cy="320040"/>
          </a:xfrm>
          <a:prstGeom prst="rect">
            <a:avLst/>
          </a:prstGeom>
          <a:noFill/>
          <a:ln/>
        </p:spPr>
        <p:txBody>
          <a:bodyPr wrap="square" lIns="0" tIns="0" rIns="0" bIns="0" rtlCol="0" anchor="ctr"/>
          <a:lstStyle/>
          <a:p>
            <a:pPr indent="0" marL="0">
              <a:buNone/>
            </a:pPr>
            <a:r>
              <a:rPr lang="en-US" sz="1100" b="1" spc="100" kern="0" dirty="0">
                <a:solidFill>
                  <a:srgbClr val="C8A44D"/>
                </a:solidFill>
                <a:latin typeface="Calibri" pitchFamily="34" charset="0"/>
                <a:ea typeface="Calibri" pitchFamily="34" charset="-122"/>
                <a:cs typeface="Calibri" pitchFamily="34" charset="-120"/>
              </a:rPr>
              <a:t>Cold transfer</a:t>
            </a:r>
            <a:endParaRPr lang="en-US" sz="1100" dirty="0"/>
          </a:p>
        </p:txBody>
      </p:sp>
      <p:sp>
        <p:nvSpPr>
          <p:cNvPr id="11" name="Text 9"/>
          <p:cNvSpPr txBox="1"/>
          <p:nvPr/>
        </p:nvSpPr>
        <p:spPr>
          <a:xfrm>
            <a:off x="4663440" y="3291840"/>
            <a:ext cx="2834640" cy="155448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The caller goes to the other rep immediately. Faster, and right when the reason is obvious — wrong trade, wrong province.</a:t>
            </a:r>
            <a:endParaRPr lang="en-US" sz="1250" dirty="0"/>
          </a:p>
        </p:txBody>
      </p:sp>
      <p:sp>
        <p:nvSpPr>
          <p:cNvPr id="12" name="Shape 10"/>
          <p:cNvSpPr/>
          <p:nvPr/>
        </p:nvSpPr>
        <p:spPr>
          <a:xfrm>
            <a:off x="8046720" y="2148840"/>
            <a:ext cx="3383280" cy="2834640"/>
          </a:xfrm>
          <a:prstGeom prst="rect">
            <a:avLst/>
          </a:prstGeom>
          <a:solidFill>
            <a:srgbClr val="F4F6FB"/>
          </a:solidFill>
          <a:ln/>
        </p:spPr>
      </p:sp>
      <p:sp>
        <p:nvSpPr>
          <p:cNvPr id="13" name="Text 11"/>
          <p:cNvSpPr txBox="1"/>
          <p:nvPr/>
        </p:nvSpPr>
        <p:spPr>
          <a:xfrm>
            <a:off x="8321040" y="2377440"/>
            <a:ext cx="2834640" cy="548640"/>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Nobody answers</a:t>
            </a:r>
            <a:endParaRPr lang="en-US" sz="2200" dirty="0"/>
          </a:p>
        </p:txBody>
      </p:sp>
      <p:sp>
        <p:nvSpPr>
          <p:cNvPr id="14" name="Text 12"/>
          <p:cNvSpPr txBox="1"/>
          <p:nvPr/>
        </p:nvSpPr>
        <p:spPr>
          <a:xfrm>
            <a:off x="8321040" y="2926080"/>
            <a:ext cx="2834640" cy="320040"/>
          </a:xfrm>
          <a:prstGeom prst="rect">
            <a:avLst/>
          </a:prstGeom>
          <a:noFill/>
          <a:ln/>
        </p:spPr>
        <p:txBody>
          <a:bodyPr wrap="square" lIns="0" tIns="0" rIns="0" bIns="0" rtlCol="0" anchor="ctr"/>
          <a:lstStyle/>
          <a:p>
            <a:pPr indent="0" marL="0">
              <a:buNone/>
            </a:pPr>
            <a:r>
              <a:rPr lang="en-US" sz="1100" b="1" spc="100" kern="0" dirty="0">
                <a:solidFill>
                  <a:srgbClr val="C8A44D"/>
                </a:solidFill>
                <a:latin typeface="Calibri" pitchFamily="34" charset="0"/>
                <a:ea typeface="Calibri" pitchFamily="34" charset="-122"/>
                <a:cs typeface="Calibri" pitchFamily="34" charset="-120"/>
              </a:rPr>
              <a:t>You get them back</a:t>
            </a:r>
            <a:endParaRPr lang="en-US" sz="1100" dirty="0"/>
          </a:p>
        </p:txBody>
      </p:sp>
      <p:sp>
        <p:nvSpPr>
          <p:cNvPr id="15" name="Text 13"/>
          <p:cNvSpPr txBox="1"/>
          <p:nvPr/>
        </p:nvSpPr>
        <p:spPr>
          <a:xfrm>
            <a:off x="8321040" y="3291840"/>
            <a:ext cx="2834640" cy="155448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If the person you chose does not pick up, the caller comes back to YOU. They are never quietly dropped into a machine.</a:t>
            </a:r>
            <a:endParaRPr lang="en-US" sz="1250" dirty="0"/>
          </a:p>
        </p:txBody>
      </p:sp>
      <p:sp>
        <p:nvSpPr>
          <p:cNvPr id="16" name="Text 14"/>
          <p:cNvSpPr txBox="1"/>
          <p:nvPr/>
        </p:nvSpPr>
        <p:spPr>
          <a:xfrm>
            <a:off x="731520" y="5257800"/>
            <a:ext cx="10698480" cy="640080"/>
          </a:xfrm>
          <a:prstGeom prst="rect">
            <a:avLst/>
          </a:prstGeom>
          <a:noFill/>
          <a:ln/>
        </p:spPr>
        <p:txBody>
          <a:bodyPr wrap="square" rtlCol="0" anchor="ctr"/>
          <a:lstStyle/>
          <a:p>
            <a:pPr indent="0" marL="0">
              <a:buNone/>
            </a:pPr>
            <a:r>
              <a:rPr lang="en-US" sz="1600" i="1" dirty="0">
                <a:solidFill>
                  <a:srgbClr val="1B1B1F"/>
                </a:solidFill>
                <a:latin typeface="Cambria" pitchFamily="34" charset="0"/>
                <a:ea typeface="Cambria" pitchFamily="34" charset="-122"/>
                <a:cs typeface="Cambria" pitchFamily="34" charset="-120"/>
              </a:rPr>
              <a:t>If every rep is busy, the caller is held with a short message between rings — never silence — and goes to voicemail rather than waiting forever.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Voicemail, and the message with no words in it</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The Voicemail tab — messages left on the number you rang from, playable by you.</a:t>
            </a:r>
            <a:endParaRPr lang="en-US" sz="1500" dirty="0"/>
          </a:p>
        </p:txBody>
      </p:sp>
      <p:sp>
        <p:nvSpPr>
          <p:cNvPr id="4" name="Shape 2"/>
          <p:cNvSpPr/>
          <p:nvPr/>
        </p:nvSpPr>
        <p:spPr>
          <a:xfrm>
            <a:off x="731520" y="1920240"/>
            <a:ext cx="4937760" cy="2286000"/>
          </a:xfrm>
          <a:prstGeom prst="roundRect">
            <a:avLst>
              <a:gd name="adj" fmla="val 5600"/>
            </a:avLst>
          </a:prstGeom>
          <a:solidFill>
            <a:srgbClr val="1E2761"/>
          </a:solidFill>
          <a:ln/>
        </p:spPr>
      </p:sp>
      <p:sp>
        <p:nvSpPr>
          <p:cNvPr id="5" name="Text 3"/>
          <p:cNvSpPr txBox="1"/>
          <p:nvPr/>
        </p:nvSpPr>
        <p:spPr>
          <a:xfrm>
            <a:off x="1097280" y="2121408"/>
            <a:ext cx="4206240" cy="914400"/>
          </a:xfrm>
          <a:prstGeom prst="rect">
            <a:avLst/>
          </a:prstGeom>
          <a:noFill/>
          <a:ln/>
        </p:spPr>
        <p:txBody>
          <a:bodyPr wrap="square" lIns="0" tIns="0" rIns="0" bIns="0" rtlCol="0" anchor="ctr"/>
          <a:lstStyle/>
          <a:p>
            <a:pPr indent="0" marL="0">
              <a:buNone/>
            </a:pPr>
            <a:r>
              <a:rPr lang="en-US" sz="5200" b="1" dirty="0">
                <a:solidFill>
                  <a:srgbClr val="C8A44D"/>
                </a:solidFill>
                <a:latin typeface="Cambria" pitchFamily="34" charset="0"/>
                <a:ea typeface="Cambria" pitchFamily="34" charset="-122"/>
                <a:cs typeface="Cambria" pitchFamily="34" charset="-120"/>
              </a:rPr>
              <a:t>0s</a:t>
            </a:r>
            <a:endParaRPr lang="en-US" sz="5200" dirty="0"/>
          </a:p>
        </p:txBody>
      </p:sp>
      <p:sp>
        <p:nvSpPr>
          <p:cNvPr id="6" name="Text 4"/>
          <p:cNvSpPr txBox="1"/>
          <p:nvPr/>
        </p:nvSpPr>
        <p:spPr>
          <a:xfrm>
            <a:off x="1097280" y="2999232"/>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 words spoken</a:t>
            </a:r>
            <a:endParaRPr lang="en-US" sz="1500" dirty="0"/>
          </a:p>
        </p:txBody>
      </p:sp>
      <p:sp>
        <p:nvSpPr>
          <p:cNvPr id="7" name="Text 5"/>
          <p:cNvSpPr txBox="1"/>
          <p:nvPr/>
        </p:nvSpPr>
        <p:spPr>
          <a:xfrm>
            <a:off x="1097280" y="3383280"/>
            <a:ext cx="420624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They rang back, heard the beep and thought better of it. Warmer than a missed call, colder than a message — and worth a callback the same day.</a:t>
            </a:r>
            <a:endParaRPr lang="en-US" sz="1250" dirty="0"/>
          </a:p>
        </p:txBody>
      </p:sp>
      <p:sp>
        <p:nvSpPr>
          <p:cNvPr id="8" name="Shape 6"/>
          <p:cNvSpPr/>
          <p:nvPr/>
        </p:nvSpPr>
        <p:spPr>
          <a:xfrm>
            <a:off x="731520" y="4480560"/>
            <a:ext cx="10698480" cy="777240"/>
          </a:xfrm>
          <a:prstGeom prst="rect">
            <a:avLst/>
          </a:prstGeom>
          <a:solidFill>
            <a:srgbClr val="F4F6FB"/>
          </a:solidFill>
          <a:ln/>
        </p:spPr>
      </p:sp>
      <p:sp>
        <p:nvSpPr>
          <p:cNvPr id="9" name="Text 7"/>
          <p:cNvSpPr txBox="1"/>
          <p:nvPr/>
        </p:nvSpPr>
        <p:spPr>
          <a:xfrm>
            <a:off x="960120" y="4535424"/>
            <a:ext cx="3566160" cy="667512"/>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It is yours if they rang your number</a:t>
            </a:r>
            <a:endParaRPr lang="en-US" sz="1400" dirty="0"/>
          </a:p>
        </p:txBody>
      </p:sp>
      <p:sp>
        <p:nvSpPr>
          <p:cNvPr id="10" name="Text 8"/>
          <p:cNvSpPr txBox="1"/>
          <p:nvPr/>
        </p:nvSpPr>
        <p:spPr>
          <a:xfrm>
            <a:off x="4663440" y="4535424"/>
            <a:ext cx="6492240" cy="667512"/>
          </a:xfrm>
          <a:prstGeom prst="rect">
            <a:avLst/>
          </a:prstGeom>
          <a:noFill/>
          <a:ln/>
        </p:spPr>
        <p:txBody>
          <a:bodyPr wrap="square" lIns="0" tIns="0" rIns="0" bIns="0" rtlCol="0" anchor="ctr"/>
          <a:lstStyle/>
          <a:p>
            <a:pPr indent="0" marL="0">
              <a:buNone/>
            </a:pPr>
            <a:r>
              <a:rPr lang="en-US" sz="1150" dirty="0">
                <a:solidFill>
                  <a:srgbClr val="5A6070"/>
                </a:solidFill>
                <a:latin typeface="Calibri" pitchFamily="34" charset="0"/>
                <a:ea typeface="Calibri" pitchFamily="34" charset="-122"/>
                <a:cs typeface="Calibri" pitchFamily="34" charset="-120"/>
              </a:rPr>
              <a:t>Even when we cannot work out who called. It says “Not matched to a business” rather than hiding it — a contractor ringing from a mobile we have never seen is exactly the callback worth having.</a:t>
            </a:r>
            <a:endParaRPr lang="en-US" sz="1150" dirty="0"/>
          </a:p>
        </p:txBody>
      </p:sp>
      <p:sp>
        <p:nvSpPr>
          <p:cNvPr id="11" name="Shape 9"/>
          <p:cNvSpPr/>
          <p:nvPr/>
        </p:nvSpPr>
        <p:spPr>
          <a:xfrm>
            <a:off x="731520" y="5349240"/>
            <a:ext cx="10698480" cy="777240"/>
          </a:xfrm>
          <a:prstGeom prst="rect">
            <a:avLst/>
          </a:prstGeom>
          <a:solidFill>
            <a:srgbClr val="F4F6FB"/>
          </a:solidFill>
          <a:ln/>
        </p:spPr>
      </p:sp>
      <p:sp>
        <p:nvSpPr>
          <p:cNvPr id="12" name="Text 10"/>
          <p:cNvSpPr txBox="1"/>
          <p:nvPr/>
        </p:nvSpPr>
        <p:spPr>
          <a:xfrm>
            <a:off x="960120" y="5404104"/>
            <a:ext cx="3566160" cy="667512"/>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We serve the audio, not the phone company</a:t>
            </a:r>
            <a:endParaRPr lang="en-US" sz="1400" dirty="0"/>
          </a:p>
        </p:txBody>
      </p:sp>
      <p:sp>
        <p:nvSpPr>
          <p:cNvPr id="13" name="Text 11"/>
          <p:cNvSpPr txBox="1"/>
          <p:nvPr/>
        </p:nvSpPr>
        <p:spPr>
          <a:xfrm>
            <a:off x="4663440" y="5404104"/>
            <a:ext cx="6492240" cy="667512"/>
          </a:xfrm>
          <a:prstGeom prst="rect">
            <a:avLst/>
          </a:prstGeom>
          <a:noFill/>
          <a:ln/>
        </p:spPr>
        <p:txBody>
          <a:bodyPr wrap="square" lIns="0" tIns="0" rIns="0" bIns="0" rtlCol="0" anchor="ctr"/>
          <a:lstStyle/>
          <a:p>
            <a:pPr indent="0" marL="0">
              <a:buNone/>
            </a:pPr>
            <a:r>
              <a:rPr lang="en-US" sz="1150" dirty="0">
                <a:solidFill>
                  <a:srgbClr val="5A6070"/>
                </a:solidFill>
                <a:latin typeface="Calibri" pitchFamily="34" charset="0"/>
                <a:ea typeface="Calibri" pitchFamily="34" charset="-122"/>
                <a:cs typeface="Calibri" pitchFamily="34" charset="-120"/>
              </a:rPr>
              <a:t>You play it inside FieldQuo. There is no transcription: listening to a ninety-second message is cheaper than transcribing every wrong number.</a:t>
            </a:r>
            <a:endParaRPr lang="en-US" sz="1150" dirty="0"/>
          </a:p>
        </p:txBody>
      </p:sp>
      <p:sp>
        <p:nvSpPr>
          <p:cNvPr id="14" name="Text 12"/>
          <p:cNvSpPr txBox="1"/>
          <p:nvPr/>
        </p:nvSpPr>
        <p:spPr>
          <a:xfrm>
            <a:off x="6126480" y="2468880"/>
            <a:ext cx="5303520" cy="1371600"/>
          </a:xfrm>
          <a:prstGeom prst="rect">
            <a:avLst/>
          </a:prstGeom>
          <a:noFill/>
          <a:ln/>
        </p:spPr>
        <p:txBody>
          <a:bodyPr wrap="square" rtlCol="0" anchor="ctr"/>
          <a:lstStyle/>
          <a:p>
            <a:pPr indent="0" marL="0">
              <a:buNone/>
            </a:pPr>
            <a:r>
              <a:rPr lang="en-US" sz="2100" i="1" dirty="0">
                <a:solidFill>
                  <a:srgbClr val="1E2761"/>
                </a:solidFill>
                <a:latin typeface="Cambria" pitchFamily="34" charset="0"/>
                <a:ea typeface="Cambria" pitchFamily="34" charset="-122"/>
                <a:cs typeface="Cambria" pitchFamily="34" charset="-120"/>
              </a:rPr>
              <a:t>Ring a zero-second message back the same day. Somebody dialled you on purpose.</a:t>
            </a:r>
            <a:endParaRPr lang="en-US" sz="2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Closing out a claim</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Three buttons, plus the ten ways a call itself can end.</a:t>
            </a:r>
            <a:endParaRPr lang="en-US" sz="1500" dirty="0"/>
          </a:p>
        </p:txBody>
      </p:sp>
      <p:sp>
        <p:nvSpPr>
          <p:cNvPr id="4" name="Shape 2"/>
          <p:cNvSpPr/>
          <p:nvPr/>
        </p:nvSpPr>
        <p:spPr>
          <a:xfrm>
            <a:off x="731520" y="1920240"/>
            <a:ext cx="10698480" cy="1051560"/>
          </a:xfrm>
          <a:prstGeom prst="roundRect">
            <a:avLst>
              <a:gd name="adj" fmla="val 10435"/>
            </a:avLst>
          </a:prstGeom>
          <a:solidFill>
            <a:srgbClr val="F4F6FB"/>
          </a:solidFill>
          <a:ln/>
        </p:spPr>
      </p:sp>
      <p:sp>
        <p:nvSpPr>
          <p:cNvPr id="5" name="Shape 3"/>
          <p:cNvSpPr/>
          <p:nvPr/>
        </p:nvSpPr>
        <p:spPr>
          <a:xfrm>
            <a:off x="1005840" y="2194560"/>
            <a:ext cx="128016" cy="502920"/>
          </a:xfrm>
          <a:prstGeom prst="roundRect">
            <a:avLst>
              <a:gd name="adj" fmla="val 50000"/>
            </a:avLst>
          </a:prstGeom>
          <a:solidFill>
            <a:srgbClr val="1E2761"/>
          </a:solidFill>
          <a:ln/>
        </p:spPr>
      </p:sp>
      <p:sp>
        <p:nvSpPr>
          <p:cNvPr id="6" name="Text 4"/>
          <p:cNvSpPr txBox="1"/>
          <p:nvPr/>
        </p:nvSpPr>
        <p:spPr>
          <a:xfrm>
            <a:off x="1325880" y="2066544"/>
            <a:ext cx="420624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I spoke to them — keep this one</a:t>
            </a:r>
            <a:endParaRPr lang="en-US" sz="1700" dirty="0"/>
          </a:p>
        </p:txBody>
      </p:sp>
      <p:sp>
        <p:nvSpPr>
          <p:cNvPr id="7" name="Text 5"/>
          <p:cNvSpPr txBox="1"/>
          <p:nvPr/>
        </p:nvSpPr>
        <p:spPr>
          <a:xfrm>
            <a:off x="1325880" y="2432304"/>
            <a:ext cx="9692640" cy="45720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The claim stops lapsing and the prospect stays yours. Fair warning: worked ones stay in your queue rather than clearing out of it.</a:t>
            </a:r>
            <a:endParaRPr lang="en-US" sz="1400" dirty="0"/>
          </a:p>
        </p:txBody>
      </p:sp>
      <p:sp>
        <p:nvSpPr>
          <p:cNvPr id="8" name="Shape 6"/>
          <p:cNvSpPr/>
          <p:nvPr/>
        </p:nvSpPr>
        <p:spPr>
          <a:xfrm>
            <a:off x="731520" y="3127248"/>
            <a:ext cx="10698480" cy="1051560"/>
          </a:xfrm>
          <a:prstGeom prst="roundRect">
            <a:avLst>
              <a:gd name="adj" fmla="val 10435"/>
            </a:avLst>
          </a:prstGeom>
          <a:solidFill>
            <a:srgbClr val="F4F6FB"/>
          </a:solidFill>
          <a:ln/>
        </p:spPr>
      </p:sp>
      <p:sp>
        <p:nvSpPr>
          <p:cNvPr id="9" name="Shape 7"/>
          <p:cNvSpPr/>
          <p:nvPr/>
        </p:nvSpPr>
        <p:spPr>
          <a:xfrm>
            <a:off x="1005840" y="3401568"/>
            <a:ext cx="128016" cy="502920"/>
          </a:xfrm>
          <a:prstGeom prst="roundRect">
            <a:avLst>
              <a:gd name="adj" fmla="val 50000"/>
            </a:avLst>
          </a:prstGeom>
          <a:solidFill>
            <a:srgbClr val="4A6FA5"/>
          </a:solidFill>
          <a:ln/>
        </p:spPr>
      </p:sp>
      <p:sp>
        <p:nvSpPr>
          <p:cNvPr id="10" name="Text 8"/>
          <p:cNvSpPr txBox="1"/>
          <p:nvPr/>
        </p:nvSpPr>
        <p:spPr>
          <a:xfrm>
            <a:off x="1325880" y="3273552"/>
            <a:ext cx="4206240" cy="365760"/>
          </a:xfrm>
          <a:prstGeom prst="rect">
            <a:avLst/>
          </a:prstGeom>
          <a:noFill/>
          <a:ln/>
        </p:spPr>
        <p:txBody>
          <a:bodyPr wrap="square" lIns="0" tIns="0" rIns="0" bIns="0" rtlCol="0" anchor="ctr"/>
          <a:lstStyle/>
          <a:p>
            <a:pPr indent="0" marL="0">
              <a:buNone/>
            </a:pPr>
            <a:r>
              <a:rPr lang="en-US" sz="1700" b="1" dirty="0">
                <a:solidFill>
                  <a:srgbClr val="4A6FA5"/>
                </a:solidFill>
                <a:latin typeface="Calibri" pitchFamily="34" charset="0"/>
                <a:ea typeface="Calibri" pitchFamily="34" charset="-122"/>
                <a:cs typeface="Calibri" pitchFamily="34" charset="-120"/>
              </a:rPr>
              <a:t>Put it back in the pool</a:t>
            </a:r>
            <a:endParaRPr lang="en-US" sz="1700" dirty="0"/>
          </a:p>
        </p:txBody>
      </p:sp>
      <p:sp>
        <p:nvSpPr>
          <p:cNvPr id="11" name="Text 9"/>
          <p:cNvSpPr txBox="1"/>
          <p:nvPr/>
        </p:nvSpPr>
        <p:spPr>
          <a:xfrm>
            <a:off x="1325880" y="3639312"/>
            <a:ext cx="9692640" cy="45720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Somebody else can claim it. Use this the moment you know you are not working it — the claim is a lease on everybody's ability to ring them.</a:t>
            </a:r>
            <a:endParaRPr lang="en-US" sz="1400" dirty="0"/>
          </a:p>
        </p:txBody>
      </p:sp>
      <p:sp>
        <p:nvSpPr>
          <p:cNvPr id="12" name="Shape 10"/>
          <p:cNvSpPr/>
          <p:nvPr/>
        </p:nvSpPr>
        <p:spPr>
          <a:xfrm>
            <a:off x="731520" y="4334256"/>
            <a:ext cx="10698480" cy="1051560"/>
          </a:xfrm>
          <a:prstGeom prst="roundRect">
            <a:avLst>
              <a:gd name="adj" fmla="val 10435"/>
            </a:avLst>
          </a:prstGeom>
          <a:solidFill>
            <a:srgbClr val="F4F6FB"/>
          </a:solidFill>
          <a:ln/>
        </p:spPr>
      </p:sp>
      <p:sp>
        <p:nvSpPr>
          <p:cNvPr id="13" name="Shape 11"/>
          <p:cNvSpPr/>
          <p:nvPr/>
        </p:nvSpPr>
        <p:spPr>
          <a:xfrm>
            <a:off x="1005840" y="4608576"/>
            <a:ext cx="128016" cy="502920"/>
          </a:xfrm>
          <a:prstGeom prst="roundRect">
            <a:avLst>
              <a:gd name="adj" fmla="val 50000"/>
            </a:avLst>
          </a:prstGeom>
          <a:solidFill>
            <a:srgbClr val="8C2F39"/>
          </a:solidFill>
          <a:ln/>
        </p:spPr>
      </p:sp>
      <p:sp>
        <p:nvSpPr>
          <p:cNvPr id="14" name="Text 12"/>
          <p:cNvSpPr txBox="1"/>
          <p:nvPr/>
        </p:nvSpPr>
        <p:spPr>
          <a:xfrm>
            <a:off x="1325880" y="4480560"/>
            <a:ext cx="4206240" cy="365760"/>
          </a:xfrm>
          <a:prstGeom prst="rect">
            <a:avLst/>
          </a:prstGeom>
          <a:noFill/>
          <a:ln/>
        </p:spPr>
        <p:txBody>
          <a:bodyPr wrap="square" lIns="0" tIns="0" rIns="0" bIns="0" rtlCol="0" anchor="ctr"/>
          <a:lstStyle/>
          <a:p>
            <a:pPr indent="0" marL="0">
              <a:buNone/>
            </a:pPr>
            <a:r>
              <a:rPr lang="en-US" sz="1700" b="1" dirty="0">
                <a:solidFill>
                  <a:srgbClr val="8C2F39"/>
                </a:solidFill>
                <a:latin typeface="Calibri" pitchFamily="34" charset="0"/>
                <a:ea typeface="Calibri" pitchFamily="34" charset="-122"/>
                <a:cs typeface="Calibri" pitchFamily="34" charset="-120"/>
              </a:rPr>
              <a:t>Stop working this one</a:t>
            </a:r>
            <a:endParaRPr lang="en-US" sz="1700" dirty="0"/>
          </a:p>
        </p:txBody>
      </p:sp>
      <p:sp>
        <p:nvSpPr>
          <p:cNvPr id="15" name="Text 13"/>
          <p:cNvSpPr txBox="1"/>
          <p:nvPr/>
        </p:nvSpPr>
        <p:spPr>
          <a:xfrm>
            <a:off x="1325880" y="4846320"/>
            <a:ext cx="9692640" cy="45720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Needs a written reason and it is permanent on that business. It is housekeeping, not an opt-out — see the next slide for the one that binds every rep.</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Two buttons that sound identical and are not</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Both stop you contacting somebody. Only one of them stops everybody else.</a:t>
            </a:r>
            <a:endParaRPr lang="en-US" sz="1500" dirty="0"/>
          </a:p>
        </p:txBody>
      </p:sp>
      <p:sp>
        <p:nvSpPr>
          <p:cNvPr id="4" name="Shape 2"/>
          <p:cNvSpPr/>
          <p:nvPr/>
        </p:nvSpPr>
        <p:spPr>
          <a:xfrm>
            <a:off x="731520" y="1965960"/>
            <a:ext cx="5166360" cy="2651760"/>
          </a:xfrm>
          <a:prstGeom prst="roundRect">
            <a:avLst>
              <a:gd name="adj" fmla="val 4828"/>
            </a:avLst>
          </a:prstGeom>
          <a:solidFill>
            <a:srgbClr val="F4F6FB"/>
          </a:solidFill>
          <a:ln/>
        </p:spPr>
      </p:sp>
      <p:sp>
        <p:nvSpPr>
          <p:cNvPr id="5" name="Shape 3"/>
          <p:cNvSpPr/>
          <p:nvPr/>
        </p:nvSpPr>
        <p:spPr>
          <a:xfrm>
            <a:off x="1024128" y="2240280"/>
            <a:ext cx="128016" cy="457200"/>
          </a:xfrm>
          <a:prstGeom prst="roundRect">
            <a:avLst>
              <a:gd name="adj" fmla="val 50000"/>
            </a:avLst>
          </a:prstGeom>
          <a:solidFill>
            <a:srgbClr val="1E2761"/>
          </a:solidFill>
          <a:ln/>
        </p:spPr>
      </p:sp>
      <p:sp>
        <p:nvSpPr>
          <p:cNvPr id="6" name="Text 4"/>
          <p:cNvSpPr txBox="1"/>
          <p:nvPr/>
        </p:nvSpPr>
        <p:spPr>
          <a:xfrm>
            <a:off x="1298448" y="2194560"/>
            <a:ext cx="4297680" cy="548640"/>
          </a:xfrm>
          <a:prstGeom prst="rect">
            <a:avLst/>
          </a:prstGeom>
          <a:noFill/>
          <a:ln/>
        </p:spPr>
        <p:txBody>
          <a:bodyPr wrap="square" lIns="0" tIns="0" rIns="0" bIns="0" rtlCol="0" anchor="ctr"/>
          <a:lstStyle/>
          <a:p>
            <a:pPr indent="0" marL="0">
              <a:buNone/>
            </a:pPr>
            <a:r>
              <a:rPr lang="en-US" sz="2000" b="1" dirty="0">
                <a:solidFill>
                  <a:srgbClr val="1E2761"/>
                </a:solidFill>
                <a:latin typeface="Cambria" pitchFamily="34" charset="0"/>
                <a:ea typeface="Cambria" pitchFamily="34" charset="-122"/>
                <a:cs typeface="Cambria" pitchFamily="34" charset="-120"/>
              </a:rPr>
              <a:t>Stop working this one</a:t>
            </a:r>
            <a:endParaRPr lang="en-US" sz="2000" dirty="0"/>
          </a:p>
        </p:txBody>
      </p:sp>
      <p:sp>
        <p:nvSpPr>
          <p:cNvPr id="7" name="Text 5"/>
          <p:cNvSpPr txBox="1"/>
          <p:nvPr/>
        </p:nvSpPr>
        <p:spPr>
          <a:xfrm>
            <a:off x="1298448" y="2743200"/>
            <a:ext cx="4297680" cy="292608"/>
          </a:xfrm>
          <a:prstGeom prst="rect">
            <a:avLst/>
          </a:prstGeom>
          <a:noFill/>
          <a:ln/>
        </p:spPr>
        <p:txBody>
          <a:bodyPr wrap="square" lIns="0" tIns="0" rIns="0" bIns="0" rtlCol="0" anchor="ctr"/>
          <a:lstStyle/>
          <a:p>
            <a:pPr indent="0" marL="0">
              <a:buNone/>
            </a:pPr>
            <a:r>
              <a:rPr lang="en-US" sz="1100" b="1" spc="100" kern="0" dirty="0">
                <a:solidFill>
                  <a:srgbClr val="C8A44D"/>
                </a:solidFill>
                <a:latin typeface="Calibri" pitchFamily="34" charset="0"/>
                <a:ea typeface="Calibri" pitchFamily="34" charset="-122"/>
                <a:cs typeface="Calibri" pitchFamily="34" charset="-120"/>
              </a:rPr>
              <a:t>On the queue</a:t>
            </a:r>
            <a:endParaRPr lang="en-US" sz="1100" dirty="0"/>
          </a:p>
        </p:txBody>
      </p:sp>
      <p:sp>
        <p:nvSpPr>
          <p:cNvPr id="8" name="Text 6"/>
          <p:cNvSpPr txBox="1"/>
          <p:nvPr/>
        </p:nvSpPr>
        <p:spPr>
          <a:xfrm>
            <a:off x="1298448" y="3072384"/>
            <a:ext cx="4297680" cy="137160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Writes a flag on that one business. Permanent, nothing lifts it, and it follows the record everywhere. But it does NOT put the number on FieldQuo's do-not-contact list.</a:t>
            </a:r>
            <a:endParaRPr lang="en-US" sz="1250" dirty="0"/>
          </a:p>
        </p:txBody>
      </p:sp>
      <p:sp>
        <p:nvSpPr>
          <p:cNvPr id="9" name="Shape 7"/>
          <p:cNvSpPr/>
          <p:nvPr/>
        </p:nvSpPr>
        <p:spPr>
          <a:xfrm>
            <a:off x="6263640" y="1965960"/>
            <a:ext cx="5166360" cy="2651760"/>
          </a:xfrm>
          <a:prstGeom prst="roundRect">
            <a:avLst>
              <a:gd name="adj" fmla="val 4828"/>
            </a:avLst>
          </a:prstGeom>
          <a:solidFill>
            <a:srgbClr val="F4F6FB"/>
          </a:solidFill>
          <a:ln/>
        </p:spPr>
      </p:sp>
      <p:sp>
        <p:nvSpPr>
          <p:cNvPr id="10" name="Shape 8"/>
          <p:cNvSpPr/>
          <p:nvPr/>
        </p:nvSpPr>
        <p:spPr>
          <a:xfrm>
            <a:off x="6556248" y="2240280"/>
            <a:ext cx="128016" cy="457200"/>
          </a:xfrm>
          <a:prstGeom prst="roundRect">
            <a:avLst>
              <a:gd name="adj" fmla="val 50000"/>
            </a:avLst>
          </a:prstGeom>
          <a:solidFill>
            <a:srgbClr val="8C2F39"/>
          </a:solidFill>
          <a:ln/>
        </p:spPr>
      </p:sp>
      <p:sp>
        <p:nvSpPr>
          <p:cNvPr id="11" name="Text 9"/>
          <p:cNvSpPr txBox="1"/>
          <p:nvPr/>
        </p:nvSpPr>
        <p:spPr>
          <a:xfrm>
            <a:off x="6830568" y="2194560"/>
            <a:ext cx="4297680" cy="548640"/>
          </a:xfrm>
          <a:prstGeom prst="rect">
            <a:avLst/>
          </a:prstGeom>
          <a:noFill/>
          <a:ln/>
        </p:spPr>
        <p:txBody>
          <a:bodyPr wrap="square" lIns="0" tIns="0" rIns="0" bIns="0" rtlCol="0" anchor="ctr"/>
          <a:lstStyle/>
          <a:p>
            <a:pPr indent="0" marL="0">
              <a:buNone/>
            </a:pPr>
            <a:r>
              <a:rPr lang="en-US" sz="2000" b="1" dirty="0">
                <a:solidFill>
                  <a:srgbClr val="8C2F39"/>
                </a:solidFill>
                <a:latin typeface="Cambria" pitchFamily="34" charset="0"/>
                <a:ea typeface="Cambria" pitchFamily="34" charset="-122"/>
                <a:cs typeface="Cambria" pitchFamily="34" charset="-120"/>
              </a:rPr>
              <a:t>Asked not to be called again</a:t>
            </a:r>
            <a:endParaRPr lang="en-US" sz="2000" dirty="0"/>
          </a:p>
        </p:txBody>
      </p:sp>
      <p:sp>
        <p:nvSpPr>
          <p:cNvPr id="12" name="Text 10"/>
          <p:cNvSpPr txBox="1"/>
          <p:nvPr/>
        </p:nvSpPr>
        <p:spPr>
          <a:xfrm>
            <a:off x="6830568" y="2743200"/>
            <a:ext cx="4297680" cy="292608"/>
          </a:xfrm>
          <a:prstGeom prst="rect">
            <a:avLst/>
          </a:prstGeom>
          <a:noFill/>
          <a:ln/>
        </p:spPr>
        <p:txBody>
          <a:bodyPr wrap="square" lIns="0" tIns="0" rIns="0" bIns="0" rtlCol="0" anchor="ctr"/>
          <a:lstStyle/>
          <a:p>
            <a:pPr indent="0" marL="0">
              <a:buNone/>
            </a:pPr>
            <a:r>
              <a:rPr lang="en-US" sz="1100" b="1" spc="100" kern="0" dirty="0">
                <a:solidFill>
                  <a:srgbClr val="C8A44D"/>
                </a:solidFill>
                <a:latin typeface="Calibri" pitchFamily="34" charset="0"/>
                <a:ea typeface="Calibri" pitchFamily="34" charset="-122"/>
                <a:cs typeface="Calibri" pitchFamily="34" charset="-120"/>
              </a:rPr>
              <a:t>Closing a call</a:t>
            </a:r>
            <a:endParaRPr lang="en-US" sz="1100" dirty="0"/>
          </a:p>
        </p:txBody>
      </p:sp>
      <p:sp>
        <p:nvSpPr>
          <p:cNvPr id="13" name="Text 11"/>
          <p:cNvSpPr txBox="1"/>
          <p:nvPr/>
        </p:nvSpPr>
        <p:spPr>
          <a:xfrm>
            <a:off x="6830568" y="3072384"/>
            <a:ext cx="4297680" cy="137160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This is the one to use when they said it out loud. It writes the flag AND the list, in the same breath — every rep, every channel, calls and texts and email. Their words go in the note; it will not save without them.</a:t>
            </a:r>
            <a:endParaRPr lang="en-US" sz="1250" dirty="0"/>
          </a:p>
        </p:txBody>
      </p:sp>
      <p:sp>
        <p:nvSpPr>
          <p:cNvPr id="14" name="Text 12"/>
          <p:cNvSpPr txBox="1"/>
          <p:nvPr/>
        </p:nvSpPr>
        <p:spPr>
          <a:xfrm>
            <a:off x="731520" y="4892040"/>
            <a:ext cx="10698480" cy="731520"/>
          </a:xfrm>
          <a:prstGeom prst="rect">
            <a:avLst/>
          </a:prstGeom>
          <a:noFill/>
          <a:ln/>
        </p:spPr>
        <p:txBody>
          <a:bodyPr wrap="square" rtlCol="0" anchor="ctr"/>
          <a:lstStyle/>
          <a:p>
            <a:pPr indent="0" marL="0">
              <a:buNone/>
            </a:pPr>
            <a:r>
              <a:rPr lang="en-US" sz="1600" i="1" dirty="0">
                <a:solidFill>
                  <a:srgbClr val="1E2761"/>
                </a:solidFill>
                <a:latin typeface="Cambria" pitchFamily="34" charset="0"/>
                <a:ea typeface="Cambria" pitchFamily="34" charset="-122"/>
                <a:cs typeface="Cambria" pitchFamily="34" charset="-120"/>
              </a:rPr>
              <a:t>Either way you never have to remember who said it. The list is read fresh at the moment of every call, text and email — a STOP text closes the phone too, and the dial button simply is not there next time.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Texts</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The first one is written for you. Everything after it is yours.</a:t>
            </a:r>
            <a:endParaRPr lang="en-US" sz="1500" dirty="0"/>
          </a:p>
        </p:txBody>
      </p:sp>
      <p:sp>
        <p:nvSpPr>
          <p:cNvPr id="4" name="Shape 2"/>
          <p:cNvSpPr/>
          <p:nvPr/>
        </p:nvSpPr>
        <p:spPr>
          <a:xfrm>
            <a:off x="731520" y="1920240"/>
            <a:ext cx="10698480" cy="804672"/>
          </a:xfrm>
          <a:prstGeom prst="rect">
            <a:avLst/>
          </a:prstGeom>
          <a:solidFill>
            <a:srgbClr val="F4F6FB"/>
          </a:solidFill>
          <a:ln/>
        </p:spPr>
      </p:sp>
      <p:sp>
        <p:nvSpPr>
          <p:cNvPr id="5" name="Text 3"/>
          <p:cNvSpPr txBox="1"/>
          <p:nvPr/>
        </p:nvSpPr>
        <p:spPr>
          <a:xfrm>
            <a:off x="960120" y="1975104"/>
            <a:ext cx="3200400" cy="694944"/>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first message is fixed</a:t>
            </a:r>
            <a:endParaRPr lang="en-US" sz="1450" dirty="0"/>
          </a:p>
        </p:txBody>
      </p:sp>
      <p:sp>
        <p:nvSpPr>
          <p:cNvPr id="6" name="Text 4"/>
          <p:cNvSpPr txBox="1"/>
          <p:nvPr/>
        </p:nvSpPr>
        <p:spPr>
          <a:xfrm>
            <a:off x="4297680" y="1975104"/>
            <a:ext cx="6858000" cy="694944"/>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Your name, FieldQuo, your signup link, our mailing address, “Reply STOP to opt out”. You cannot compose it, and that is what makes a first contact legal. It goes from the lead.</a:t>
            </a:r>
            <a:endParaRPr lang="en-US" sz="1200" dirty="0"/>
          </a:p>
        </p:txBody>
      </p:sp>
      <p:sp>
        <p:nvSpPr>
          <p:cNvPr id="7" name="Shape 5"/>
          <p:cNvSpPr/>
          <p:nvPr/>
        </p:nvSpPr>
        <p:spPr>
          <a:xfrm>
            <a:off x="731520" y="2834640"/>
            <a:ext cx="10698480" cy="804672"/>
          </a:xfrm>
          <a:prstGeom prst="rect">
            <a:avLst/>
          </a:prstGeom>
          <a:solidFill>
            <a:srgbClr val="F4F6FB"/>
          </a:solidFill>
          <a:ln/>
        </p:spPr>
      </p:sp>
      <p:sp>
        <p:nvSpPr>
          <p:cNvPr id="8" name="Text 6"/>
          <p:cNvSpPr txBox="1"/>
          <p:nvPr/>
        </p:nvSpPr>
        <p:spPr>
          <a:xfrm>
            <a:off x="960120" y="2889504"/>
            <a:ext cx="3200400" cy="694944"/>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Then it is a conversation</a:t>
            </a:r>
            <a:endParaRPr lang="en-US" sz="1450" dirty="0"/>
          </a:p>
        </p:txBody>
      </p:sp>
      <p:sp>
        <p:nvSpPr>
          <p:cNvPr id="9" name="Text 7"/>
          <p:cNvSpPr txBox="1"/>
          <p:nvPr/>
        </p:nvSpPr>
        <p:spPr>
          <a:xfrm>
            <a:off x="4297680" y="2889504"/>
            <a:ext cx="6858000" cy="694944"/>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They write back, you reply in your own words. You cannot open a free-text thread with a stranger — the first message has to be the one above, and trying it is refused in words.</a:t>
            </a:r>
            <a:endParaRPr lang="en-US" sz="1200" dirty="0"/>
          </a:p>
        </p:txBody>
      </p:sp>
      <p:sp>
        <p:nvSpPr>
          <p:cNvPr id="10" name="Shape 8"/>
          <p:cNvSpPr/>
          <p:nvPr/>
        </p:nvSpPr>
        <p:spPr>
          <a:xfrm>
            <a:off x="731520" y="3749040"/>
            <a:ext cx="10698480" cy="804672"/>
          </a:xfrm>
          <a:prstGeom prst="rect">
            <a:avLst/>
          </a:prstGeom>
          <a:solidFill>
            <a:srgbClr val="F4F6FB"/>
          </a:solidFill>
          <a:ln/>
        </p:spPr>
      </p:sp>
      <p:sp>
        <p:nvSpPr>
          <p:cNvPr id="11" name="Text 9"/>
          <p:cNvSpPr txBox="1"/>
          <p:nvPr/>
        </p:nvSpPr>
        <p:spPr>
          <a:xfrm>
            <a:off x="960120" y="3803904"/>
            <a:ext cx="3200400" cy="694944"/>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08:00 – 21:00, their clock</a:t>
            </a:r>
            <a:endParaRPr lang="en-US" sz="1450" dirty="0"/>
          </a:p>
        </p:txBody>
      </p:sp>
      <p:sp>
        <p:nvSpPr>
          <p:cNvPr id="12" name="Text 10"/>
          <p:cNvSpPr txBox="1"/>
          <p:nvPr/>
        </p:nvSpPr>
        <p:spPr>
          <a:xfrm>
            <a:off x="4297680" y="3803904"/>
            <a:ext cx="6858000" cy="694944"/>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Flat, every day. 20:59 is in and 21:00 is out. Different from the calling window on purpose: nothing in Canadian law times a commercial text, so the US rule is what binds it.</a:t>
            </a:r>
            <a:endParaRPr lang="en-US" sz="1200" dirty="0"/>
          </a:p>
        </p:txBody>
      </p:sp>
      <p:sp>
        <p:nvSpPr>
          <p:cNvPr id="13" name="Shape 11"/>
          <p:cNvSpPr/>
          <p:nvPr/>
        </p:nvSpPr>
        <p:spPr>
          <a:xfrm>
            <a:off x="731520" y="4663440"/>
            <a:ext cx="10698480" cy="804672"/>
          </a:xfrm>
          <a:prstGeom prst="rect">
            <a:avLst/>
          </a:prstGeom>
          <a:solidFill>
            <a:srgbClr val="F4F6FB"/>
          </a:solidFill>
          <a:ln/>
        </p:spPr>
      </p:sp>
      <p:sp>
        <p:nvSpPr>
          <p:cNvPr id="14" name="Text 12"/>
          <p:cNvSpPr txBox="1"/>
          <p:nvPr/>
        </p:nvSpPr>
        <p:spPr>
          <a:xfrm>
            <a:off x="960120" y="4718304"/>
            <a:ext cx="3200400" cy="694944"/>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Not the number that rang them</a:t>
            </a:r>
            <a:endParaRPr lang="en-US" sz="1450" dirty="0"/>
          </a:p>
        </p:txBody>
      </p:sp>
      <p:sp>
        <p:nvSpPr>
          <p:cNvPr id="15" name="Text 13"/>
          <p:cNvSpPr txBox="1"/>
          <p:nvPr/>
        </p:nvSpPr>
        <p:spPr>
          <a:xfrm>
            <a:off x="4297680" y="4718304"/>
            <a:ext cx="6858000" cy="694944"/>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Texts go out on one shared FieldQuo sales number. Your CALLS present a number matched to their area code, and a callback to that reaches you. Never tell a contractor to text back the number that rang them.</a:t>
            </a:r>
            <a:endParaRPr lang="en-US" sz="1200" dirty="0"/>
          </a:p>
        </p:txBody>
      </p:sp>
      <p:sp>
        <p:nvSpPr>
          <p:cNvPr id="16" name="Shape 14"/>
          <p:cNvSpPr/>
          <p:nvPr/>
        </p:nvSpPr>
        <p:spPr>
          <a:xfrm>
            <a:off x="731520" y="5577840"/>
            <a:ext cx="10698480" cy="804672"/>
          </a:xfrm>
          <a:prstGeom prst="rect">
            <a:avLst/>
          </a:prstGeom>
          <a:solidFill>
            <a:srgbClr val="F4F6FB"/>
          </a:solidFill>
          <a:ln/>
        </p:spPr>
      </p:sp>
      <p:sp>
        <p:nvSpPr>
          <p:cNvPr id="17" name="Text 15"/>
          <p:cNvSpPr txBox="1"/>
          <p:nvPr/>
        </p:nvSpPr>
        <p:spPr>
          <a:xfrm>
            <a:off x="960120" y="5632704"/>
            <a:ext cx="3200400" cy="694944"/>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Every refusal is the server's</a:t>
            </a:r>
            <a:endParaRPr lang="en-US" sz="1450" dirty="0"/>
          </a:p>
        </p:txBody>
      </p:sp>
      <p:sp>
        <p:nvSpPr>
          <p:cNvPr id="18" name="Text 16"/>
          <p:cNvSpPr txBox="1"/>
          <p:nvPr/>
        </p:nvSpPr>
        <p:spPr>
          <a:xfrm>
            <a:off x="4297680" y="5632704"/>
            <a:ext cx="6858000" cy="694944"/>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The compose box does not decide. The do-not-contact list, the window and the mailing address are all re-read at the moment you press send.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731520"/>
            <a:ext cx="10698480" cy="777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Your second job starts the day they sign</a:t>
            </a:r>
            <a:endParaRPr lang="en-US" sz="3400" dirty="0"/>
          </a:p>
        </p:txBody>
      </p:sp>
      <p:sp>
        <p:nvSpPr>
          <p:cNvPr id="3" name="Text 1"/>
          <p:cNvSpPr txBox="1"/>
          <p:nvPr/>
        </p:nvSpPr>
        <p:spPr>
          <a:xfrm>
            <a:off x="731520" y="1508760"/>
            <a:ext cx="10698480" cy="45720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signup that cancels in five weeks pays you twice. One still there at day 60 pays you three times.</a:t>
            </a:r>
            <a:endParaRPr lang="en-US" sz="1600" dirty="0"/>
          </a:p>
        </p:txBody>
      </p:sp>
      <p:sp>
        <p:nvSpPr>
          <p:cNvPr id="4" name="Shape 2"/>
          <p:cNvSpPr/>
          <p:nvPr/>
        </p:nvSpPr>
        <p:spPr>
          <a:xfrm>
            <a:off x="731520" y="2240280"/>
            <a:ext cx="2514600" cy="2286000"/>
          </a:xfrm>
          <a:prstGeom prst="roundRect">
            <a:avLst>
              <a:gd name="adj" fmla="val 5600"/>
            </a:avLst>
          </a:prstGeom>
          <a:solidFill>
            <a:srgbClr val="27346B"/>
          </a:solidFill>
          <a:ln/>
        </p:spPr>
      </p:sp>
      <p:sp>
        <p:nvSpPr>
          <p:cNvPr id="5" name="Text 3"/>
          <p:cNvSpPr txBox="1"/>
          <p:nvPr/>
        </p:nvSpPr>
        <p:spPr>
          <a:xfrm>
            <a:off x="969264" y="2423160"/>
            <a:ext cx="2039112" cy="457200"/>
          </a:xfrm>
          <a:prstGeom prst="rect">
            <a:avLst/>
          </a:prstGeom>
          <a:noFill/>
          <a:ln/>
        </p:spPr>
        <p:txBody>
          <a:bodyPr wrap="square" lIns="0" tIns="0" rIns="0" bIns="0" rtlCol="0" anchor="ctr"/>
          <a:lstStyle/>
          <a:p>
            <a:pPr indent="0" marL="0">
              <a:buNone/>
            </a:pPr>
            <a:r>
              <a:rPr lang="en-US" sz="2200" b="1" dirty="0">
                <a:solidFill>
                  <a:srgbClr val="C8A44D"/>
                </a:solidFill>
                <a:latin typeface="Cambria" pitchFamily="34" charset="0"/>
                <a:ea typeface="Cambria" pitchFamily="34" charset="-122"/>
                <a:cs typeface="Cambria" pitchFamily="34" charset="-120"/>
              </a:rPr>
              <a:t>Day 1</a:t>
            </a:r>
            <a:endParaRPr lang="en-US" sz="2200" dirty="0"/>
          </a:p>
        </p:txBody>
      </p:sp>
      <p:sp>
        <p:nvSpPr>
          <p:cNvPr id="6" name="Text 4"/>
          <p:cNvSpPr txBox="1"/>
          <p:nvPr/>
        </p:nvSpPr>
        <p:spPr>
          <a:xfrm>
            <a:off x="969264" y="2926080"/>
            <a:ext cx="2039112" cy="1463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About SETUP. Did anything stop them finishing? Somebody who hit a wall on their first evening will not come back to it alone.</a:t>
            </a:r>
            <a:endParaRPr lang="en-US" sz="1200" dirty="0"/>
          </a:p>
        </p:txBody>
      </p:sp>
      <p:sp>
        <p:nvSpPr>
          <p:cNvPr id="7" name="Shape 5"/>
          <p:cNvSpPr/>
          <p:nvPr/>
        </p:nvSpPr>
        <p:spPr>
          <a:xfrm>
            <a:off x="3429000" y="2240280"/>
            <a:ext cx="2514600" cy="2286000"/>
          </a:xfrm>
          <a:prstGeom prst="roundRect">
            <a:avLst>
              <a:gd name="adj" fmla="val 5600"/>
            </a:avLst>
          </a:prstGeom>
          <a:solidFill>
            <a:srgbClr val="27346B"/>
          </a:solidFill>
          <a:ln/>
        </p:spPr>
      </p:sp>
      <p:sp>
        <p:nvSpPr>
          <p:cNvPr id="8" name="Text 6"/>
          <p:cNvSpPr txBox="1"/>
          <p:nvPr/>
        </p:nvSpPr>
        <p:spPr>
          <a:xfrm>
            <a:off x="3666744" y="2423160"/>
            <a:ext cx="2039112" cy="457200"/>
          </a:xfrm>
          <a:prstGeom prst="rect">
            <a:avLst/>
          </a:prstGeom>
          <a:noFill/>
          <a:ln/>
        </p:spPr>
        <p:txBody>
          <a:bodyPr wrap="square" lIns="0" tIns="0" rIns="0" bIns="0" rtlCol="0" anchor="ctr"/>
          <a:lstStyle/>
          <a:p>
            <a:pPr indent="0" marL="0">
              <a:buNone/>
            </a:pPr>
            <a:r>
              <a:rPr lang="en-US" sz="2200" b="1" dirty="0">
                <a:solidFill>
                  <a:srgbClr val="C8A44D"/>
                </a:solidFill>
                <a:latin typeface="Cambria" pitchFamily="34" charset="0"/>
                <a:ea typeface="Cambria" pitchFamily="34" charset="-122"/>
                <a:cs typeface="Cambria" pitchFamily="34" charset="-120"/>
              </a:rPr>
              <a:t>Day 7</a:t>
            </a:r>
            <a:endParaRPr lang="en-US" sz="2200" dirty="0"/>
          </a:p>
        </p:txBody>
      </p:sp>
      <p:sp>
        <p:nvSpPr>
          <p:cNvPr id="9" name="Text 7"/>
          <p:cNvSpPr txBox="1"/>
          <p:nvPr/>
        </p:nvSpPr>
        <p:spPr>
          <a:xfrm>
            <a:off x="3666744" y="2926080"/>
            <a:ext cx="2039112" cy="1463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About USE. They have had a working week on a real job, so “is everything okay” is finally a question with an answer.</a:t>
            </a:r>
            <a:endParaRPr lang="en-US" sz="1200" dirty="0"/>
          </a:p>
        </p:txBody>
      </p:sp>
      <p:sp>
        <p:nvSpPr>
          <p:cNvPr id="10" name="Shape 8"/>
          <p:cNvSpPr/>
          <p:nvPr/>
        </p:nvSpPr>
        <p:spPr>
          <a:xfrm>
            <a:off x="6126480" y="2240280"/>
            <a:ext cx="2514600" cy="2286000"/>
          </a:xfrm>
          <a:prstGeom prst="roundRect">
            <a:avLst>
              <a:gd name="adj" fmla="val 5600"/>
            </a:avLst>
          </a:prstGeom>
          <a:solidFill>
            <a:srgbClr val="27346B"/>
          </a:solidFill>
          <a:ln/>
        </p:spPr>
      </p:sp>
      <p:sp>
        <p:nvSpPr>
          <p:cNvPr id="11" name="Text 9"/>
          <p:cNvSpPr txBox="1"/>
          <p:nvPr/>
        </p:nvSpPr>
        <p:spPr>
          <a:xfrm>
            <a:off x="6364224" y="2423160"/>
            <a:ext cx="2039112" cy="457200"/>
          </a:xfrm>
          <a:prstGeom prst="rect">
            <a:avLst/>
          </a:prstGeom>
          <a:noFill/>
          <a:ln/>
        </p:spPr>
        <p:txBody>
          <a:bodyPr wrap="square" lIns="0" tIns="0" rIns="0" bIns="0" rtlCol="0" anchor="ctr"/>
          <a:lstStyle/>
          <a:p>
            <a:pPr indent="0" marL="0">
              <a:buNone/>
            </a:pPr>
            <a:r>
              <a:rPr lang="en-US" sz="2200" b="1" dirty="0">
                <a:solidFill>
                  <a:srgbClr val="C8A44D"/>
                </a:solidFill>
                <a:latin typeface="Cambria" pitchFamily="34" charset="0"/>
                <a:ea typeface="Cambria" pitchFamily="34" charset="-122"/>
                <a:cs typeface="Cambria" pitchFamily="34" charset="-120"/>
              </a:rPr>
              <a:t>Then by reason</a:t>
            </a:r>
            <a:endParaRPr lang="en-US" sz="2200" dirty="0"/>
          </a:p>
        </p:txBody>
      </p:sp>
      <p:sp>
        <p:nvSpPr>
          <p:cNvPr id="12" name="Text 10"/>
          <p:cNvSpPr txBox="1"/>
          <p:nvPr/>
        </p:nvSpPr>
        <p:spPr>
          <a:xfrm>
            <a:off x="6364224" y="2926080"/>
            <a:ext cx="2039112" cy="1463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Payment failing, free period ending early, onboarding never finished, set-up steps open — ranked, with the reason printed.</a:t>
            </a:r>
            <a:endParaRPr lang="en-US" sz="1200" dirty="0"/>
          </a:p>
        </p:txBody>
      </p:sp>
      <p:sp>
        <p:nvSpPr>
          <p:cNvPr id="13" name="Shape 11"/>
          <p:cNvSpPr/>
          <p:nvPr/>
        </p:nvSpPr>
        <p:spPr>
          <a:xfrm>
            <a:off x="8823960" y="2240280"/>
            <a:ext cx="2514600" cy="2286000"/>
          </a:xfrm>
          <a:prstGeom prst="roundRect">
            <a:avLst>
              <a:gd name="adj" fmla="val 5600"/>
            </a:avLst>
          </a:prstGeom>
          <a:solidFill>
            <a:srgbClr val="27346B"/>
          </a:solidFill>
          <a:ln/>
        </p:spPr>
      </p:sp>
      <p:sp>
        <p:nvSpPr>
          <p:cNvPr id="14" name="Text 12"/>
          <p:cNvSpPr txBox="1"/>
          <p:nvPr/>
        </p:nvSpPr>
        <p:spPr>
          <a:xfrm>
            <a:off x="9061704" y="2423160"/>
            <a:ext cx="2039112" cy="457200"/>
          </a:xfrm>
          <a:prstGeom prst="rect">
            <a:avLst/>
          </a:prstGeom>
          <a:noFill/>
          <a:ln/>
        </p:spPr>
        <p:txBody>
          <a:bodyPr wrap="square" lIns="0" tIns="0" rIns="0" bIns="0" rtlCol="0" anchor="ctr"/>
          <a:lstStyle/>
          <a:p>
            <a:pPr indent="0" marL="0">
              <a:buNone/>
            </a:pPr>
            <a:r>
              <a:rPr lang="en-US" sz="2200" b="1" dirty="0">
                <a:solidFill>
                  <a:srgbClr val="C8A44D"/>
                </a:solidFill>
                <a:latin typeface="Cambria" pitchFamily="34" charset="0"/>
                <a:ea typeface="Cambria" pitchFamily="34" charset="-122"/>
                <a:cs typeface="Cambria" pitchFamily="34" charset="-120"/>
              </a:rPr>
              <a:t>Day 60</a:t>
            </a:r>
            <a:endParaRPr lang="en-US" sz="2200" dirty="0"/>
          </a:p>
        </p:txBody>
      </p:sp>
      <p:sp>
        <p:nvSpPr>
          <p:cNvPr id="15" name="Text 13"/>
          <p:cNvSpPr txBox="1"/>
          <p:nvPr/>
        </p:nvSpPr>
        <p:spPr>
          <a:xfrm>
            <a:off x="9061704" y="2926080"/>
            <a:ext cx="2039112" cy="1463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retention milestone. The third and largest commission, and the only one you can still influence.</a:t>
            </a:r>
            <a:endParaRPr lang="en-US" sz="1200" dirty="0"/>
          </a:p>
        </p:txBody>
      </p:sp>
      <p:sp>
        <p:nvSpPr>
          <p:cNvPr id="16" name="Text 14"/>
          <p:cNvSpPr txBox="1"/>
          <p:nvPr/>
        </p:nvSpPr>
        <p:spPr>
          <a:xfrm>
            <a:off x="731520" y="4800600"/>
            <a:ext cx="10698480" cy="73152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Every check-in is a DRAFT. Nothing sends on a schedule — the screen writes it, you read it, edit it and press send. It will not invent a number, a price or a link about somebody's business.</a:t>
            </a:r>
            <a:endParaRPr lang="en-US" sz="1600" dirty="0"/>
          </a:p>
        </p:txBody>
      </p:sp>
      <p:sp>
        <p:nvSpPr>
          <p:cNvPr id="17" name="Text 15"/>
          <p:cNvSpPr txBox="1"/>
          <p:nvPr/>
        </p:nvSpPr>
        <p:spPr>
          <a:xfrm>
            <a:off x="731520" y="5577840"/>
            <a:ext cx="10698480" cy="68580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Something actually broken goes to the Support tab — a ticket about one of your own companies, with a thread you can follow, raised while you are still on the phone. And the Demo tab holds one account, yours permanently, to drive in front of a prospect.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Your pay details</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The Pay tab — set it on your first day</a:t>
            </a:r>
            <a:endParaRPr lang="en-US" sz="1500" dirty="0"/>
          </a:p>
        </p:txBody>
      </p:sp>
      <p:sp>
        <p:nvSpPr>
          <p:cNvPr id="4" name="Shape 2"/>
          <p:cNvSpPr/>
          <p:nvPr/>
        </p:nvSpPr>
        <p:spPr>
          <a:xfrm>
            <a:off x="731520" y="1965960"/>
            <a:ext cx="10698480" cy="822960"/>
          </a:xfrm>
          <a:prstGeom prst="rect">
            <a:avLst/>
          </a:prstGeom>
          <a:solidFill>
            <a:srgbClr val="F4F6FB"/>
          </a:solidFill>
          <a:ln/>
        </p:spPr>
      </p:sp>
      <p:sp>
        <p:nvSpPr>
          <p:cNvPr id="5" name="Text 3"/>
          <p:cNvSpPr txBox="1"/>
          <p:nvPr/>
        </p:nvSpPr>
        <p:spPr>
          <a:xfrm>
            <a:off x="960120" y="2020824"/>
            <a:ext cx="3200400" cy="713232"/>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How you want the money</a:t>
            </a:r>
            <a:endParaRPr lang="en-US" sz="1450" dirty="0"/>
          </a:p>
        </p:txBody>
      </p:sp>
      <p:sp>
        <p:nvSpPr>
          <p:cNvPr id="6" name="Text 4"/>
          <p:cNvSpPr txBox="1"/>
          <p:nvPr/>
        </p:nvSpPr>
        <p:spPr>
          <a:xfrm>
            <a:off x="4297680" y="2020824"/>
            <a:ext cx="6858000" cy="713232"/>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Upwork, PayPal, Interac e-Transfer, Wise or a bank transfer. Each says its own trade-off before you choose, not after the money arrives short — Wise is usually the answer for a rep outside Canada.</a:t>
            </a:r>
            <a:endParaRPr lang="en-US" sz="1200" dirty="0"/>
          </a:p>
        </p:txBody>
      </p:sp>
      <p:sp>
        <p:nvSpPr>
          <p:cNvPr id="7" name="Shape 5"/>
          <p:cNvSpPr/>
          <p:nvPr/>
        </p:nvSpPr>
        <p:spPr>
          <a:xfrm>
            <a:off x="731520" y="2880360"/>
            <a:ext cx="10698480" cy="822960"/>
          </a:xfrm>
          <a:prstGeom prst="rect">
            <a:avLst/>
          </a:prstGeom>
          <a:solidFill>
            <a:srgbClr val="F4F6FB"/>
          </a:solidFill>
          <a:ln/>
        </p:spPr>
      </p:sp>
      <p:sp>
        <p:nvSpPr>
          <p:cNvPr id="8" name="Text 6"/>
          <p:cNvSpPr txBox="1"/>
          <p:nvPr/>
        </p:nvSpPr>
        <p:spPr>
          <a:xfrm>
            <a:off x="960120" y="2935224"/>
            <a:ext cx="3200400" cy="713232"/>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Where it goes</a:t>
            </a:r>
            <a:endParaRPr lang="en-US" sz="1450" dirty="0"/>
          </a:p>
        </p:txBody>
      </p:sp>
      <p:sp>
        <p:nvSpPr>
          <p:cNvPr id="9" name="Text 7"/>
          <p:cNvSpPr txBox="1"/>
          <p:nvPr/>
        </p:nvSpPr>
        <p:spPr>
          <a:xfrm>
            <a:off x="4297680" y="2935224"/>
            <a:ext cx="6858000" cy="713232"/>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Your handle or account. A method with no destination is refused rather than saved — half-set reads as done on every other screen.</a:t>
            </a:r>
            <a:endParaRPr lang="en-US" sz="1200" dirty="0"/>
          </a:p>
        </p:txBody>
      </p:sp>
      <p:sp>
        <p:nvSpPr>
          <p:cNvPr id="10" name="Shape 8"/>
          <p:cNvSpPr/>
          <p:nvPr/>
        </p:nvSpPr>
        <p:spPr>
          <a:xfrm>
            <a:off x="731520" y="3794760"/>
            <a:ext cx="10698480" cy="822960"/>
          </a:xfrm>
          <a:prstGeom prst="rect">
            <a:avLst/>
          </a:prstGeom>
          <a:solidFill>
            <a:srgbClr val="F4F6FB"/>
          </a:solidFill>
          <a:ln/>
        </p:spPr>
      </p:sp>
      <p:sp>
        <p:nvSpPr>
          <p:cNvPr id="11" name="Text 9"/>
          <p:cNvSpPr txBox="1"/>
          <p:nvPr/>
        </p:nvSpPr>
        <p:spPr>
          <a:xfrm>
            <a:off x="960120" y="3849624"/>
            <a:ext cx="3200400" cy="713232"/>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When you last confirmed it</a:t>
            </a:r>
            <a:endParaRPr lang="en-US" sz="1450" dirty="0"/>
          </a:p>
        </p:txBody>
      </p:sp>
      <p:sp>
        <p:nvSpPr>
          <p:cNvPr id="12" name="Text 10"/>
          <p:cNvSpPr txBox="1"/>
          <p:nvPr/>
        </p:nvSpPr>
        <p:spPr>
          <a:xfrm>
            <a:off x="4297680" y="3849624"/>
            <a:ext cx="6858000" cy="713232"/>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The date is shown, not a tick. An account confirmed two years ago is not the same claim as one confirmed last week.</a:t>
            </a:r>
            <a:endParaRPr lang="en-US" sz="1200" dirty="0"/>
          </a:p>
        </p:txBody>
      </p:sp>
      <p:sp>
        <p:nvSpPr>
          <p:cNvPr id="13" name="Shape 11"/>
          <p:cNvSpPr/>
          <p:nvPr/>
        </p:nvSpPr>
        <p:spPr>
          <a:xfrm>
            <a:off x="731520" y="4709160"/>
            <a:ext cx="10698480" cy="822960"/>
          </a:xfrm>
          <a:prstGeom prst="rect">
            <a:avLst/>
          </a:prstGeom>
          <a:solidFill>
            <a:srgbClr val="F4F6FB"/>
          </a:solidFill>
          <a:ln/>
        </p:spPr>
      </p:sp>
      <p:sp>
        <p:nvSpPr>
          <p:cNvPr id="14" name="Text 12"/>
          <p:cNvSpPr txBox="1"/>
          <p:nvPr/>
        </p:nvSpPr>
        <p:spPr>
          <a:xfrm>
            <a:off x="960120" y="4764024"/>
            <a:ext cx="3200400" cy="713232"/>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Freelancer or employee</a:t>
            </a:r>
            <a:endParaRPr lang="en-US" sz="1450" dirty="0"/>
          </a:p>
        </p:txBody>
      </p:sp>
      <p:sp>
        <p:nvSpPr>
          <p:cNvPr id="15" name="Text 13"/>
          <p:cNvSpPr txBox="1"/>
          <p:nvPr/>
        </p:nvSpPr>
        <p:spPr>
          <a:xfrm>
            <a:off x="4297680" y="4764024"/>
            <a:ext cx="6858000" cy="713232"/>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Shown, not chosen. It decides paid leave and what is withheld, so FieldQuo sets it. If it looks wrong, say so and it is corrected.</a:t>
            </a:r>
            <a:endParaRPr lang="en-US" sz="1200" dirty="0"/>
          </a:p>
        </p:txBody>
      </p:sp>
      <p:sp>
        <p:nvSpPr>
          <p:cNvPr id="16" name="Shape 14"/>
          <p:cNvSpPr/>
          <p:nvPr/>
        </p:nvSpPr>
        <p:spPr>
          <a:xfrm>
            <a:off x="731520" y="5623560"/>
            <a:ext cx="10698480" cy="822960"/>
          </a:xfrm>
          <a:prstGeom prst="rect">
            <a:avLst/>
          </a:prstGeom>
          <a:solidFill>
            <a:srgbClr val="F4F6FB"/>
          </a:solidFill>
          <a:ln/>
        </p:spPr>
      </p:sp>
      <p:sp>
        <p:nvSpPr>
          <p:cNvPr id="17" name="Text 15"/>
          <p:cNvSpPr txBox="1"/>
          <p:nvPr/>
        </p:nvSpPr>
        <p:spPr>
          <a:xfrm>
            <a:off x="960120" y="5678424"/>
            <a:ext cx="3200400" cy="713232"/>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Your language, honestly</a:t>
            </a:r>
            <a:endParaRPr lang="en-US" sz="1450" dirty="0"/>
          </a:p>
        </p:txBody>
      </p:sp>
      <p:sp>
        <p:nvSpPr>
          <p:cNvPr id="18" name="Text 16"/>
          <p:cNvSpPr txBox="1"/>
          <p:nvPr/>
        </p:nvSpPr>
        <p:spPr>
          <a:xfrm>
            <a:off x="4297680" y="5678424"/>
            <a:ext cx="6858000" cy="713232"/>
          </a:xfrm>
          <a:prstGeom prst="rect">
            <a:avLst/>
          </a:prstGeom>
          <a:noFill/>
          <a:ln/>
        </p:spPr>
        <p:txBody>
          <a:bodyPr wrap="square" lIns="0" tIns="0" rIns="0" bIns="0" rtlCol="0" anchor="ctr"/>
          <a:lstStyle/>
          <a:p>
            <a:pPr indent="0" marL="0">
              <a:buNone/>
            </a:pPr>
            <a:r>
              <a:rPr lang="en-US" sz="1200" dirty="0">
                <a:solidFill>
                  <a:srgbClr val="5A6070"/>
                </a:solidFill>
                <a:latin typeface="Calibri" pitchFamily="34" charset="0"/>
                <a:ea typeface="Calibri" pitchFamily="34" charset="-122"/>
                <a:cs typeface="Calibri" pitchFamily="34" charset="-120"/>
              </a:rPr>
              <a:t>The picker is on this tab. It moves the menus, the sign-in screen and your companies book. The prospecting screens are still in English, and it says so rather than pretending otherwise.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Things that will look like bugs and are not</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Said upfront, because you will find them in week one either way.</a:t>
            </a:r>
            <a:endParaRPr lang="en-US" sz="1500" dirty="0"/>
          </a:p>
        </p:txBody>
      </p:sp>
      <p:sp>
        <p:nvSpPr>
          <p:cNvPr id="4" name="Shape 2"/>
          <p:cNvSpPr/>
          <p:nvPr/>
        </p:nvSpPr>
        <p:spPr>
          <a:xfrm>
            <a:off x="731520" y="1920240"/>
            <a:ext cx="10698480" cy="1234440"/>
          </a:xfrm>
          <a:prstGeom prst="roundRect">
            <a:avLst>
              <a:gd name="adj" fmla="val 10370"/>
            </a:avLst>
          </a:prstGeom>
          <a:solidFill>
            <a:srgbClr val="F4F6FB"/>
          </a:solidFill>
          <a:ln/>
        </p:spPr>
      </p:sp>
      <p:sp>
        <p:nvSpPr>
          <p:cNvPr id="5" name="Text 3"/>
          <p:cNvSpPr txBox="1"/>
          <p:nvPr/>
        </p:nvSpPr>
        <p:spPr>
          <a:xfrm>
            <a:off x="1051560" y="2084832"/>
            <a:ext cx="10058400" cy="365760"/>
          </a:xfrm>
          <a:prstGeom prst="rect">
            <a:avLst/>
          </a:prstGeom>
          <a:noFill/>
          <a:ln/>
        </p:spPr>
        <p:txBody>
          <a:bodyPr wrap="square" lIns="0" tIns="0" rIns="0" bIns="0" rtlCol="0" anchor="ctr"/>
          <a:lstStyle/>
          <a:p>
            <a:pPr indent="0" marL="0">
              <a:buNone/>
            </a:pPr>
            <a:r>
              <a:rPr lang="en-US" sz="1800" b="1" dirty="0">
                <a:solidFill>
                  <a:srgbClr val="1E2761"/>
                </a:solidFill>
                <a:latin typeface="Calibri" pitchFamily="34" charset="0"/>
                <a:ea typeface="Calibri" pitchFamily="34" charset="-122"/>
                <a:cs typeface="Calibri" pitchFamily="34" charset="-120"/>
              </a:rPr>
              <a:t>Worked prospects stay in your queue</a:t>
            </a:r>
            <a:endParaRPr lang="en-US" sz="1800" dirty="0"/>
          </a:p>
        </p:txBody>
      </p:sp>
      <p:sp>
        <p:nvSpPr>
          <p:cNvPr id="6" name="Text 4"/>
          <p:cNvSpPr txBox="1"/>
          <p:nvPr/>
        </p:nvSpPr>
        <p:spPr>
          <a:xfrm>
            <a:off x="1051560" y="2450592"/>
            <a:ext cx="10058400" cy="640080"/>
          </a:xfrm>
          <a:prstGeom prst="rect">
            <a:avLst/>
          </a:prstGeom>
          <a:noFill/>
          <a:ln/>
        </p:spPr>
        <p:txBody>
          <a:bodyPr wrap="square" lIns="0" tIns="0" rIns="0" bIns="0" rtlCol="0" anchor="ctr"/>
          <a:lstStyle/>
          <a:p>
            <a:pPr indent="0" marL="0">
              <a:buNone/>
            </a:pPr>
            <a:r>
              <a:rPr lang="en-US" sz="1350" dirty="0">
                <a:solidFill>
                  <a:srgbClr val="5A6070"/>
                </a:solidFill>
                <a:latin typeface="Calibri" pitchFamily="34" charset="0"/>
                <a:ea typeface="Calibri" pitchFamily="34" charset="-122"/>
                <a:cs typeface="Calibri" pitchFamily="34" charset="-120"/>
              </a:rPr>
              <a:t>Marking one “worked” stops it lapsing, and the queue matches on exactly that — so it accumulates rather than emptying. Your Today count still comes down, because worked ones are left out of it.</a:t>
            </a:r>
            <a:endParaRPr lang="en-US" sz="1350" dirty="0"/>
          </a:p>
        </p:txBody>
      </p:sp>
      <p:sp>
        <p:nvSpPr>
          <p:cNvPr id="7" name="Shape 5"/>
          <p:cNvSpPr/>
          <p:nvPr/>
        </p:nvSpPr>
        <p:spPr>
          <a:xfrm>
            <a:off x="731520" y="3337560"/>
            <a:ext cx="10698480" cy="1234440"/>
          </a:xfrm>
          <a:prstGeom prst="roundRect">
            <a:avLst>
              <a:gd name="adj" fmla="val 10370"/>
            </a:avLst>
          </a:prstGeom>
          <a:solidFill>
            <a:srgbClr val="F4F6FB"/>
          </a:solidFill>
          <a:ln/>
        </p:spPr>
      </p:sp>
      <p:sp>
        <p:nvSpPr>
          <p:cNvPr id="8" name="Text 6"/>
          <p:cNvSpPr txBox="1"/>
          <p:nvPr/>
        </p:nvSpPr>
        <p:spPr>
          <a:xfrm>
            <a:off x="1051560" y="3502152"/>
            <a:ext cx="10058400" cy="365760"/>
          </a:xfrm>
          <a:prstGeom prst="rect">
            <a:avLst/>
          </a:prstGeom>
          <a:noFill/>
          <a:ln/>
        </p:spPr>
        <p:txBody>
          <a:bodyPr wrap="square" lIns="0" tIns="0" rIns="0" bIns="0" rtlCol="0" anchor="ctr"/>
          <a:lstStyle/>
          <a:p>
            <a:pPr indent="0" marL="0">
              <a:buNone/>
            </a:pPr>
            <a:r>
              <a:rPr lang="en-US" sz="1800" b="1" dirty="0">
                <a:solidFill>
                  <a:srgbClr val="1E2761"/>
                </a:solidFill>
                <a:latin typeface="Calibri" pitchFamily="34" charset="0"/>
                <a:ea typeface="Calibri" pitchFamily="34" charset="-122"/>
                <a:cs typeface="Calibri" pitchFamily="34" charset="-120"/>
              </a:rPr>
              <a:t>A contractor who texted STOP reads as “No sales number yet”</a:t>
            </a:r>
            <a:endParaRPr lang="en-US" sz="1800" dirty="0"/>
          </a:p>
        </p:txBody>
      </p:sp>
      <p:sp>
        <p:nvSpPr>
          <p:cNvPr id="9" name="Text 7"/>
          <p:cNvSpPr txBox="1"/>
          <p:nvPr/>
        </p:nvSpPr>
        <p:spPr>
          <a:xfrm>
            <a:off x="1051560" y="3867912"/>
            <a:ext cx="10058400" cy="640080"/>
          </a:xfrm>
          <a:prstGeom prst="rect">
            <a:avLst/>
          </a:prstGeom>
          <a:noFill/>
          <a:ln/>
        </p:spPr>
        <p:txBody>
          <a:bodyPr wrap="square" lIns="0" tIns="0" rIns="0" bIns="0" rtlCol="0" anchor="ctr"/>
          <a:lstStyle/>
          <a:p>
            <a:pPr indent="0" marL="0">
              <a:buNone/>
            </a:pPr>
            <a:r>
              <a:rPr lang="en-US" sz="1350" dirty="0">
                <a:solidFill>
                  <a:srgbClr val="5A6070"/>
                </a:solidFill>
                <a:latin typeface="Calibri" pitchFamily="34" charset="0"/>
                <a:ea typeface="Calibri" pitchFamily="34" charset="-122"/>
                <a:cs typeface="Calibri" pitchFamily="34" charset="-120"/>
              </a:rPr>
              <a:t>The dial control is correctly gone and the sentence underneath is the true one. The heading above it is wrong and will send you off to look for a number they do not want you to use. Read the sentence.</a:t>
            </a:r>
            <a:endParaRPr lang="en-US" sz="1350" dirty="0"/>
          </a:p>
        </p:txBody>
      </p:sp>
      <p:sp>
        <p:nvSpPr>
          <p:cNvPr id="10" name="Shape 8"/>
          <p:cNvSpPr/>
          <p:nvPr/>
        </p:nvSpPr>
        <p:spPr>
          <a:xfrm>
            <a:off x="731520" y="4754880"/>
            <a:ext cx="10698480" cy="1234440"/>
          </a:xfrm>
          <a:prstGeom prst="roundRect">
            <a:avLst>
              <a:gd name="adj" fmla="val 10370"/>
            </a:avLst>
          </a:prstGeom>
          <a:solidFill>
            <a:srgbClr val="F4F6FB"/>
          </a:solidFill>
          <a:ln/>
        </p:spPr>
      </p:sp>
      <p:sp>
        <p:nvSpPr>
          <p:cNvPr id="11" name="Text 9"/>
          <p:cNvSpPr txBox="1"/>
          <p:nvPr/>
        </p:nvSpPr>
        <p:spPr>
          <a:xfrm>
            <a:off x="1051560" y="4919472"/>
            <a:ext cx="10058400" cy="365760"/>
          </a:xfrm>
          <a:prstGeom prst="rect">
            <a:avLst/>
          </a:prstGeom>
          <a:noFill/>
          <a:ln/>
        </p:spPr>
        <p:txBody>
          <a:bodyPr wrap="square" lIns="0" tIns="0" rIns="0" bIns="0" rtlCol="0" anchor="ctr"/>
          <a:lstStyle/>
          <a:p>
            <a:pPr indent="0" marL="0">
              <a:buNone/>
            </a:pPr>
            <a:r>
              <a:rPr lang="en-US" sz="1800" b="1" dirty="0">
                <a:solidFill>
                  <a:srgbClr val="1E2761"/>
                </a:solidFill>
                <a:latin typeface="Calibri" pitchFamily="34" charset="0"/>
                <a:ea typeface="Calibri" pitchFamily="34" charset="-122"/>
                <a:cs typeface="Calibri" pitchFamily="34" charset="-120"/>
              </a:rPr>
              <a:t>A text you send may report a failure it did not have</a:t>
            </a:r>
            <a:endParaRPr lang="en-US" sz="1800" dirty="0"/>
          </a:p>
        </p:txBody>
      </p:sp>
      <p:sp>
        <p:nvSpPr>
          <p:cNvPr id="12" name="Text 10"/>
          <p:cNvSpPr txBox="1"/>
          <p:nvPr/>
        </p:nvSpPr>
        <p:spPr>
          <a:xfrm>
            <a:off x="1051560" y="5285232"/>
            <a:ext cx="10058400" cy="640080"/>
          </a:xfrm>
          <a:prstGeom prst="rect">
            <a:avLst/>
          </a:prstGeom>
          <a:noFill/>
          <a:ln/>
        </p:spPr>
        <p:txBody>
          <a:bodyPr wrap="square" lIns="0" tIns="0" rIns="0" bIns="0" rtlCol="0" anchor="ctr"/>
          <a:lstStyle/>
          <a:p>
            <a:pPr indent="0" marL="0">
              <a:buNone/>
            </a:pPr>
            <a:r>
              <a:rPr lang="en-US" sz="1350" dirty="0">
                <a:solidFill>
                  <a:srgbClr val="5A6070"/>
                </a:solidFill>
                <a:latin typeface="Calibri" pitchFamily="34" charset="0"/>
                <a:ea typeface="Calibri" pitchFamily="34" charset="-122"/>
                <a:cs typeface="Calibri" pitchFamily="34" charset="-120"/>
              </a:rPr>
              <a:t>The message goes out and the screen says the provider refused it. Do not resend — you will text them twice. Check with somebody instead. Being fixed.</a:t>
            </a:r>
            <a:endParaRPr lang="en-US" sz="1350" dirty="0"/>
          </a:p>
        </p:txBody>
      </p:sp>
      <p:sp>
        <p:nvSpPr>
          <p:cNvPr id="13" name="Text 11"/>
          <p:cNvSpPr txBox="1"/>
          <p:nvPr/>
        </p:nvSpPr>
        <p:spPr>
          <a:xfrm>
            <a:off x="731520" y="5486400"/>
            <a:ext cx="10698480" cy="457200"/>
          </a:xfrm>
          <a:prstGeom prst="rect">
            <a:avLst/>
          </a:prstGeom>
          <a:noFill/>
          <a:ln/>
        </p:spPr>
        <p:txBody>
          <a:bodyPr wrap="square" rtlCol="0" anchor="ctr"/>
          <a:lstStyle/>
          <a:p>
            <a:pPr indent="0" marL="0">
              <a:buNone/>
            </a:pPr>
            <a:r>
              <a:rPr lang="en-US" sz="1700" i="1" dirty="0">
                <a:solidFill>
                  <a:srgbClr val="1E2761"/>
                </a:solidFill>
                <a:latin typeface="Cambria" pitchFamily="34" charset="0"/>
                <a:ea typeface="Cambria" pitchFamily="34" charset="-122"/>
                <a:cs typeface="Cambria" pitchFamily="34" charset="-120"/>
              </a:rPr>
              <a:t>You will find others. Tell us — the written SOP records every one of these honestly, and it is kept that way on purpose.</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280160"/>
            <a:ext cx="8686800" cy="82296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Your first day</a:t>
            </a:r>
            <a:endParaRPr lang="en-US" sz="4400" dirty="0"/>
          </a:p>
        </p:txBody>
      </p:sp>
      <p:sp>
        <p:nvSpPr>
          <p:cNvPr id="3" name="Shape 1"/>
          <p:cNvSpPr/>
          <p:nvPr/>
        </p:nvSpPr>
        <p:spPr>
          <a:xfrm>
            <a:off x="731520" y="2359152"/>
            <a:ext cx="402336" cy="402336"/>
          </a:xfrm>
          <a:prstGeom prst="ellipse">
            <a:avLst/>
          </a:prstGeom>
          <a:solidFill>
            <a:srgbClr val="C8A44D"/>
          </a:solidFill>
          <a:ln/>
        </p:spPr>
      </p:sp>
      <p:sp>
        <p:nvSpPr>
          <p:cNvPr id="4" name="Text 2"/>
          <p:cNvSpPr txBox="1"/>
          <p:nvPr/>
        </p:nvSpPr>
        <p:spPr>
          <a:xfrm>
            <a:off x="731520" y="2359152"/>
            <a:ext cx="402336" cy="402336"/>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389888" y="2377440"/>
            <a:ext cx="9875520" cy="402336"/>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Accept your invite, sign in, and write the password down — there is no reset</a:t>
            </a:r>
            <a:endParaRPr lang="en-US" sz="1800" dirty="0"/>
          </a:p>
        </p:txBody>
      </p:sp>
      <p:sp>
        <p:nvSpPr>
          <p:cNvPr id="6" name="Shape 4"/>
          <p:cNvSpPr/>
          <p:nvPr/>
        </p:nvSpPr>
        <p:spPr>
          <a:xfrm>
            <a:off x="731520" y="3072384"/>
            <a:ext cx="402336" cy="402336"/>
          </a:xfrm>
          <a:prstGeom prst="ellipse">
            <a:avLst/>
          </a:prstGeom>
          <a:solidFill>
            <a:srgbClr val="C8A44D"/>
          </a:solidFill>
          <a:ln/>
        </p:spPr>
      </p:sp>
      <p:sp>
        <p:nvSpPr>
          <p:cNvPr id="7" name="Text 5"/>
          <p:cNvSpPr txBox="1"/>
          <p:nvPr/>
        </p:nvSpPr>
        <p:spPr>
          <a:xfrm>
            <a:off x="731520" y="3072384"/>
            <a:ext cx="402336" cy="402336"/>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389888" y="3090672"/>
            <a:ext cx="9875520" cy="402336"/>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Set the Pay tab. Nobody is paid until it is set</a:t>
            </a:r>
            <a:endParaRPr lang="en-US" sz="1800" dirty="0"/>
          </a:p>
        </p:txBody>
      </p:sp>
      <p:sp>
        <p:nvSpPr>
          <p:cNvPr id="9" name="Shape 7"/>
          <p:cNvSpPr/>
          <p:nvPr/>
        </p:nvSpPr>
        <p:spPr>
          <a:xfrm>
            <a:off x="731520" y="3785616"/>
            <a:ext cx="402336" cy="402336"/>
          </a:xfrm>
          <a:prstGeom prst="ellipse">
            <a:avLst/>
          </a:prstGeom>
          <a:solidFill>
            <a:srgbClr val="C8A44D"/>
          </a:solidFill>
          <a:ln/>
        </p:spPr>
      </p:sp>
      <p:sp>
        <p:nvSpPr>
          <p:cNvPr id="10" name="Text 8"/>
          <p:cNvSpPr txBox="1"/>
          <p:nvPr/>
        </p:nvSpPr>
        <p:spPr>
          <a:xfrm>
            <a:off x="731520" y="3785616"/>
            <a:ext cx="402336" cy="402336"/>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389888" y="3803904"/>
            <a:ext cx="9875520" cy="402336"/>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Check your signup link works — send it to yourself</a:t>
            </a:r>
            <a:endParaRPr lang="en-US" sz="1800" dirty="0"/>
          </a:p>
        </p:txBody>
      </p:sp>
      <p:sp>
        <p:nvSpPr>
          <p:cNvPr id="12" name="Shape 10"/>
          <p:cNvSpPr/>
          <p:nvPr/>
        </p:nvSpPr>
        <p:spPr>
          <a:xfrm>
            <a:off x="731520" y="4498848"/>
            <a:ext cx="402336" cy="402336"/>
          </a:xfrm>
          <a:prstGeom prst="ellipse">
            <a:avLst/>
          </a:prstGeom>
          <a:solidFill>
            <a:srgbClr val="C8A44D"/>
          </a:solidFill>
          <a:ln/>
        </p:spPr>
      </p:sp>
      <p:sp>
        <p:nvSpPr>
          <p:cNvPr id="13" name="Text 11"/>
          <p:cNvSpPr txBox="1"/>
          <p:nvPr/>
        </p:nvSpPr>
        <p:spPr>
          <a:xfrm>
            <a:off x="731520" y="4498848"/>
            <a:ext cx="402336" cy="402336"/>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4</a:t>
            </a:r>
            <a:endParaRPr lang="en-US" sz="1500" dirty="0"/>
          </a:p>
        </p:txBody>
      </p:sp>
      <p:sp>
        <p:nvSpPr>
          <p:cNvPr id="14" name="Text 12"/>
          <p:cNvSpPr txBox="1"/>
          <p:nvPr/>
        </p:nvSpPr>
        <p:spPr>
          <a:xfrm>
            <a:off x="1389888" y="4517136"/>
            <a:ext cx="9875520" cy="402336"/>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Claim one prospect and read all four research layers before dialling</a:t>
            </a:r>
            <a:endParaRPr lang="en-US" sz="1800" dirty="0"/>
          </a:p>
        </p:txBody>
      </p:sp>
      <p:sp>
        <p:nvSpPr>
          <p:cNvPr id="15" name="Shape 13"/>
          <p:cNvSpPr/>
          <p:nvPr/>
        </p:nvSpPr>
        <p:spPr>
          <a:xfrm>
            <a:off x="731520" y="5212080"/>
            <a:ext cx="402336" cy="402336"/>
          </a:xfrm>
          <a:prstGeom prst="ellipse">
            <a:avLst/>
          </a:prstGeom>
          <a:solidFill>
            <a:srgbClr val="C8A44D"/>
          </a:solidFill>
          <a:ln/>
        </p:spPr>
      </p:sp>
      <p:sp>
        <p:nvSpPr>
          <p:cNvPr id="16" name="Text 14"/>
          <p:cNvSpPr txBox="1"/>
          <p:nvPr/>
        </p:nvSpPr>
        <p:spPr>
          <a:xfrm>
            <a:off x="731520" y="5212080"/>
            <a:ext cx="402336" cy="402336"/>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5</a:t>
            </a:r>
            <a:endParaRPr lang="en-US" sz="1500" dirty="0"/>
          </a:p>
        </p:txBody>
      </p:sp>
      <p:sp>
        <p:nvSpPr>
          <p:cNvPr id="17" name="Text 15"/>
          <p:cNvSpPr txBox="1"/>
          <p:nvPr/>
        </p:nvSpPr>
        <p:spPr>
          <a:xfrm>
            <a:off x="1389888" y="5230368"/>
            <a:ext cx="9875520" cy="402336"/>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Make your first call, then close the claim out properly</a:t>
            </a:r>
            <a:endParaRPr lang="en-US" sz="1800" dirty="0"/>
          </a:p>
        </p:txBody>
      </p:sp>
      <p:sp>
        <p:nvSpPr>
          <p:cNvPr id="18" name="Text 16"/>
          <p:cNvSpPr txBox="1"/>
          <p:nvPr/>
        </p:nvSpPr>
        <p:spPr>
          <a:xfrm>
            <a:off x="731520" y="5577840"/>
            <a:ext cx="10698480" cy="457200"/>
          </a:xfrm>
          <a:prstGeom prst="rect">
            <a:avLst/>
          </a:prstGeom>
          <a:noFill/>
          <a:ln/>
        </p:spPr>
        <p:txBody>
          <a:bodyPr wrap="square" rtlCol="0" anchor="ctr"/>
          <a:lstStyle/>
          <a:p>
            <a:pPr indent="0" marL="0">
              <a:buNone/>
            </a:pPr>
            <a:r>
              <a:rPr lang="en-US" sz="1800" i="1" dirty="0">
                <a:solidFill>
                  <a:srgbClr val="CADCFC"/>
                </a:solidFill>
                <a:latin typeface="Cambria" pitchFamily="34" charset="0"/>
                <a:ea typeface="Cambria" pitchFamily="34" charset="-122"/>
                <a:cs typeface="Cambria" pitchFamily="34" charset="-120"/>
              </a:rPr>
              <a:t>Everything else is in the written SOP. Keep it open for the first week.</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you work — sales rep SOP</dc:title>
  <dc:subject>PptxGenJS Presentation</dc:subject>
  <dc:creator>FieldQuo</dc:creator>
  <cp:lastModifiedBy>FieldQuo</cp:lastModifiedBy>
  <cp:revision>1</cp:revision>
  <dcterms:created xsi:type="dcterms:W3CDTF">2026-09-10T16:18:06Z</dcterms:created>
  <dcterms:modified xsi:type="dcterms:W3CDTF">2026-09-10T16:18:06Z</dcterms:modified>
</cp:coreProperties>
</file>