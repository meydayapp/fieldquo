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Activation ($20)</c:v>
                </c:pt>
              </c:strCache>
            </c:strRef>
          </c:tx>
          <c:spPr>
            <a:solidFill>
              <a:srgbClr val="1E2761"/>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Month 1</c:v>
                  </c:pt>
                  <c:pt idx="1">
                    <c:v>Month 2</c:v>
                  </c:pt>
                  <c:pt idx="2">
                    <c:v>Month 3</c:v>
                  </c:pt>
                  <c:pt idx="3">
                    <c:v>Month 4</c:v>
                  </c:pt>
                </c:lvl>
              </c:multiLvlStrCache>
            </c:multiLvlStrRef>
          </c:cat>
          <c:val>
            <c:numRef>
              <c:f>Sheet1!$B$2:$B$5</c:f>
              <c:numCache>
                <c:formatCode>General</c:formatCode>
                <c:ptCount val="4"/>
                <c:pt idx="0">
                  <c:v>2000</c:v>
                </c:pt>
                <c:pt idx="1">
                  <c:v>2000</c:v>
                </c:pt>
                <c:pt idx="2">
                  <c:v>2000</c:v>
                </c:pt>
                <c:pt idx="3">
                  <c:v>2000</c:v>
                </c:pt>
              </c:numCache>
            </c:numRef>
          </c:val>
        </c:ser>
        <c:ser>
          <c:idx val="1"/>
          <c:order val="1"/>
          <c:tx>
            <c:strRef>
              <c:f>Sheet1!$C$1</c:f>
              <c:strCache>
                <c:ptCount val="1"/>
                <c:pt idx="0">
                  <c:v>First cycle ($40)</c:v>
                </c:pt>
              </c:strCache>
            </c:strRef>
          </c:tx>
          <c:spPr>
            <a:solidFill>
              <a:srgbClr val="4A6FA5"/>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Month 1</c:v>
                  </c:pt>
                  <c:pt idx="1">
                    <c:v>Month 2</c:v>
                  </c:pt>
                  <c:pt idx="2">
                    <c:v>Month 3</c:v>
                  </c:pt>
                  <c:pt idx="3">
                    <c:v>Month 4</c:v>
                  </c:pt>
                </c:lvl>
              </c:multiLvlStrCache>
            </c:multiLvlStrRef>
          </c:cat>
          <c:val>
            <c:numRef>
              <c:f>Sheet1!$C$2:$C$5</c:f>
              <c:numCache>
                <c:formatCode>General</c:formatCode>
                <c:ptCount val="4"/>
                <c:pt idx="0">
                  <c:v>0</c:v>
                </c:pt>
                <c:pt idx="1">
                  <c:v>4000</c:v>
                </c:pt>
                <c:pt idx="2">
                  <c:v>4000</c:v>
                </c:pt>
                <c:pt idx="3">
                  <c:v>4000</c:v>
                </c:pt>
              </c:numCache>
            </c:numRef>
          </c:val>
        </c:ser>
        <c:ser>
          <c:idx val="2"/>
          <c:order val="2"/>
          <c:tx>
            <c:strRef>
              <c:f>Sheet1!$D$1</c:f>
              <c:strCache>
                <c:ptCount val="1"/>
                <c:pt idx="0">
                  <c:v>Retention ($65)</c:v>
                </c:pt>
              </c:strCache>
            </c:strRef>
          </c:tx>
          <c:spPr>
            <a:solidFill>
              <a:srgbClr val="C8A44D"/>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Month 1</c:v>
                  </c:pt>
                  <c:pt idx="1">
                    <c:v>Month 2</c:v>
                  </c:pt>
                  <c:pt idx="2">
                    <c:v>Month 3</c:v>
                  </c:pt>
                  <c:pt idx="3">
                    <c:v>Month 4</c:v>
                  </c:pt>
                </c:lvl>
              </c:multiLvlStrCache>
            </c:multiLvlStrRef>
          </c:cat>
          <c:val>
            <c:numRef>
              <c:f>Sheet1!$D$2:$D$5</c:f>
              <c:numCache>
                <c:formatCode>General</c:formatCode>
                <c:ptCount val="4"/>
                <c:pt idx="0">
                  <c:v>0</c:v>
                </c:pt>
                <c:pt idx="1">
                  <c:v>0</c:v>
                </c:pt>
                <c:pt idx="2">
                  <c:v>6500</c:v>
                </c:pt>
                <c:pt idx="3">
                  <c:v>6500</c:v>
                </c:pt>
              </c:numCache>
            </c:numRef>
          </c:val>
        </c:ser>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0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0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The number is real but it arrives in three stages — that is the whole point of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stage 3 is 60 days out. This is why the first month of earnings looks thinner than the run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a month is 5 a working day. Be straight that months one and two are the ramp: the rate never changes, but the retention third has not arrived yet. A closer who is not told this concludes in week six that the offer was oversold.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Milestones, not bonuses — deliberately. A bonus needs no escrow, which means the rep has no way to see the money exists before it arrives. Escrow is the reassurance a good closer asks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A closer who finds out about the fee or the 60-day lag later will disengage, and they will be right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method with no destination is refused rather than saved. Half-set details read as done on every other screen, and that is how money goes nowhere.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in the interview. Getting classification wrong is FieldQuo's problem, not the rep's, which is exactly why the rep does not set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2103120"/>
            <a:ext cx="8686800" cy="10058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How you get paid</a:t>
            </a:r>
            <a:endParaRPr lang="en-US" sz="5400" dirty="0"/>
          </a:p>
        </p:txBody>
      </p:sp>
      <p:sp>
        <p:nvSpPr>
          <p:cNvPr id="3" name="Text 1"/>
          <p:cNvSpPr txBox="1"/>
          <p:nvPr/>
        </p:nvSpPr>
        <p:spPr>
          <a:xfrm>
            <a:off x="731520" y="3200400"/>
            <a:ext cx="8686800" cy="54864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Commission structure for FieldQuo sales closers · all amounts in Canadian dollars</a:t>
            </a:r>
            <a:endParaRPr lang="en-US" sz="2000" dirty="0"/>
          </a:p>
        </p:txBody>
      </p:sp>
      <p:sp>
        <p:nvSpPr>
          <p:cNvPr id="4" name="Shape 2"/>
          <p:cNvSpPr/>
          <p:nvPr/>
        </p:nvSpPr>
        <p:spPr>
          <a:xfrm>
            <a:off x="731520" y="4206240"/>
            <a:ext cx="3108960" cy="777240"/>
          </a:xfrm>
          <a:prstGeom prst="roundRect">
            <a:avLst>
              <a:gd name="adj" fmla="val 14118"/>
            </a:avLst>
          </a:prstGeom>
          <a:solidFill>
            <a:srgbClr val="C8A44D"/>
          </a:solidFill>
          <a:ln/>
        </p:spPr>
      </p:sp>
      <p:sp>
        <p:nvSpPr>
          <p:cNvPr id="5" name="Text 3"/>
          <p:cNvSpPr txBox="1"/>
          <p:nvPr/>
        </p:nvSpPr>
        <p:spPr>
          <a:xfrm>
            <a:off x="731520" y="4206240"/>
            <a:ext cx="3108960" cy="777240"/>
          </a:xfrm>
          <a:prstGeom prst="rect">
            <a:avLst/>
          </a:prstGeom>
          <a:noFill/>
          <a:ln/>
        </p:spPr>
        <p:txBody>
          <a:bodyPr wrap="square" lIns="0" tIns="0" rIns="0" bIns="0" rtlCol="0" anchor="ctr"/>
          <a:lstStyle/>
          <a:p>
            <a:pPr algn="ctr" indent="0" marL="0">
              <a:buNone/>
            </a:pPr>
            <a:r>
              <a:rPr lang="en-US" sz="2000" b="1" dirty="0">
                <a:solidFill>
                  <a:srgbClr val="1E2761"/>
                </a:solidFill>
                <a:latin typeface="Calibri" pitchFamily="34" charset="0"/>
                <a:ea typeface="Calibri" pitchFamily="34" charset="-122"/>
                <a:cs typeface="Calibri" pitchFamily="34" charset="-120"/>
              </a:rPr>
              <a:t>$125 CAD per customer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Three stages, not one payment</a:t>
            </a:r>
            <a:endParaRPr lang="en-US" sz="3800" dirty="0"/>
          </a:p>
        </p:txBody>
      </p:sp>
      <p:sp>
        <p:nvSpPr>
          <p:cNvPr id="3" name="Text 1"/>
          <p:cNvSpPr txBox="1"/>
          <p:nvPr/>
        </p:nvSpPr>
        <p:spPr>
          <a:xfrm>
            <a:off x="731520" y="1234440"/>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Each stage is a funded Upwork milestone, released as it is earned. All amounts CAD.</a:t>
            </a:r>
            <a:endParaRPr lang="en-US" sz="1500" dirty="0"/>
          </a:p>
        </p:txBody>
      </p:sp>
      <p:sp>
        <p:nvSpPr>
          <p:cNvPr id="4" name="Shape 2"/>
          <p:cNvSpPr/>
          <p:nvPr/>
        </p:nvSpPr>
        <p:spPr>
          <a:xfrm>
            <a:off x="731520" y="1920240"/>
            <a:ext cx="3383280" cy="2926080"/>
          </a:xfrm>
          <a:prstGeom prst="roundRect">
            <a:avLst>
              <a:gd name="adj" fmla="val 4375"/>
            </a:avLst>
          </a:prstGeom>
          <a:solidFill>
            <a:srgbClr val="F4F6FB"/>
          </a:solidFill>
          <a:ln/>
          <a:effectLst>
            <a:outerShdw sx="100000" sy="100000" kx="0" ky="0" algn="bl" rotWithShape="0" blurRad="127000" dist="25400" dir="5400000">
              <a:srgbClr val="1E2761">
                <a:alpha val="10000"/>
              </a:srgbClr>
            </a:outerShdw>
          </a:effectLst>
        </p:spPr>
      </p:sp>
      <p:sp>
        <p:nvSpPr>
          <p:cNvPr id="5" name="Shape 3"/>
          <p:cNvSpPr/>
          <p:nvPr/>
        </p:nvSpPr>
        <p:spPr>
          <a:xfrm>
            <a:off x="1024128" y="2212848"/>
            <a:ext cx="566928" cy="566928"/>
          </a:xfrm>
          <a:prstGeom prst="ellipse">
            <a:avLst/>
          </a:prstGeom>
          <a:solidFill>
            <a:srgbClr val="1E2761"/>
          </a:solidFill>
          <a:ln/>
        </p:spPr>
      </p:sp>
      <p:sp>
        <p:nvSpPr>
          <p:cNvPr id="6" name="Text 4"/>
          <p:cNvSpPr txBox="1"/>
          <p:nvPr/>
        </p:nvSpPr>
        <p:spPr>
          <a:xfrm>
            <a:off x="1024128" y="22128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1719072" y="2139696"/>
            <a:ext cx="2103120" cy="731520"/>
          </a:xfrm>
          <a:prstGeom prst="rect">
            <a:avLst/>
          </a:prstGeom>
          <a:noFill/>
          <a:ln/>
        </p:spPr>
        <p:txBody>
          <a:bodyPr wrap="square" lIns="0" tIns="0" rIns="0" bIns="0"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$20</a:t>
            </a:r>
            <a:endParaRPr lang="en-US" sz="4400" dirty="0"/>
          </a:p>
        </p:txBody>
      </p:sp>
      <p:sp>
        <p:nvSpPr>
          <p:cNvPr id="8" name="Text 6"/>
          <p:cNvSpPr txBox="1"/>
          <p:nvPr/>
        </p:nvSpPr>
        <p:spPr>
          <a:xfrm>
            <a:off x="1024128" y="2999232"/>
            <a:ext cx="2798064" cy="365760"/>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Activation</a:t>
            </a:r>
            <a:endParaRPr lang="en-US" sz="1700" dirty="0"/>
          </a:p>
        </p:txBody>
      </p:sp>
      <p:sp>
        <p:nvSpPr>
          <p:cNvPr id="9" name="Text 7"/>
          <p:cNvSpPr txBox="1"/>
          <p:nvPr/>
        </p:nvSpPr>
        <p:spPr>
          <a:xfrm>
            <a:off x="1024128" y="3401568"/>
            <a:ext cx="2798064" cy="822960"/>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They finish payment setup</a:t>
            </a:r>
            <a:endParaRPr lang="en-US" sz="1400" dirty="0"/>
          </a:p>
        </p:txBody>
      </p:sp>
      <p:sp>
        <p:nvSpPr>
          <p:cNvPr id="10" name="Text 8"/>
          <p:cNvSpPr txBox="1"/>
          <p:nvPr/>
        </p:nvSpPr>
        <p:spPr>
          <a:xfrm>
            <a:off x="1024128" y="4315968"/>
            <a:ext cx="2798064" cy="320040"/>
          </a:xfrm>
          <a:prstGeom prst="rect">
            <a:avLst/>
          </a:prstGeom>
          <a:noFill/>
          <a:ln/>
        </p:spPr>
        <p:txBody>
          <a:bodyPr wrap="square" lIns="0" tIns="0" rIns="0" bIns="0" rtlCol="0" anchor="ctr"/>
          <a:lstStyle/>
          <a:p>
            <a:pPr indent="0" marL="0">
              <a:buNone/>
            </a:pPr>
            <a:r>
              <a:rPr lang="en-US" sz="1300" b="1" dirty="0">
                <a:solidFill>
                  <a:srgbClr val="C8A44D"/>
                </a:solidFill>
                <a:latin typeface="Calibri" pitchFamily="34" charset="0"/>
                <a:ea typeface="Calibri" pitchFamily="34" charset="-122"/>
                <a:cs typeface="Calibri" pitchFamily="34" charset="-120"/>
              </a:rPr>
              <a:t>Day 0</a:t>
            </a:r>
            <a:endParaRPr lang="en-US" sz="1300" dirty="0"/>
          </a:p>
        </p:txBody>
      </p:sp>
      <p:sp>
        <p:nvSpPr>
          <p:cNvPr id="11" name="Shape 9"/>
          <p:cNvSpPr/>
          <p:nvPr/>
        </p:nvSpPr>
        <p:spPr>
          <a:xfrm>
            <a:off x="4480560" y="1920240"/>
            <a:ext cx="3383280" cy="2926080"/>
          </a:xfrm>
          <a:prstGeom prst="roundRect">
            <a:avLst>
              <a:gd name="adj" fmla="val 4375"/>
            </a:avLst>
          </a:prstGeom>
          <a:solidFill>
            <a:srgbClr val="F4F6FB"/>
          </a:solidFill>
          <a:ln/>
          <a:effectLst>
            <a:outerShdw sx="100000" sy="100000" kx="0" ky="0" algn="bl" rotWithShape="0" blurRad="127000" dist="25400" dir="5400000">
              <a:srgbClr val="1E2761">
                <a:alpha val="10000"/>
              </a:srgbClr>
            </a:outerShdw>
          </a:effectLst>
        </p:spPr>
      </p:sp>
      <p:sp>
        <p:nvSpPr>
          <p:cNvPr id="12" name="Shape 10"/>
          <p:cNvSpPr/>
          <p:nvPr/>
        </p:nvSpPr>
        <p:spPr>
          <a:xfrm>
            <a:off x="4773168" y="2212848"/>
            <a:ext cx="566928" cy="566928"/>
          </a:xfrm>
          <a:prstGeom prst="ellipse">
            <a:avLst/>
          </a:prstGeom>
          <a:solidFill>
            <a:srgbClr val="1E2761"/>
          </a:solidFill>
          <a:ln/>
        </p:spPr>
      </p:sp>
      <p:sp>
        <p:nvSpPr>
          <p:cNvPr id="13" name="Text 11"/>
          <p:cNvSpPr txBox="1"/>
          <p:nvPr/>
        </p:nvSpPr>
        <p:spPr>
          <a:xfrm>
            <a:off x="4773168" y="22128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txBox="1"/>
          <p:nvPr/>
        </p:nvSpPr>
        <p:spPr>
          <a:xfrm>
            <a:off x="5468112" y="2139696"/>
            <a:ext cx="2103120" cy="731520"/>
          </a:xfrm>
          <a:prstGeom prst="rect">
            <a:avLst/>
          </a:prstGeom>
          <a:noFill/>
          <a:ln/>
        </p:spPr>
        <p:txBody>
          <a:bodyPr wrap="square" lIns="0" tIns="0" rIns="0" bIns="0"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$40</a:t>
            </a:r>
            <a:endParaRPr lang="en-US" sz="4400" dirty="0"/>
          </a:p>
        </p:txBody>
      </p:sp>
      <p:sp>
        <p:nvSpPr>
          <p:cNvPr id="15" name="Text 13"/>
          <p:cNvSpPr txBox="1"/>
          <p:nvPr/>
        </p:nvSpPr>
        <p:spPr>
          <a:xfrm>
            <a:off x="4773168" y="2999232"/>
            <a:ext cx="2798064" cy="365760"/>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First billing cycle</a:t>
            </a:r>
            <a:endParaRPr lang="en-US" sz="1700" dirty="0"/>
          </a:p>
        </p:txBody>
      </p:sp>
      <p:sp>
        <p:nvSpPr>
          <p:cNvPr id="16" name="Text 14"/>
          <p:cNvSpPr txBox="1"/>
          <p:nvPr/>
        </p:nvSpPr>
        <p:spPr>
          <a:xfrm>
            <a:off x="4773168" y="3401568"/>
            <a:ext cx="2798064" cy="822960"/>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Their first real payment succeeds</a:t>
            </a:r>
            <a:endParaRPr lang="en-US" sz="1400" dirty="0"/>
          </a:p>
        </p:txBody>
      </p:sp>
      <p:sp>
        <p:nvSpPr>
          <p:cNvPr id="17" name="Text 15"/>
          <p:cNvSpPr txBox="1"/>
          <p:nvPr/>
        </p:nvSpPr>
        <p:spPr>
          <a:xfrm>
            <a:off x="4773168" y="4315968"/>
            <a:ext cx="2798064" cy="320040"/>
          </a:xfrm>
          <a:prstGeom prst="rect">
            <a:avLst/>
          </a:prstGeom>
          <a:noFill/>
          <a:ln/>
        </p:spPr>
        <p:txBody>
          <a:bodyPr wrap="square" lIns="0" tIns="0" rIns="0" bIns="0" rtlCol="0" anchor="ctr"/>
          <a:lstStyle/>
          <a:p>
            <a:pPr indent="0" marL="0">
              <a:buNone/>
            </a:pPr>
            <a:r>
              <a:rPr lang="en-US" sz="1300" b="1" dirty="0">
                <a:solidFill>
                  <a:srgbClr val="C8A44D"/>
                </a:solidFill>
                <a:latin typeface="Calibri" pitchFamily="34" charset="0"/>
                <a:ea typeface="Calibri" pitchFamily="34" charset="-122"/>
                <a:cs typeface="Calibri" pitchFamily="34" charset="-120"/>
              </a:rPr>
              <a:t>~Day 30</a:t>
            </a:r>
            <a:endParaRPr lang="en-US" sz="1300" dirty="0"/>
          </a:p>
        </p:txBody>
      </p:sp>
      <p:sp>
        <p:nvSpPr>
          <p:cNvPr id="18" name="Shape 16"/>
          <p:cNvSpPr/>
          <p:nvPr/>
        </p:nvSpPr>
        <p:spPr>
          <a:xfrm>
            <a:off x="8229600" y="1920240"/>
            <a:ext cx="3383280" cy="2926080"/>
          </a:xfrm>
          <a:prstGeom prst="roundRect">
            <a:avLst>
              <a:gd name="adj" fmla="val 4375"/>
            </a:avLst>
          </a:prstGeom>
          <a:solidFill>
            <a:srgbClr val="F4F6FB"/>
          </a:solidFill>
          <a:ln/>
          <a:effectLst>
            <a:outerShdw sx="100000" sy="100000" kx="0" ky="0" algn="bl" rotWithShape="0" blurRad="127000" dist="25400" dir="5400000">
              <a:srgbClr val="1E2761">
                <a:alpha val="10000"/>
              </a:srgbClr>
            </a:outerShdw>
          </a:effectLst>
        </p:spPr>
      </p:sp>
      <p:sp>
        <p:nvSpPr>
          <p:cNvPr id="19" name="Shape 17"/>
          <p:cNvSpPr/>
          <p:nvPr/>
        </p:nvSpPr>
        <p:spPr>
          <a:xfrm>
            <a:off x="8522208" y="2212848"/>
            <a:ext cx="566928" cy="566928"/>
          </a:xfrm>
          <a:prstGeom prst="ellipse">
            <a:avLst/>
          </a:prstGeom>
          <a:solidFill>
            <a:srgbClr val="1E2761"/>
          </a:solidFill>
          <a:ln/>
        </p:spPr>
      </p:sp>
      <p:sp>
        <p:nvSpPr>
          <p:cNvPr id="20" name="Text 18"/>
          <p:cNvSpPr txBox="1"/>
          <p:nvPr/>
        </p:nvSpPr>
        <p:spPr>
          <a:xfrm>
            <a:off x="8522208" y="22128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9"/>
          <p:cNvSpPr txBox="1"/>
          <p:nvPr/>
        </p:nvSpPr>
        <p:spPr>
          <a:xfrm>
            <a:off x="9217152" y="2139696"/>
            <a:ext cx="2103120" cy="731520"/>
          </a:xfrm>
          <a:prstGeom prst="rect">
            <a:avLst/>
          </a:prstGeom>
          <a:noFill/>
          <a:ln/>
        </p:spPr>
        <p:txBody>
          <a:bodyPr wrap="square" lIns="0" tIns="0" rIns="0" bIns="0"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$65</a:t>
            </a:r>
            <a:endParaRPr lang="en-US" sz="4400" dirty="0"/>
          </a:p>
        </p:txBody>
      </p:sp>
      <p:sp>
        <p:nvSpPr>
          <p:cNvPr id="22" name="Text 20"/>
          <p:cNvSpPr txBox="1"/>
          <p:nvPr/>
        </p:nvSpPr>
        <p:spPr>
          <a:xfrm>
            <a:off x="8522208" y="2999232"/>
            <a:ext cx="2798064" cy="365760"/>
          </a:xfrm>
          <a:prstGeom prst="rect">
            <a:avLst/>
          </a:prstGeom>
          <a:noFill/>
          <a:ln/>
        </p:spPr>
        <p:txBody>
          <a:bodyPr wrap="square" lIns="0" tIns="0" rIns="0" bIns="0" rtlCol="0" anchor="ctr"/>
          <a:lstStyle/>
          <a:p>
            <a:pPr indent="0" marL="0">
              <a:buNone/>
            </a:pPr>
            <a:r>
              <a:rPr lang="en-US" sz="1700" b="1" dirty="0">
                <a:solidFill>
                  <a:srgbClr val="1B1B1F"/>
                </a:solidFill>
                <a:latin typeface="Calibri" pitchFamily="34" charset="0"/>
                <a:ea typeface="Calibri" pitchFamily="34" charset="-122"/>
                <a:cs typeface="Calibri" pitchFamily="34" charset="-120"/>
              </a:rPr>
              <a:t>Retention</a:t>
            </a:r>
            <a:endParaRPr lang="en-US" sz="1700" dirty="0"/>
          </a:p>
        </p:txBody>
      </p:sp>
      <p:sp>
        <p:nvSpPr>
          <p:cNvPr id="23" name="Text 21"/>
          <p:cNvSpPr txBox="1"/>
          <p:nvPr/>
        </p:nvSpPr>
        <p:spPr>
          <a:xfrm>
            <a:off x="8522208" y="3401568"/>
            <a:ext cx="2798064" cy="822960"/>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Still subscribed 60 days after signing up</a:t>
            </a:r>
            <a:endParaRPr lang="en-US" sz="1400" dirty="0"/>
          </a:p>
        </p:txBody>
      </p:sp>
      <p:sp>
        <p:nvSpPr>
          <p:cNvPr id="24" name="Text 22"/>
          <p:cNvSpPr txBox="1"/>
          <p:nvPr/>
        </p:nvSpPr>
        <p:spPr>
          <a:xfrm>
            <a:off x="8522208" y="4315968"/>
            <a:ext cx="2798064" cy="320040"/>
          </a:xfrm>
          <a:prstGeom prst="rect">
            <a:avLst/>
          </a:prstGeom>
          <a:noFill/>
          <a:ln/>
        </p:spPr>
        <p:txBody>
          <a:bodyPr wrap="square" lIns="0" tIns="0" rIns="0" bIns="0" rtlCol="0" anchor="ctr"/>
          <a:lstStyle/>
          <a:p>
            <a:pPr indent="0" marL="0">
              <a:buNone/>
            </a:pPr>
            <a:r>
              <a:rPr lang="en-US" sz="1300" b="1" dirty="0">
                <a:solidFill>
                  <a:srgbClr val="C8A44D"/>
                </a:solidFill>
                <a:latin typeface="Calibri" pitchFamily="34" charset="0"/>
                <a:ea typeface="Calibri" pitchFamily="34" charset="-122"/>
                <a:cs typeface="Calibri" pitchFamily="34" charset="-120"/>
              </a:rPr>
              <a:t>Day 60</a:t>
            </a:r>
            <a:endParaRPr lang="en-US" sz="1300" dirty="0"/>
          </a:p>
        </p:txBody>
      </p:sp>
      <p:sp>
        <p:nvSpPr>
          <p:cNvPr id="25" name="Text 23"/>
          <p:cNvSpPr txBox="1"/>
          <p:nvPr/>
        </p:nvSpPr>
        <p:spPr>
          <a:xfrm>
            <a:off x="731520" y="5120640"/>
            <a:ext cx="10698480" cy="365760"/>
          </a:xfrm>
          <a:prstGeom prst="rect">
            <a:avLst/>
          </a:prstGeom>
          <a:noFill/>
          <a:ln/>
        </p:spPr>
        <p:txBody>
          <a:bodyPr wrap="square" rtlCol="0" anchor="ctr"/>
          <a:lstStyle/>
          <a:p>
            <a:pPr indent="0" marL="0">
              <a:buNone/>
            </a:pPr>
            <a:r>
              <a:rPr lang="en-US" sz="1600" i="1" dirty="0">
                <a:solidFill>
                  <a:srgbClr val="1E2761"/>
                </a:solidFill>
                <a:latin typeface="Calibri" pitchFamily="34" charset="0"/>
                <a:ea typeface="Calibri" pitchFamily="34" charset="-122"/>
                <a:cs typeface="Calibri" pitchFamily="34" charset="-120"/>
              </a:rPr>
              <a:t>One sale therefore pays out across roughly two months — as three separate releases.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What it builds to</a:t>
            </a:r>
            <a:endParaRPr lang="en-US" sz="3800" dirty="0"/>
          </a:p>
        </p:txBody>
      </p:sp>
      <p:sp>
        <p:nvSpPr>
          <p:cNvPr id="3" name="Text 1"/>
          <p:cNvSpPr txBox="1"/>
          <p:nvPr/>
        </p:nvSpPr>
        <p:spPr>
          <a:xfrm>
            <a:off x="731520" y="1234440"/>
            <a:ext cx="10698480" cy="36576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100 activations a month — about 5 a working day — and when the money actually lands. CAD.</a:t>
            </a:r>
            <a:endParaRPr lang="en-US" sz="1500" dirty="0"/>
          </a:p>
        </p:txBody>
      </p:sp>
      <p:graphicFrame>
        <p:nvGraphicFramePr>
          <p:cNvPr id="4" name="Chart 0" descr=""/>
          <p:cNvGraphicFramePr/>
          <p:nvPr/>
        </p:nvGraphicFramePr>
        <p:xfrm>
          <a:off x="731520" y="17830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828800"/>
            <a:ext cx="3566160" cy="1325880"/>
          </a:xfrm>
          <a:prstGeom prst="roundRect">
            <a:avLst>
              <a:gd name="adj" fmla="val 9655"/>
            </a:avLst>
          </a:prstGeom>
          <a:solidFill>
            <a:srgbClr val="F4F6FB"/>
          </a:solidFill>
          <a:ln/>
        </p:spPr>
      </p:sp>
      <p:sp>
        <p:nvSpPr>
          <p:cNvPr id="6" name="Text 3"/>
          <p:cNvSpPr txBox="1"/>
          <p:nvPr/>
        </p:nvSpPr>
        <p:spPr>
          <a:xfrm>
            <a:off x="8092440" y="1965960"/>
            <a:ext cx="3108960" cy="10515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$12,500
</a:t>
            </a:r>
            <a:pPr indent="0" marL="0">
              <a:buNone/>
            </a:pPr>
            <a:r>
              <a:rPr lang="en-US" sz="1300" dirty="0">
                <a:solidFill>
                  <a:srgbClr val="5A6070"/>
                </a:solidFill>
                <a:latin typeface="Calibri" pitchFamily="34" charset="0"/>
                <a:ea typeface="Calibri" pitchFamily="34" charset="-122"/>
                <a:cs typeface="Calibri" pitchFamily="34" charset="-120"/>
              </a:rPr>
              <a:t>CAD a month, from month three</a:t>
            </a:r>
            <a:endParaRPr lang="en-US" sz="3600" dirty="0"/>
          </a:p>
        </p:txBody>
      </p:sp>
      <p:sp>
        <p:nvSpPr>
          <p:cNvPr id="7" name="Shape 4"/>
          <p:cNvSpPr/>
          <p:nvPr/>
        </p:nvSpPr>
        <p:spPr>
          <a:xfrm>
            <a:off x="7863840" y="3291840"/>
            <a:ext cx="3566160" cy="1051560"/>
          </a:xfrm>
          <a:prstGeom prst="roundRect">
            <a:avLst>
              <a:gd name="adj" fmla="val 12174"/>
            </a:avLst>
          </a:prstGeom>
          <a:solidFill>
            <a:srgbClr val="1E2761"/>
          </a:solidFill>
          <a:ln/>
        </p:spPr>
      </p:sp>
      <p:sp>
        <p:nvSpPr>
          <p:cNvPr id="8" name="Text 5"/>
          <p:cNvSpPr txBox="1"/>
          <p:nvPr/>
        </p:nvSpPr>
        <p:spPr>
          <a:xfrm>
            <a:off x="8092440" y="3429000"/>
            <a:ext cx="310896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$150,000
</a:t>
            </a:r>
            <a:pPr indent="0" marL="0">
              <a:buNone/>
            </a:pPr>
            <a:r>
              <a:rPr lang="en-US" sz="1200" dirty="0">
                <a:solidFill>
                  <a:srgbClr val="CADCFC"/>
                </a:solidFill>
                <a:latin typeface="Calibri" pitchFamily="34" charset="0"/>
                <a:ea typeface="Calibri" pitchFamily="34" charset="-122"/>
                <a:cs typeface="Calibri" pitchFamily="34" charset="-120"/>
              </a:rPr>
              <a:t>CAD annualised at that rate</a:t>
            </a:r>
            <a:endParaRPr lang="en-US" sz="2800" dirty="0"/>
          </a:p>
        </p:txBody>
      </p:sp>
      <p:sp>
        <p:nvSpPr>
          <p:cNvPr id="9" name="Text 6"/>
          <p:cNvSpPr txBox="1"/>
          <p:nvPr/>
        </p:nvSpPr>
        <p:spPr>
          <a:xfrm>
            <a:off x="7863840" y="4526280"/>
            <a:ext cx="3566160" cy="1188720"/>
          </a:xfrm>
          <a:prstGeom prst="rect">
            <a:avLst/>
          </a:prstGeom>
          <a:noFill/>
          <a:ln/>
        </p:spPr>
        <p:txBody>
          <a:bodyPr wrap="square" rtlCol="0" anchor="ctr"/>
          <a:lstStyle/>
          <a:p>
            <a:pPr indent="0" marL="0">
              <a:buNone/>
            </a:pPr>
            <a:r>
              <a:rPr lang="en-US" sz="1300" b="1" dirty="0">
                <a:solidFill>
                  <a:srgbClr val="1B1B1F"/>
                </a:solidFill>
                <a:latin typeface="Calibri" pitchFamily="34" charset="0"/>
                <a:ea typeface="Calibri" pitchFamily="34" charset="-122"/>
                <a:cs typeface="Calibri" pitchFamily="34" charset="-120"/>
              </a:rPr>
              <a:t>Month three is when you are whole.</a:t>
            </a:r>
            <a:pPr indent="0" marL="0">
              <a:buNone/>
            </a:pPr>
            <a:r>
              <a:rPr lang="en-US" sz="1300" dirty="0">
                <a:solidFill>
                  <a:srgbClr val="5A6070"/>
                </a:solidFill>
                <a:latin typeface="Calibri" pitchFamily="34" charset="0"/>
                <a:ea typeface="Calibri" pitchFamily="34" charset="-122"/>
                <a:cs typeface="Calibri" pitchFamily="34" charset="-120"/>
              </a:rPr>
              <a:t>Months one and two are not a worse rate — they are the same rate, with two thirds of it still in transit.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502920"/>
            <a:ext cx="10698480" cy="731520"/>
          </a:xfrm>
          <a:prstGeom prst="rect">
            <a:avLst/>
          </a:prstGeom>
          <a:noFill/>
          <a:ln/>
        </p:spPr>
        <p:txBody>
          <a:bodyPr wrap="square"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How it is paid through Upwork</a:t>
            </a:r>
            <a:endParaRPr lang="en-US" sz="3800" dirty="0"/>
          </a:p>
        </p:txBody>
      </p:sp>
      <p:sp>
        <p:nvSpPr>
          <p:cNvPr id="3" name="Text 1"/>
          <p:cNvSpPr txBox="1"/>
          <p:nvPr/>
        </p:nvSpPr>
        <p:spPr>
          <a:xfrm>
            <a:off x="731520" y="1234440"/>
            <a:ext cx="10698480" cy="41148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Funded milestones on one contract — the same way Upwork works for any fixed-price project.</a:t>
            </a:r>
            <a:endParaRPr lang="en-US" sz="1500" dirty="0"/>
          </a:p>
        </p:txBody>
      </p:sp>
      <p:sp>
        <p:nvSpPr>
          <p:cNvPr id="4" name="Shape 2"/>
          <p:cNvSpPr/>
          <p:nvPr/>
        </p:nvSpPr>
        <p:spPr>
          <a:xfrm>
            <a:off x="731520" y="1837944"/>
            <a:ext cx="402336" cy="402336"/>
          </a:xfrm>
          <a:prstGeom prst="ellipse">
            <a:avLst/>
          </a:prstGeom>
          <a:solidFill>
            <a:srgbClr val="1E2761"/>
          </a:solidFill>
          <a:ln/>
        </p:spPr>
      </p:sp>
      <p:sp>
        <p:nvSpPr>
          <p:cNvPr id="5" name="Text 3"/>
          <p:cNvSpPr txBox="1"/>
          <p:nvPr/>
        </p:nvSpPr>
        <p:spPr>
          <a:xfrm>
            <a:off x="731520" y="18379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783080"/>
            <a:ext cx="10058400" cy="347472"/>
          </a:xfrm>
          <a:prstGeom prst="rect">
            <a:avLst/>
          </a:prstGeom>
          <a:noFill/>
          <a:ln/>
        </p:spPr>
        <p:txBody>
          <a:bodyPr wrap="square" lIns="0" tIns="0" rIns="0" bIns="0" rtlCol="0" anchor="ctr"/>
          <a:lstStyle/>
          <a:p>
            <a:pPr indent="0" marL="0">
              <a:buNone/>
            </a:pPr>
            <a:r>
              <a:rPr lang="en-US" sz="1800" b="1" dirty="0">
                <a:solidFill>
                  <a:srgbClr val="1B1B1F"/>
                </a:solidFill>
                <a:latin typeface="Calibri" pitchFamily="34" charset="0"/>
                <a:ea typeface="Calibri" pitchFamily="34" charset="-122"/>
                <a:cs typeface="Calibri" pitchFamily="34" charset="-120"/>
              </a:rPr>
              <a:t>One contract, many milestones</a:t>
            </a:r>
            <a:endParaRPr lang="en-US" sz="1800" dirty="0"/>
          </a:p>
        </p:txBody>
      </p:sp>
      <p:sp>
        <p:nvSpPr>
          <p:cNvPr id="7" name="Text 5"/>
          <p:cNvSpPr txBox="1"/>
          <p:nvPr/>
        </p:nvSpPr>
        <p:spPr>
          <a:xfrm>
            <a:off x="1371600" y="2130552"/>
            <a:ext cx="10058400" cy="658368"/>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Your contract stays open while you sell. Each customer you close adds three milestones to it — you are not re-hired per sale.</a:t>
            </a:r>
            <a:endParaRPr lang="en-US" sz="1400" dirty="0"/>
          </a:p>
        </p:txBody>
      </p:sp>
      <p:sp>
        <p:nvSpPr>
          <p:cNvPr id="8" name="Shape 6"/>
          <p:cNvSpPr/>
          <p:nvPr/>
        </p:nvSpPr>
        <p:spPr>
          <a:xfrm>
            <a:off x="731520" y="2953512"/>
            <a:ext cx="402336" cy="402336"/>
          </a:xfrm>
          <a:prstGeom prst="ellipse">
            <a:avLst/>
          </a:prstGeom>
          <a:solidFill>
            <a:srgbClr val="4A6FA5"/>
          </a:solidFill>
          <a:ln/>
        </p:spPr>
      </p:sp>
      <p:sp>
        <p:nvSpPr>
          <p:cNvPr id="9" name="Text 7"/>
          <p:cNvSpPr txBox="1"/>
          <p:nvPr/>
        </p:nvSpPr>
        <p:spPr>
          <a:xfrm>
            <a:off x="731520" y="29535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371600" y="2898648"/>
            <a:ext cx="10058400" cy="347472"/>
          </a:xfrm>
          <a:prstGeom prst="rect">
            <a:avLst/>
          </a:prstGeom>
          <a:noFill/>
          <a:ln/>
        </p:spPr>
        <p:txBody>
          <a:bodyPr wrap="square" lIns="0" tIns="0" rIns="0" bIns="0" rtlCol="0" anchor="ctr"/>
          <a:lstStyle/>
          <a:p>
            <a:pPr indent="0" marL="0">
              <a:buNone/>
            </a:pPr>
            <a:r>
              <a:rPr lang="en-US" sz="1800" b="1" dirty="0">
                <a:solidFill>
                  <a:srgbClr val="1B1B1F"/>
                </a:solidFill>
                <a:latin typeface="Calibri" pitchFamily="34" charset="0"/>
                <a:ea typeface="Calibri" pitchFamily="34" charset="-122"/>
                <a:cs typeface="Calibri" pitchFamily="34" charset="-120"/>
              </a:rPr>
              <a:t>Each milestone is funded before it is released</a:t>
            </a:r>
            <a:endParaRPr lang="en-US" sz="1800" dirty="0"/>
          </a:p>
        </p:txBody>
      </p:sp>
      <p:sp>
        <p:nvSpPr>
          <p:cNvPr id="11" name="Text 9"/>
          <p:cNvSpPr txBox="1"/>
          <p:nvPr/>
        </p:nvSpPr>
        <p:spPr>
          <a:xfrm>
            <a:off x="1371600" y="3246120"/>
            <a:ext cx="10058400" cy="658368"/>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The money sits in Upwork escrow with your name on it. You can see it is there before you have been paid, which is the point of using milestones rather than a bonus.</a:t>
            </a:r>
            <a:endParaRPr lang="en-US" sz="1400" dirty="0"/>
          </a:p>
        </p:txBody>
      </p:sp>
      <p:sp>
        <p:nvSpPr>
          <p:cNvPr id="12" name="Shape 10"/>
          <p:cNvSpPr/>
          <p:nvPr/>
        </p:nvSpPr>
        <p:spPr>
          <a:xfrm>
            <a:off x="731520" y="4069080"/>
            <a:ext cx="402336" cy="402336"/>
          </a:xfrm>
          <a:prstGeom prst="ellipse">
            <a:avLst/>
          </a:prstGeom>
          <a:solidFill>
            <a:srgbClr val="1E2761"/>
          </a:solidFill>
          <a:ln/>
        </p:spPr>
      </p:sp>
      <p:sp>
        <p:nvSpPr>
          <p:cNvPr id="13" name="Text 11"/>
          <p:cNvSpPr txBox="1"/>
          <p:nvPr/>
        </p:nvSpPr>
        <p:spPr>
          <a:xfrm>
            <a:off x="731520" y="4069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371600" y="4014216"/>
            <a:ext cx="10058400" cy="347472"/>
          </a:xfrm>
          <a:prstGeom prst="rect">
            <a:avLst/>
          </a:prstGeom>
          <a:noFill/>
          <a:ln/>
        </p:spPr>
        <p:txBody>
          <a:bodyPr wrap="square" lIns="0" tIns="0" rIns="0" bIns="0" rtlCol="0" anchor="ctr"/>
          <a:lstStyle/>
          <a:p>
            <a:pPr indent="0" marL="0">
              <a:buNone/>
            </a:pPr>
            <a:r>
              <a:rPr lang="en-US" sz="1800" b="1" dirty="0">
                <a:solidFill>
                  <a:srgbClr val="1B1B1F"/>
                </a:solidFill>
                <a:latin typeface="Calibri" pitchFamily="34" charset="0"/>
                <a:ea typeface="Calibri" pitchFamily="34" charset="-122"/>
                <a:cs typeface="Calibri" pitchFamily="34" charset="-120"/>
              </a:rPr>
              <a:t>Named so you can check it</a:t>
            </a:r>
            <a:endParaRPr lang="en-US" sz="1800" dirty="0"/>
          </a:p>
        </p:txBody>
      </p:sp>
      <p:sp>
        <p:nvSpPr>
          <p:cNvPr id="15" name="Text 13"/>
          <p:cNvSpPr txBox="1"/>
          <p:nvPr/>
        </p:nvSpPr>
        <p:spPr>
          <a:xfrm>
            <a:off x="1371600" y="4361688"/>
            <a:ext cx="10058400" cy="658368"/>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Northline Painting — Activation. Northline Painting — First cycle. You always know which customer and which stage a payment is for.</a:t>
            </a:r>
            <a:endParaRPr lang="en-US" sz="1400" dirty="0"/>
          </a:p>
        </p:txBody>
      </p:sp>
      <p:sp>
        <p:nvSpPr>
          <p:cNvPr id="16" name="Shape 14"/>
          <p:cNvSpPr/>
          <p:nvPr/>
        </p:nvSpPr>
        <p:spPr>
          <a:xfrm>
            <a:off x="731520" y="5184648"/>
            <a:ext cx="402336" cy="402336"/>
          </a:xfrm>
          <a:prstGeom prst="ellipse">
            <a:avLst/>
          </a:prstGeom>
          <a:solidFill>
            <a:srgbClr val="4A6FA5"/>
          </a:solidFill>
          <a:ln/>
        </p:spPr>
      </p:sp>
      <p:sp>
        <p:nvSpPr>
          <p:cNvPr id="17" name="Text 15"/>
          <p:cNvSpPr txBox="1"/>
          <p:nvPr/>
        </p:nvSpPr>
        <p:spPr>
          <a:xfrm>
            <a:off x="731520" y="51846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371600" y="5129784"/>
            <a:ext cx="10058400" cy="347472"/>
          </a:xfrm>
          <a:prstGeom prst="rect">
            <a:avLst/>
          </a:prstGeom>
          <a:noFill/>
          <a:ln/>
        </p:spPr>
        <p:txBody>
          <a:bodyPr wrap="square" lIns="0" tIns="0" rIns="0" bIns="0" rtlCol="0" anchor="ctr"/>
          <a:lstStyle/>
          <a:p>
            <a:pPr indent="0" marL="0">
              <a:buNone/>
            </a:pPr>
            <a:r>
              <a:rPr lang="en-US" sz="1800" b="1" dirty="0">
                <a:solidFill>
                  <a:srgbClr val="1B1B1F"/>
                </a:solidFill>
                <a:latin typeface="Calibri" pitchFamily="34" charset="0"/>
                <a:ea typeface="Calibri" pitchFamily="34" charset="-122"/>
                <a:cs typeface="Calibri" pitchFamily="34" charset="-120"/>
              </a:rPr>
              <a:t>Five days from release to available</a:t>
            </a:r>
            <a:endParaRPr lang="en-US" sz="1800" dirty="0"/>
          </a:p>
        </p:txBody>
      </p:sp>
      <p:sp>
        <p:nvSpPr>
          <p:cNvPr id="19" name="Text 17"/>
          <p:cNvSpPr txBox="1"/>
          <p:nvPr/>
        </p:nvSpPr>
        <p:spPr>
          <a:xfrm>
            <a:off x="1371600" y="5477256"/>
            <a:ext cx="10058400" cy="658368"/>
          </a:xfrm>
          <a:prstGeom prst="rect">
            <a:avLst/>
          </a:prstGeom>
          <a:noFill/>
          <a:ln/>
        </p:spPr>
        <p:txBody>
          <a:bodyPr wrap="square" lIns="0" tIns="0" rIns="0" bIns="0" rtlCol="0" anchor="ctr"/>
          <a:lstStyle/>
          <a:p>
            <a:pPr indent="0" marL="0">
              <a:buNone/>
            </a:pPr>
            <a:r>
              <a:rPr lang="en-US" sz="1400" dirty="0">
                <a:solidFill>
                  <a:srgbClr val="5A6070"/>
                </a:solidFill>
                <a:latin typeface="Calibri" pitchFamily="34" charset="0"/>
                <a:ea typeface="Calibri" pitchFamily="34" charset="-122"/>
                <a:cs typeface="Calibri" pitchFamily="34" charset="-120"/>
              </a:rPr>
              <a:t>Upwork holds released funds for a five-day security period. That is Upwork's rule, not ours — plan your first month around 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640080"/>
            <a:ext cx="10698480" cy="73152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Three things worth saying out loud</a:t>
            </a:r>
            <a:endParaRPr lang="en-US" sz="3800" dirty="0"/>
          </a:p>
        </p:txBody>
      </p:sp>
      <p:sp>
        <p:nvSpPr>
          <p:cNvPr id="3" name="Shape 1"/>
          <p:cNvSpPr/>
          <p:nvPr/>
        </p:nvSpPr>
        <p:spPr>
          <a:xfrm>
            <a:off x="731520" y="1828800"/>
            <a:ext cx="3383280" cy="3017520"/>
          </a:xfrm>
          <a:prstGeom prst="roundRect">
            <a:avLst>
              <a:gd name="adj" fmla="val 4242"/>
            </a:avLst>
          </a:prstGeom>
          <a:solidFill>
            <a:srgbClr val="2A3A78"/>
          </a:solidFill>
          <a:ln/>
        </p:spPr>
      </p:sp>
      <p:sp>
        <p:nvSpPr>
          <p:cNvPr id="4" name="Text 2"/>
          <p:cNvSpPr txBox="1"/>
          <p:nvPr/>
        </p:nvSpPr>
        <p:spPr>
          <a:xfrm>
            <a:off x="1042416" y="2103120"/>
            <a:ext cx="2761488" cy="731520"/>
          </a:xfrm>
          <a:prstGeom prst="rect">
            <a:avLst/>
          </a:prstGeom>
          <a:noFill/>
          <a:ln/>
        </p:spPr>
        <p:txBody>
          <a:bodyPr wrap="square" lIns="0" tIns="0" rIns="0" bIns="0" rtlCol="0" anchor="ctr"/>
          <a:lstStyle/>
          <a:p>
            <a:pPr indent="0" marL="0">
              <a:buNone/>
            </a:pPr>
            <a:r>
              <a:rPr lang="en-US" sz="1800" b="1" dirty="0">
                <a:solidFill>
                  <a:srgbClr val="C8A44D"/>
                </a:solidFill>
                <a:latin typeface="Calibri" pitchFamily="34" charset="0"/>
                <a:ea typeface="Calibri" pitchFamily="34" charset="-122"/>
                <a:cs typeface="Calibri" pitchFamily="34" charset="-120"/>
              </a:rPr>
              <a:t>The third stage can be reversed</a:t>
            </a:r>
            <a:endParaRPr lang="en-US" sz="1800" dirty="0"/>
          </a:p>
        </p:txBody>
      </p:sp>
      <p:sp>
        <p:nvSpPr>
          <p:cNvPr id="5" name="Text 3"/>
          <p:cNvSpPr txBox="1"/>
          <p:nvPr/>
        </p:nvSpPr>
        <p:spPr>
          <a:xfrm>
            <a:off x="1042416" y="2880360"/>
            <a:ext cx="2761488" cy="17373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If a customer refunds or charges back after you have been paid, that amount is netted against your next week. It is rare. You will always see why.</a:t>
            </a:r>
            <a:endParaRPr lang="en-US" sz="1400" dirty="0"/>
          </a:p>
        </p:txBody>
      </p:sp>
      <p:sp>
        <p:nvSpPr>
          <p:cNvPr id="6" name="Shape 4"/>
          <p:cNvSpPr/>
          <p:nvPr/>
        </p:nvSpPr>
        <p:spPr>
          <a:xfrm>
            <a:off x="4480560" y="1828800"/>
            <a:ext cx="3383280" cy="3017520"/>
          </a:xfrm>
          <a:prstGeom prst="roundRect">
            <a:avLst>
              <a:gd name="adj" fmla="val 4242"/>
            </a:avLst>
          </a:prstGeom>
          <a:solidFill>
            <a:srgbClr val="2A3A78"/>
          </a:solidFill>
          <a:ln/>
        </p:spPr>
      </p:sp>
      <p:sp>
        <p:nvSpPr>
          <p:cNvPr id="7" name="Text 5"/>
          <p:cNvSpPr txBox="1"/>
          <p:nvPr/>
        </p:nvSpPr>
        <p:spPr>
          <a:xfrm>
            <a:off x="4791456" y="2103120"/>
            <a:ext cx="2761488" cy="731520"/>
          </a:xfrm>
          <a:prstGeom prst="rect">
            <a:avLst/>
          </a:prstGeom>
          <a:noFill/>
          <a:ln/>
        </p:spPr>
        <p:txBody>
          <a:bodyPr wrap="square" lIns="0" tIns="0" rIns="0" bIns="0" rtlCol="0" anchor="ctr"/>
          <a:lstStyle/>
          <a:p>
            <a:pPr indent="0" marL="0">
              <a:buNone/>
            </a:pPr>
            <a:r>
              <a:rPr lang="en-US" sz="1800" b="1" dirty="0">
                <a:solidFill>
                  <a:srgbClr val="C8A44D"/>
                </a:solidFill>
                <a:latin typeface="Calibri" pitchFamily="34" charset="0"/>
                <a:ea typeface="Calibri" pitchFamily="34" charset="-122"/>
                <a:cs typeface="Calibri" pitchFamily="34" charset="-120"/>
              </a:rPr>
              <a:t>Paid in Canadian dollars</a:t>
            </a:r>
            <a:endParaRPr lang="en-US" sz="1800" dirty="0"/>
          </a:p>
        </p:txBody>
      </p:sp>
      <p:sp>
        <p:nvSpPr>
          <p:cNvPr id="8" name="Text 6"/>
          <p:cNvSpPr txBox="1"/>
          <p:nvPr/>
        </p:nvSpPr>
        <p:spPr>
          <a:xfrm>
            <a:off x="4791456" y="2880360"/>
            <a:ext cx="2761488" cy="17373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Every figure here is CAD. Upwork also takes its own service fee from your side — ask what you actually receive on $125 CAD before you start, not after.</a:t>
            </a:r>
            <a:endParaRPr lang="en-US" sz="1400" dirty="0"/>
          </a:p>
        </p:txBody>
      </p:sp>
      <p:sp>
        <p:nvSpPr>
          <p:cNvPr id="9" name="Shape 7"/>
          <p:cNvSpPr/>
          <p:nvPr/>
        </p:nvSpPr>
        <p:spPr>
          <a:xfrm>
            <a:off x="8229600" y="1828800"/>
            <a:ext cx="3383280" cy="3017520"/>
          </a:xfrm>
          <a:prstGeom prst="roundRect">
            <a:avLst>
              <a:gd name="adj" fmla="val 4242"/>
            </a:avLst>
          </a:prstGeom>
          <a:solidFill>
            <a:srgbClr val="2A3A78"/>
          </a:solidFill>
          <a:ln/>
        </p:spPr>
      </p:sp>
      <p:sp>
        <p:nvSpPr>
          <p:cNvPr id="10" name="Text 8"/>
          <p:cNvSpPr txBox="1"/>
          <p:nvPr/>
        </p:nvSpPr>
        <p:spPr>
          <a:xfrm>
            <a:off x="8540496" y="2103120"/>
            <a:ext cx="2761488" cy="731520"/>
          </a:xfrm>
          <a:prstGeom prst="rect">
            <a:avLst/>
          </a:prstGeom>
          <a:noFill/>
          <a:ln/>
        </p:spPr>
        <p:txBody>
          <a:bodyPr wrap="square" lIns="0" tIns="0" rIns="0" bIns="0" rtlCol="0" anchor="ctr"/>
          <a:lstStyle/>
          <a:p>
            <a:pPr indent="0" marL="0">
              <a:buNone/>
            </a:pPr>
            <a:r>
              <a:rPr lang="en-US" sz="1800" b="1" dirty="0">
                <a:solidFill>
                  <a:srgbClr val="C8A44D"/>
                </a:solidFill>
                <a:latin typeface="Calibri" pitchFamily="34" charset="0"/>
                <a:ea typeface="Calibri" pitchFamily="34" charset="-122"/>
                <a:cs typeface="Calibri" pitchFamily="34" charset="-120"/>
              </a:rPr>
              <a:t>Month one is the thin one</a:t>
            </a:r>
            <a:endParaRPr lang="en-US" sz="1800" dirty="0"/>
          </a:p>
        </p:txBody>
      </p:sp>
      <p:sp>
        <p:nvSpPr>
          <p:cNvPr id="11" name="Text 9"/>
          <p:cNvSpPr txBox="1"/>
          <p:nvPr/>
        </p:nvSpPr>
        <p:spPr>
          <a:xfrm>
            <a:off x="8540496" y="2880360"/>
            <a:ext cx="2761488" cy="17373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Two thirds of a sale pays out on days 30 and 60. Your first month understates your run rate by design.</a:t>
            </a:r>
            <a:endParaRPr lang="en-US" sz="1400" dirty="0"/>
          </a:p>
        </p:txBody>
      </p:sp>
      <p:sp>
        <p:nvSpPr>
          <p:cNvPr id="12" name="Text 10"/>
          <p:cNvSpPr txBox="1"/>
          <p:nvPr/>
        </p:nvSpPr>
        <p:spPr>
          <a:xfrm>
            <a:off x="731520" y="5212080"/>
            <a:ext cx="10698480" cy="457200"/>
          </a:xfrm>
          <a:prstGeom prst="rect">
            <a:avLst/>
          </a:prstGeom>
          <a:noFill/>
          <a:ln/>
        </p:spPr>
        <p:txBody>
          <a:bodyPr wrap="square" rtlCol="0" anchor="ctr"/>
          <a:lstStyle/>
          <a:p>
            <a:pPr indent="0" marL="0">
              <a:buNone/>
            </a:pPr>
            <a:r>
              <a:rPr lang="en-US" sz="1900" i="1" dirty="0">
                <a:solidFill>
                  <a:srgbClr val="FFFFFF"/>
                </a:solidFill>
                <a:latin typeface="Cambria" pitchFamily="34" charset="0"/>
                <a:ea typeface="Cambria" pitchFamily="34" charset="-122"/>
                <a:cs typeface="Cambria" pitchFamily="34" charset="-120"/>
              </a:rPr>
              <a:t>We would rather lose you at the interview than at your first payout.</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777240"/>
            <a:ext cx="1069848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Choosing how you are paid</a:t>
            </a:r>
            <a:endParaRPr lang="en-US" sz="3200" dirty="0"/>
          </a:p>
        </p:txBody>
      </p:sp>
      <p:sp>
        <p:nvSpPr>
          <p:cNvPr id="3" name="Text 1"/>
          <p:cNvSpPr txBox="1"/>
          <p:nvPr/>
        </p:nvSpPr>
        <p:spPr>
          <a:xfrm>
            <a:off x="731520" y="1508760"/>
            <a:ext cx="10698480" cy="54864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The Pay tab in the portal. Set it on day one — nobody is paid until it is set.</a:t>
            </a:r>
            <a:endParaRPr lang="en-US" sz="1500" dirty="0"/>
          </a:p>
        </p:txBody>
      </p:sp>
      <p:sp>
        <p:nvSpPr>
          <p:cNvPr id="4" name="Shape 2"/>
          <p:cNvSpPr/>
          <p:nvPr/>
        </p:nvSpPr>
        <p:spPr>
          <a:xfrm>
            <a:off x="731520" y="2148840"/>
            <a:ext cx="10698480" cy="841248"/>
          </a:xfrm>
          <a:prstGeom prst="rect">
            <a:avLst/>
          </a:prstGeom>
          <a:solidFill>
            <a:srgbClr val="F4F6FB"/>
          </a:solidFill>
          <a:ln/>
        </p:spPr>
      </p:sp>
      <p:sp>
        <p:nvSpPr>
          <p:cNvPr id="5" name="Text 3"/>
          <p:cNvSpPr txBox="1"/>
          <p:nvPr/>
        </p:nvSpPr>
        <p:spPr>
          <a:xfrm>
            <a:off x="960120" y="2221992"/>
            <a:ext cx="292608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Upwork</a:t>
            </a:r>
            <a:endParaRPr lang="en-US" sz="1500" dirty="0"/>
          </a:p>
        </p:txBody>
      </p:sp>
      <p:sp>
        <p:nvSpPr>
          <p:cNvPr id="6" name="Text 4"/>
          <p:cNvSpPr txBox="1"/>
          <p:nvPr/>
        </p:nvSpPr>
        <p:spPr>
          <a:xfrm>
            <a:off x="4023360" y="2221992"/>
            <a:ext cx="7132320" cy="69494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Released against the contract's milestones. Upwork's own fee comes off what lands, so the figure in the ledger is what FieldQuo sends, not what arrives.</a:t>
            </a:r>
            <a:endParaRPr lang="en-US" sz="1250" dirty="0"/>
          </a:p>
        </p:txBody>
      </p:sp>
      <p:sp>
        <p:nvSpPr>
          <p:cNvPr id="7" name="Shape 5"/>
          <p:cNvSpPr/>
          <p:nvPr/>
        </p:nvSpPr>
        <p:spPr>
          <a:xfrm>
            <a:off x="731520" y="3108960"/>
            <a:ext cx="10698480" cy="841248"/>
          </a:xfrm>
          <a:prstGeom prst="rect">
            <a:avLst/>
          </a:prstGeom>
          <a:solidFill>
            <a:srgbClr val="F4F6FB"/>
          </a:solidFill>
          <a:ln/>
        </p:spPr>
      </p:sp>
      <p:sp>
        <p:nvSpPr>
          <p:cNvPr id="8" name="Text 6"/>
          <p:cNvSpPr txBox="1"/>
          <p:nvPr/>
        </p:nvSpPr>
        <p:spPr>
          <a:xfrm>
            <a:off x="960120" y="3182112"/>
            <a:ext cx="292608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PayPal</a:t>
            </a:r>
            <a:endParaRPr lang="en-US" sz="1500" dirty="0"/>
          </a:p>
        </p:txBody>
      </p:sp>
      <p:sp>
        <p:nvSpPr>
          <p:cNvPr id="9" name="Text 7"/>
          <p:cNvSpPr txBox="1"/>
          <p:nvPr/>
        </p:nvSpPr>
        <p:spPr>
          <a:xfrm>
            <a:off x="4023360" y="3182112"/>
            <a:ext cx="7132320" cy="69494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A PayPal transfer. Fees depend on the receiving account's country and type.</a:t>
            </a:r>
            <a:endParaRPr lang="en-US" sz="1250" dirty="0"/>
          </a:p>
        </p:txBody>
      </p:sp>
      <p:sp>
        <p:nvSpPr>
          <p:cNvPr id="10" name="Shape 8"/>
          <p:cNvSpPr/>
          <p:nvPr/>
        </p:nvSpPr>
        <p:spPr>
          <a:xfrm>
            <a:off x="731520" y="4069080"/>
            <a:ext cx="10698480" cy="841248"/>
          </a:xfrm>
          <a:prstGeom prst="rect">
            <a:avLst/>
          </a:prstGeom>
          <a:solidFill>
            <a:srgbClr val="F4F6FB"/>
          </a:solidFill>
          <a:ln/>
        </p:spPr>
      </p:sp>
      <p:sp>
        <p:nvSpPr>
          <p:cNvPr id="11" name="Text 9"/>
          <p:cNvSpPr txBox="1"/>
          <p:nvPr/>
        </p:nvSpPr>
        <p:spPr>
          <a:xfrm>
            <a:off x="960120" y="4142232"/>
            <a:ext cx="292608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Interac e-Transfer</a:t>
            </a:r>
            <a:endParaRPr lang="en-US" sz="1500" dirty="0"/>
          </a:p>
        </p:txBody>
      </p:sp>
      <p:sp>
        <p:nvSpPr>
          <p:cNvPr id="12" name="Text 10"/>
          <p:cNvSpPr txBox="1"/>
          <p:nvPr/>
        </p:nvSpPr>
        <p:spPr>
          <a:xfrm>
            <a:off x="4023360" y="4142232"/>
            <a:ext cx="7132320" cy="69494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Canadian accounts only. Usually free and same-day.</a:t>
            </a:r>
            <a:endParaRPr lang="en-US" sz="1250" dirty="0"/>
          </a:p>
        </p:txBody>
      </p:sp>
      <p:sp>
        <p:nvSpPr>
          <p:cNvPr id="13" name="Shape 11"/>
          <p:cNvSpPr/>
          <p:nvPr/>
        </p:nvSpPr>
        <p:spPr>
          <a:xfrm>
            <a:off x="731520" y="5029200"/>
            <a:ext cx="10698480" cy="841248"/>
          </a:xfrm>
          <a:prstGeom prst="rect">
            <a:avLst/>
          </a:prstGeom>
          <a:solidFill>
            <a:srgbClr val="F4F6FB"/>
          </a:solidFill>
          <a:ln/>
        </p:spPr>
      </p:sp>
      <p:sp>
        <p:nvSpPr>
          <p:cNvPr id="14" name="Text 12"/>
          <p:cNvSpPr txBox="1"/>
          <p:nvPr/>
        </p:nvSpPr>
        <p:spPr>
          <a:xfrm>
            <a:off x="960120" y="5102352"/>
            <a:ext cx="2926080" cy="694944"/>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Bank transfer</a:t>
            </a:r>
            <a:endParaRPr lang="en-US" sz="1500" dirty="0"/>
          </a:p>
        </p:txBody>
      </p:sp>
      <p:sp>
        <p:nvSpPr>
          <p:cNvPr id="15" name="Text 13"/>
          <p:cNvSpPr txBox="1"/>
          <p:nvPr/>
        </p:nvSpPr>
        <p:spPr>
          <a:xfrm>
            <a:off x="4023360" y="5102352"/>
            <a:ext cx="7132320" cy="694944"/>
          </a:xfrm>
          <a:prstGeom prst="rect">
            <a:avLst/>
          </a:prstGeom>
          <a:noFill/>
          <a:ln/>
        </p:spPr>
        <p:txBody>
          <a:bodyPr wrap="square" lIns="0" tIns="0" rIns="0" bIns="0" rtlCol="0" anchor="ctr"/>
          <a:lstStyle/>
          <a:p>
            <a:pPr indent="0" marL="0">
              <a:buNone/>
            </a:pPr>
            <a:r>
              <a:rPr lang="en-US" sz="1250" dirty="0">
                <a:solidFill>
                  <a:srgbClr val="5A6070"/>
                </a:solidFill>
                <a:latin typeface="Calibri" pitchFamily="34" charset="0"/>
                <a:ea typeface="Calibri" pitchFamily="34" charset="-122"/>
                <a:cs typeface="Calibri" pitchFamily="34" charset="-120"/>
              </a:rPr>
              <a:t>Slowest to arrive, cheapest to send. Best if you are being paid a large batch at once.</a:t>
            </a:r>
            <a:endParaRPr lang="en-US" sz="1250" dirty="0"/>
          </a:p>
        </p:txBody>
      </p:sp>
      <p:sp>
        <p:nvSpPr>
          <p:cNvPr id="16" name="Text 14"/>
          <p:cNvSpPr txBox="1"/>
          <p:nvPr/>
        </p:nvSpPr>
        <p:spPr>
          <a:xfrm>
            <a:off x="731520" y="5623560"/>
            <a:ext cx="10698480" cy="457200"/>
          </a:xfrm>
          <a:prstGeom prst="rect">
            <a:avLst/>
          </a:prstGeom>
          <a:noFill/>
          <a:ln/>
        </p:spPr>
        <p:txBody>
          <a:bodyPr wrap="square" rtlCol="0" anchor="ctr"/>
          <a:lstStyle/>
          <a:p>
            <a:pPr indent="0" marL="0">
              <a:buNone/>
            </a:pPr>
            <a:r>
              <a:rPr lang="en-US" sz="1500" i="1" dirty="0">
                <a:solidFill>
                  <a:srgbClr val="1B1B1F"/>
                </a:solidFill>
                <a:latin typeface="Cambria" pitchFamily="34" charset="0"/>
                <a:ea typeface="Cambria" pitchFamily="34" charset="-122"/>
                <a:cs typeface="Cambria" pitchFamily="34" charset="-120"/>
              </a:rPr>
              <a:t>Each trade-off is printed beside the choice, before you make it — not discovered when the money arrives short.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777240"/>
            <a:ext cx="10698480" cy="73152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Freelancer or employee</a:t>
            </a:r>
            <a:endParaRPr lang="en-US" sz="3200" dirty="0"/>
          </a:p>
        </p:txBody>
      </p:sp>
      <p:sp>
        <p:nvSpPr>
          <p:cNvPr id="3" name="Text 1"/>
          <p:cNvSpPr txBox="1"/>
          <p:nvPr/>
        </p:nvSpPr>
        <p:spPr>
          <a:xfrm>
            <a:off x="731520" y="1508760"/>
            <a:ext cx="10698480" cy="548640"/>
          </a:xfrm>
          <a:prstGeom prst="rect">
            <a:avLst/>
          </a:prstGeom>
          <a:noFill/>
          <a:ln/>
        </p:spPr>
        <p:txBody>
          <a:bodyPr wrap="square" rtlCol="0" anchor="ctr"/>
          <a:lstStyle/>
          <a:p>
            <a:pPr indent="0" marL="0">
              <a:buNone/>
            </a:pPr>
            <a:r>
              <a:rPr lang="en-US" sz="1500" dirty="0">
                <a:solidFill>
                  <a:srgbClr val="5A6070"/>
                </a:solidFill>
                <a:latin typeface="Calibri" pitchFamily="34" charset="0"/>
                <a:ea typeface="Calibri" pitchFamily="34" charset="-122"/>
                <a:cs typeface="Calibri" pitchFamily="34" charset="-120"/>
              </a:rPr>
              <a:t>FieldQuo sets this. You can see it, and query it, but you do not pick it.</a:t>
            </a:r>
            <a:endParaRPr lang="en-US" sz="1500" dirty="0"/>
          </a:p>
        </p:txBody>
      </p:sp>
      <p:sp>
        <p:nvSpPr>
          <p:cNvPr id="4" name="Shape 2"/>
          <p:cNvSpPr/>
          <p:nvPr/>
        </p:nvSpPr>
        <p:spPr>
          <a:xfrm>
            <a:off x="731520" y="2194560"/>
            <a:ext cx="5166360" cy="2377440"/>
          </a:xfrm>
          <a:prstGeom prst="rect">
            <a:avLst/>
          </a:prstGeom>
          <a:solidFill>
            <a:srgbClr val="F4F6FB"/>
          </a:solidFill>
          <a:ln/>
        </p:spPr>
      </p:sp>
      <p:sp>
        <p:nvSpPr>
          <p:cNvPr id="5" name="Text 3"/>
          <p:cNvSpPr txBox="1"/>
          <p:nvPr/>
        </p:nvSpPr>
        <p:spPr>
          <a:xfrm>
            <a:off x="1051560" y="2468880"/>
            <a:ext cx="45720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Freelancer</a:t>
            </a:r>
            <a:endParaRPr lang="en-US" sz="2400" dirty="0"/>
          </a:p>
        </p:txBody>
      </p:sp>
      <p:sp>
        <p:nvSpPr>
          <p:cNvPr id="6" name="Text 4"/>
          <p:cNvSpPr txBox="1"/>
          <p:nvPr/>
        </p:nvSpPr>
        <p:spPr>
          <a:xfrm>
            <a:off x="1051560" y="3063240"/>
            <a:ext cx="4572000" cy="137160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You invoice for your commission. No paid leave, no vacation accrual, and no statutory deductions withheld by FieldQuo — you account for your own.</a:t>
            </a:r>
            <a:endParaRPr lang="en-US" sz="1300" dirty="0"/>
          </a:p>
        </p:txBody>
      </p:sp>
      <p:sp>
        <p:nvSpPr>
          <p:cNvPr id="7" name="Shape 5"/>
          <p:cNvSpPr/>
          <p:nvPr/>
        </p:nvSpPr>
        <p:spPr>
          <a:xfrm>
            <a:off x="6263640" y="2194560"/>
            <a:ext cx="5166360" cy="2377440"/>
          </a:xfrm>
          <a:prstGeom prst="rect">
            <a:avLst/>
          </a:prstGeom>
          <a:solidFill>
            <a:srgbClr val="F4F6FB"/>
          </a:solidFill>
          <a:ln/>
        </p:spPr>
      </p:sp>
      <p:sp>
        <p:nvSpPr>
          <p:cNvPr id="8" name="Text 6"/>
          <p:cNvSpPr txBox="1"/>
          <p:nvPr/>
        </p:nvSpPr>
        <p:spPr>
          <a:xfrm>
            <a:off x="6583680" y="2468880"/>
            <a:ext cx="4572000" cy="54864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Employee</a:t>
            </a:r>
            <a:endParaRPr lang="en-US" sz="2400" dirty="0"/>
          </a:p>
        </p:txBody>
      </p:sp>
      <p:sp>
        <p:nvSpPr>
          <p:cNvPr id="9" name="Text 7"/>
          <p:cNvSpPr txBox="1"/>
          <p:nvPr/>
        </p:nvSpPr>
        <p:spPr>
          <a:xfrm>
            <a:off x="6583680" y="3063240"/>
            <a:ext cx="4572000" cy="1371600"/>
          </a:xfrm>
          <a:prstGeom prst="rect">
            <a:avLst/>
          </a:prstGeom>
          <a:noFill/>
          <a:ln/>
        </p:spPr>
        <p:txBody>
          <a:bodyPr wrap="square" lIns="0" tIns="0" rIns="0" bIns="0" rtlCol="0" anchor="ctr"/>
          <a:lstStyle/>
          <a:p>
            <a:pPr indent="0" marL="0">
              <a:buNone/>
            </a:pPr>
            <a:r>
              <a:rPr lang="en-US" sz="1300" dirty="0">
                <a:solidFill>
                  <a:srgbClr val="5A6070"/>
                </a:solidFill>
                <a:latin typeface="Calibri" pitchFamily="34" charset="0"/>
                <a:ea typeface="Calibri" pitchFamily="34" charset="-122"/>
                <a:cs typeface="Calibri" pitchFamily="34" charset="-120"/>
              </a:rPr>
              <a:t>On payroll. Paid leave accrues, and statutory deductions are FieldQuo's to withhold and remit.</a:t>
            </a:r>
            <a:endParaRPr lang="en-US" sz="1300" dirty="0"/>
          </a:p>
        </p:txBody>
      </p:sp>
      <p:sp>
        <p:nvSpPr>
          <p:cNvPr id="10" name="Text 8"/>
          <p:cNvSpPr txBox="1"/>
          <p:nvPr/>
        </p:nvSpPr>
        <p:spPr>
          <a:xfrm>
            <a:off x="731520" y="4892040"/>
            <a:ext cx="10698480" cy="731520"/>
          </a:xfrm>
          <a:prstGeom prst="rect">
            <a:avLst/>
          </a:prstGeom>
          <a:noFill/>
          <a:ln/>
        </p:spPr>
        <p:txBody>
          <a:bodyPr wrap="square" rtlCol="0" anchor="ctr"/>
          <a:lstStyle/>
          <a:p>
            <a:pPr indent="0" marL="0">
              <a:buNone/>
            </a:pPr>
            <a:r>
              <a:rPr lang="en-US" sz="1400" dirty="0">
                <a:solidFill>
                  <a:srgbClr val="1B1B1F"/>
                </a:solidFill>
                <a:latin typeface="Calibri" pitchFamily="34" charset="0"/>
                <a:ea typeface="Calibri" pitchFamily="34" charset="-122"/>
                <a:cs typeface="Calibri" pitchFamily="34" charset="-120"/>
              </a:rPr>
              <a:t>It is an employment classification with tax and leave consequences, so it is not something to choose for yourself. If what the screen shows is wrong, say so and it is corrected.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you get paid</dc:title>
  <dc:subject>PptxGenJS Presentation</dc:subject>
  <dc:creator>FieldQuo</dc:creator>
  <cp:lastModifiedBy>FieldQuo</cp:lastModifiedBy>
  <cp:revision>1</cp:revision>
  <dcterms:created xsi:type="dcterms:W3CDTF">2026-09-10T02:45:31Z</dcterms:created>
  <dcterms:modified xsi:type="dcterms:W3CDTF">2026-09-10T02:45:31Z</dcterms:modified>
</cp:coreProperties>
</file>