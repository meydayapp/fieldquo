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 a day, with breaks. Say up front that they will dial somebody before they leave — it changes how they listen to the next two hours.
House rules for the room: interrupt whenever, and if something on screen does not match what you say, the screen wins and we fix the deck. Three slides in here exist because the written SOP had gone stale.
Do not hand out the SOP yet. It is the reference for week one, and reading it now competes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teach the feature list today. Teach the sentence: they win the job, do the job, get paid, and every document the homeowner sees looks like it came from them.
The white-label point is the one that lands on a call, and it is the one reps skip because it sounds like branding. It is not branding — it is the reason a contractor will pay 99 a month for something rather than keep using three free things.
76 features, per docs/sales/FEATURES.md. You are not going to know them in week one and you do not need to. Know the pipeline and know where to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this person doing at 10:40 on a Tuesday? Let them answer. The right answer is 'holding a phone in a van with the engine running', and every rep who pictures that shortens their opening on their own.
The one-trade-a-day rule is on the queue screen in those words. It is not a productivity trick — it is that a cabinet maker's objections are not a landscaper's, and forty repetitions is where a rep stops reading and starts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SEAT_LADDER in lib/pricing/ladder.js: solo 99, crew 169, shop 269, scale 369. A check script fails the build the day a rung gains a feature the others do not have, so this stays true.
Watch for the rep who 'helps' by inventing a difference between Solo and Scale. It happens on about the third call, it sounds harmless, and it is a promise the product will break in week two.
A seat is somebody whose permissions let them originate money — not a job title. An owner can call twenty estimators 'crew' and still be paying for twenty seats' worth of quote-editing.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two or three people try before you say anything. Most first attempts are a feature ('but we do X') and that is exactly the reflex to break — arguing with a tool somebody already paid for makes you the salesman they hang up on.
What works is a question about their money, not our product. Something like: 'Fair enough — how much are you paying for it once the add-ons are on?' Then be quiet.
The facts behind that question, from lib/marketing/competitors.js: Jobber has no single price, it moves on team size and billing. Their AI receptionist is a 29/mo add-on at one user — 30 conversations, then 0.79 each — or it is inside the 599/mo Plus tier. Marketing Suite 99, receptionist 29, sales pipeline 49: 177 a month stacked on top of the plan.
Two rules for the room. First: concede first. Jobber ships a real mobile app and we do not — say it before they find it. A concession you volunteer is credibility. Second: if the compare page is blank, the figures are older than 90 days and have stopped publishing. Do NOT quote them from memory.
And never say our receptionist is 'included'. Talk time is prepaid credit. The honest claim is 'no monthly minimum'.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straight off app/sales/SalesShell.js today: Today, Queue, Leads, Conversations, Texts, Notes, Calendar, My companies, Demo, Support, Voicemail, Pay.
The written SOP still says 'the five screens you have'. It is out of date and Voicemail, Support and Pay are the newest three. Say that out loud rather than letting them find the mismatch on their own — it is also the moment to make the point that the screen always wins over the document.
On a phone the tabs wrap into rows of three rather than scrolling sideways. Two of them used to sit off the right edge with no scrollbar, which nobody discovers. Tell them the portal is built to work in a phone browser, because they will be on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app/sales/nextAction.js. Worth teaching because it is the one sentence in the portal that can be WRONG rather than merely ugly — a rep reads it and does what it says.
The design point to make: every count is a number OR null, and null means 'we did not get an answer', never 'none'. The ladder stops at the first unknown rung, because a rung below an unknown one cannot be trusted to be the answer.
The thing to actually drill: rung 2 outranks rung 3. Holding claims you are not working is the most common bad habit on this floor. It costs another rep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CLAIM_HOURS = 48 in lib/sales/prospectView.js. 39 trades in lib/sales/discovery/trades.js.
The claim is a compare-and-set: two reps pressing the button in the same second cannot both get the same row, one of them goes round again. Worth saying because reps assume a race and start hoarding to beat it.
The red line at the bottom: 'worked' clears the expiry, and the queue matches on exactly that, so worked prospects accumulate. Tell them on day one. A rep who discovers it alone in week two decides the software is broken and stops trusting the rest of the screen.
Also flag the known gap: nothing turns a claimed prospect into a lead. If you want to email or text somebody from the queue you retype them on the leads screen. Annoying, known, being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lib/sales/prospectView.js. Three tables, not one wide row, precisely so the layers cannot be collapsed by a page author in a hurry.
Three inversions to say out loud: a website that will not load is not a business without a website; a page with no links is usually a JavaScript site our crawler cannot execute, not a contractor who offers nothing; and 'we could not look today' never overwrites what we saw last week.
If an inference has no confidence, the screen renders a refusal string instead of the claim. Do not repair it by guessing — that is the whole reason it refuses.
Next slide is the drill for this. Do not skip it: this is the fastest way a new rep says something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everybody's first attempt is 'I see you don't take online bookings'. That is an inference read out as an observation — 0.62 is closer to a coin toss than to a fact, and if they DO take bookings you have just told a business owner you know their business better than they do. The call is over and you will not know why.
What works is a question: 'When somebody wants to book you in, how does that reach you at the moment?' Now the fact comes out of their mouth, which makes it usable, and if we were wrong nobody has lost anything.
Run the drill twice more with a fact instead of an inference: 'What we observed: no booking page on their site.' That one you CAN say flat — 'I had a look at your site, there's no way to book on it.' Get the room to hear the difference between the two sentences.
The test to leave them with: if you would have to defend the sentence, ask it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this live. Do not describe it — open the queue, claim one, and walk the six steps on screen while they watch. Then hand the headset over.
The dispositions (lib/sales/calls/dispositions.js): no answer, busy, voicemail left, gatekeeper, callback requested, spoke-interested, spoke-not-interested, asked not to be called, wrong number, not a business we can sell to. Each one does something different to the claim behind it — 'wrong number' releases it AND marks it for review so the pool cannot hand the same dead number to the next rep.
'Asked not to be called again' will not save without their words in the note. That is deliberate and it is permanent.
The note box is the single biggest difference between reps. Say it plainly: whether the next person can pick up your thread six weeks later is decided by whether you typed while they were still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CORRECTION, and say it out loud in the room: the written SOP still carries a warning box saying the calling window is 'written down and NOT enforced' and that the product will let you dial at 3 a.m. That was true when it was written and it is not true now. lib/sales/callingRules.js decides, dialHref() cannot produce a dial target from a refusal, and app/api/sales/calls/route.js re-checks server-side.
Canada is one federal rule for all provinces: 09:00-21:30 weekdays, 10:00-18:00 weekends. The US is a table of states — no federal floor exists for B2B calls, so an unlisted state is 'unknown' rather than 8-to-9. Arizona bans unsolicited sales calls to mobiles outright at any hour. Nevada was read and imposes nothing, so FieldQuo's own 08:00-20:00 courtesy window applies there and the refusal SAYS it is our rule, not the state's.
The framing that matters for a rep: this is not a rule you have to remember. It is a rule you cannot break by accident. A rep who finds a way around it is creating a legal problem for FieldQuo, not showing initiative.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lib/sales/calls/inboundDistribution.js. Three things worth saying.
One: 'available' in the presence table is a claim, not proof. A rep whose browser closed an hour ago is skipped rather than rung — otherwise a contractor listens to twenty seconds of ringing at a dead machine.
Two: rule 2 is why the call log matters. A contractor ringing from a mobile we have never seen matches nobody by assignment, but the log knows who rang them, so they still reach the right person.
Three: the personal-mobile line at the bottom is not a policy point, it is self-interest. Your own number is on this ladder. Your mobile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lib/sales/calls/transfer.js and lib/sales/calls/queue.js.
The design point worth teaching: on a cold transfer you stay in the room until the target actually answers. The obvious build — throw the caller across and drop your own leg — was rejected because when the target does not pick up there is then nobody to give the caller back to, and they were mid-sentence with a human thirty seconds ago.
The one case that cannot be recovered is you hanging up mid-transfer. Then the caller goes to the hold queue instead, which ends at a voicemail rather than at nothing. So: do not hang up on a transfer, wait the extra four seconds.
Transfer only offers reps who are genuinely reachable. If a name is not in the list, they are not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lib/sales/calls/voicemail.js and app/sales/voicemail/page.js.
This screen is new. Before it existed the only place a sales voicemail could be played was the superadmin board — so the person the message was FOR could not hear it. The owner's words were 'it seems kinda illogical'. Worth telling the room, because it is a good example of the standard here: a thing that is written and never read gets fixed rather than explained away.
The zero-second message is the teaching point. The recorder fires after a few seconds of silence, so a zero-length recording is somebody who rang, heard the beep and hung up. Hiding it as 'empty' would throw away the warmest signal on the screen. It is the highest intent contact a rep gets all week and most people ignore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CORRECTION: the written SOP says you can send exactly one fixed message and nothing comes back. Both halves are real now — app/api/sales/messages POST, and /sales/messages is the screen.
Second correction, for anybody who reads the recruitment material: your CALLS go out from your own assigned number, but your TEXTS go out from the one shared sales number (lib/sales/salesSms.js, a 'sales'-purpose number). They are not the same number. Do not promise a contractor they can text you back on the number that rang them.
The reason you cannot open a free-text thread cold: the first message carries the identification the law wants on a first contact. Skipping it and typing 'hey, remember me?' is the thing the 409 exists to stop.
Keep replies short. Two SMS segments is the ceiling and one emoji re-encodes the whole message and can quintuple its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lib/sales/suppression.js. There is no delete function in that file and there must not be one — Canada's internal do-not-call obligation runs three years and fourteen days, and removal is a 'removedAt' plus a mandatory reason, which lifts the block and keeps the evidence.
The frame for a rep is not compliance, it is relief: thirty companies, four channels, and you are never the person who has to remember. The list is re-read in the request that places the call or sends the mail — a stale screen from two minutes ago cannot authorise anything.
Be honest about the gap on the third row. It is real: app/sales/queue does not read the suppression list before rendering the handset link, only the prospect's do-not-contact flag. Marking do-not-contact when you hear one closes it. Tell them we know, and that saying so beats pretending.
If the list cannot be read at all, the call is refused rather than risked. 'We could not check' is not permission.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almost nothing. 'Understood — I'll take you off our list now. Sorry to have bothered you.' Then stop talking. Every extra sentence is a rep trying to win back a call that is already over, and it is the sentence that turns an opt-out into a complaint.
Do NOT ask why. Do not offer to email instead. Do not say 'can I just send you the link'. Email is closed too, the moment you press the button.
What you press: disposition 'Asked not to be called again', and type his words in the note — it will not save without them, and it is permanent. That writes the opt-out across calls, texts and email in the same transaction as the disposition, and it marks the prospect do-not-contact so the dial control disappears.
Then say the thing the room needs to hear: this is not a failure and nobody is judged on it. A rep who is nervous about opt-outs starts fudging them, and a fudged opt-out is the one that costs FieldQuo real money. Nine of these a week is a rep working the phone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lib/sales/checkin/signals.js. FIRST_CHECKIN_DAY is 3; the cadence guard is a quarter of the retention window, clamped between 7 and 30 days, so 15 on today's 60-day plan.
The money framing is on the pay deck and you should not re-teach it here — just make the connection: the third stage exists because a signup that never pays is not a sale, and it is the stage that rewards selling to somebody who needed it rather than closing anybody who answers.
Sixty days is a long time to remember thirty companies by hand. That is the honest reason this screen exists, and it is how to introduce it — not as management watching, as the thing that stops good customers quietly falling off the end of a rep's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CHECKIN_REASONS in lib/sales/checkin/signals.js, with the urgency numbers shown so the room can see it is an order, not a mood.
The evidence is deliberately superficial — signup date, subscription status, whether payouts are connected, which set-up steps are open. You are not reading a customer's quotes to write a 'how's it going' text, and nothing here asks you to. That boundary is the same rule that makes the platform console read-only on a tenant's data.
'Nothing looks wrong, say hello' is a legitimate reason, not a problem dressed up as one. The owner asked for it in those words. Do not let a rep treat it as filler — it is the check-in that keeps a happy customer happy.
Some companies will not come up at all, and the screen says why: a demo company, a subscription that already ended, or they were checked in on recently. Absence of a row is explained, never blank.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lib/sales/checkin/draft.js. Every fact in the message came out of rows somebody already read; the model rephrases and learns nothing new. The gate rejects a URL, a price, an emoji, and any number that is not one of the numbers we established.
Two SMS segments, 306 characters, and every deterministic sentence is typed with a plain hyphen and a plain apostrophe on purpose — one curly quote re-encodes the whole message and turns two segments into five.
If somebody asks whether this spends the customer's AI allowance: no. It is metered against FieldQuo's own platform budget. A retention text that degraded because the contractor used their own copilot a lot would be exactly backwards.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lib/support/repClient.js and lib/support/escalation.js.
Draw the line for them: this is for something that does not work. 'How do I add a crew member' is a question you answer, or look up in the feature reference. 'Their quote PDF is coming out with no logo' is a ticket.
The boundary that matters: a support ticket is FieldQuo's note about a contractor's problem. Nothing on this path touches their quotes, clients or invoices — we look, we do not edit. Same rule as the platform console.
Worth saying that the reason this exists at all is that reports were evaporating: a rep heard something on a call, meant to mention it, and never did. The channel is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do the arithmetic here. That is the pay deck — How-you-get-paid.pptx — and it has the milestone amounts, the timing of each release and the honest build-up maths. Say the deck exists and move on.
The two things they need TODAY are on this slide. First, set the Pay tab in the first ten minutes: nobody is paid until it is set. Second, ask whether a commission plan is assigned to them, because with no plan the earnings function returns nothing rather than guessing an amount, and it does it quietly.
The rep-account write refusal is worth landing properly. It reads like a restriction and it is a protection: the reason nobody can quietly adjust your record is the same reason you cannot adjust it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the written SOP now, not earlier, and tell them what it is for: it is the reference for week one, it names the screen or the function behind every step, and it is honest about the rough edges. Also tell them it has drifted in three places we corrected today — the calling window, the number of screens, and texts being two-way — and that when the screen and a document disagree, the screen wins and they should tell somebody.
End on the last line. The temptation on day one is to try to close, and a new rep who is trying to close is not listening. The first week's job is fifty good notes.
Then sit next to them for the first call. Do not take the headset.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731520" y="2011680"/>
            <a:ext cx="9601200" cy="109728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Day one</a:t>
            </a:r>
            <a:endParaRPr lang="en-US" sz="5400" dirty="0"/>
          </a:p>
        </p:txBody>
      </p:sp>
      <p:sp>
        <p:nvSpPr>
          <p:cNvPr id="3" name="Text 1"/>
          <p:cNvSpPr txBox="1"/>
          <p:nvPr/>
        </p:nvSpPr>
        <p:spPr>
          <a:xfrm>
            <a:off x="731520" y="3154680"/>
            <a:ext cx="9601200" cy="548640"/>
          </a:xfrm>
          <a:prstGeom prst="rect">
            <a:avLst/>
          </a:prstGeom>
          <a:noFill/>
          <a:ln/>
        </p:spPr>
        <p:txBody>
          <a:bodyPr wrap="square" rtlCol="0" anchor="ctr"/>
          <a:lstStyle/>
          <a:p>
            <a:pPr indent="0" marL="0">
              <a:buNone/>
            </a:pPr>
            <a:r>
              <a:rPr lang="en-US" sz="2000" dirty="0">
                <a:solidFill>
                  <a:srgbClr val="CADCFC"/>
                </a:solidFill>
                <a:latin typeface="Calibri" pitchFamily="34" charset="0"/>
                <a:ea typeface="Calibri" pitchFamily="34" charset="-122"/>
                <a:cs typeface="Calibri" pitchFamily="34" charset="-120"/>
              </a:rPr>
              <a:t>What we sell, who we ring, and how a call actually goes</a:t>
            </a:r>
            <a:endParaRPr lang="en-US" sz="2000" dirty="0"/>
          </a:p>
        </p:txBody>
      </p:sp>
      <p:sp>
        <p:nvSpPr>
          <p:cNvPr id="4" name="Text 2"/>
          <p:cNvSpPr txBox="1"/>
          <p:nvPr/>
        </p:nvSpPr>
        <p:spPr>
          <a:xfrm>
            <a:off x="731520" y="4114800"/>
            <a:ext cx="9601200" cy="457200"/>
          </a:xfrm>
          <a:prstGeom prst="rect">
            <a:avLst/>
          </a:prstGeom>
          <a:noFill/>
          <a:ln/>
        </p:spPr>
        <p:txBody>
          <a:bodyPr wrap="square"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You will make a real call before this session ends. Everything here is aimed at that.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What you are selling</a:t>
            </a:r>
            <a:endParaRPr lang="en-US" sz="3600" dirty="0"/>
          </a:p>
        </p:txBody>
      </p:sp>
      <p:sp>
        <p:nvSpPr>
          <p:cNvPr id="3" name="Text 1"/>
          <p:cNvSpPr txBox="1"/>
          <p:nvPr/>
        </p:nvSpPr>
        <p:spPr>
          <a:xfrm>
            <a:off x="731520" y="1207008"/>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One pipeline. A contractor wins the job, does the job, and gets paid, without leaving FieldQuo.</a:t>
            </a:r>
            <a:endParaRPr lang="en-US" sz="1500" dirty="0"/>
          </a:p>
        </p:txBody>
      </p:sp>
      <p:sp>
        <p:nvSpPr>
          <p:cNvPr id="4" name="Shape 2"/>
          <p:cNvSpPr/>
          <p:nvPr/>
        </p:nvSpPr>
        <p:spPr>
          <a:xfrm>
            <a:off x="731520" y="1965960"/>
            <a:ext cx="1828800" cy="914400"/>
          </a:xfrm>
          <a:prstGeom prst="roundRect">
            <a:avLst>
              <a:gd name="adj" fmla="val 12000"/>
            </a:avLst>
          </a:prstGeom>
          <a:solidFill>
            <a:srgbClr val="1E2761"/>
          </a:solidFill>
          <a:ln/>
        </p:spPr>
      </p:sp>
      <p:sp>
        <p:nvSpPr>
          <p:cNvPr id="5" name="Text 3"/>
          <p:cNvSpPr txBox="1"/>
          <p:nvPr/>
        </p:nvSpPr>
        <p:spPr>
          <a:xfrm>
            <a:off x="731520" y="1965960"/>
            <a:ext cx="1828800" cy="9144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Lead</a:t>
            </a:r>
            <a:endParaRPr lang="en-US" sz="2200" dirty="0"/>
          </a:p>
        </p:txBody>
      </p:sp>
      <p:sp>
        <p:nvSpPr>
          <p:cNvPr id="6" name="Text 4"/>
          <p:cNvSpPr txBox="1"/>
          <p:nvPr/>
        </p:nvSpPr>
        <p:spPr>
          <a:xfrm>
            <a:off x="2560320" y="1965960"/>
            <a:ext cx="384048" cy="914400"/>
          </a:xfrm>
          <a:prstGeom prst="rect">
            <a:avLst/>
          </a:prstGeom>
          <a:noFill/>
          <a:ln/>
        </p:spPr>
        <p:txBody>
          <a:bodyPr wrap="square" lIns="0" tIns="0" rIns="0" bIns="0" rtlCol="0" anchor="ctr"/>
          <a:lstStyle/>
          <a:p>
            <a:pPr algn="ctr" indent="0" marL="0">
              <a:buNone/>
            </a:pPr>
            <a:r>
              <a:rPr lang="en-US" sz="2200" b="1" dirty="0">
                <a:solidFill>
                  <a:srgbClr val="5A6070"/>
                </a:solidFill>
                <a:latin typeface="Calibri" pitchFamily="34" charset="0"/>
                <a:ea typeface="Calibri" pitchFamily="34" charset="-122"/>
                <a:cs typeface="Calibri" pitchFamily="34" charset="-120"/>
              </a:rPr>
              <a:t>→</a:t>
            </a:r>
            <a:endParaRPr lang="en-US" sz="2200" dirty="0"/>
          </a:p>
        </p:txBody>
      </p:sp>
      <p:sp>
        <p:nvSpPr>
          <p:cNvPr id="7" name="Shape 5"/>
          <p:cNvSpPr/>
          <p:nvPr/>
        </p:nvSpPr>
        <p:spPr>
          <a:xfrm>
            <a:off x="2944368" y="1965960"/>
            <a:ext cx="1828800" cy="914400"/>
          </a:xfrm>
          <a:prstGeom prst="roundRect">
            <a:avLst>
              <a:gd name="adj" fmla="val 12000"/>
            </a:avLst>
          </a:prstGeom>
          <a:solidFill>
            <a:srgbClr val="1E2761"/>
          </a:solidFill>
          <a:ln/>
        </p:spPr>
      </p:sp>
      <p:sp>
        <p:nvSpPr>
          <p:cNvPr id="8" name="Text 6"/>
          <p:cNvSpPr txBox="1"/>
          <p:nvPr/>
        </p:nvSpPr>
        <p:spPr>
          <a:xfrm>
            <a:off x="2944368" y="1965960"/>
            <a:ext cx="1828800" cy="9144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Quote</a:t>
            </a:r>
            <a:endParaRPr lang="en-US" sz="2200" dirty="0"/>
          </a:p>
        </p:txBody>
      </p:sp>
      <p:sp>
        <p:nvSpPr>
          <p:cNvPr id="9" name="Text 7"/>
          <p:cNvSpPr txBox="1"/>
          <p:nvPr/>
        </p:nvSpPr>
        <p:spPr>
          <a:xfrm>
            <a:off x="4773168" y="1965960"/>
            <a:ext cx="384048" cy="914400"/>
          </a:xfrm>
          <a:prstGeom prst="rect">
            <a:avLst/>
          </a:prstGeom>
          <a:noFill/>
          <a:ln/>
        </p:spPr>
        <p:txBody>
          <a:bodyPr wrap="square" lIns="0" tIns="0" rIns="0" bIns="0" rtlCol="0" anchor="ctr"/>
          <a:lstStyle/>
          <a:p>
            <a:pPr algn="ctr" indent="0" marL="0">
              <a:buNone/>
            </a:pPr>
            <a:r>
              <a:rPr lang="en-US" sz="2200" b="1" dirty="0">
                <a:solidFill>
                  <a:srgbClr val="5A6070"/>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5157216" y="1965960"/>
            <a:ext cx="1828800" cy="914400"/>
          </a:xfrm>
          <a:prstGeom prst="roundRect">
            <a:avLst>
              <a:gd name="adj" fmla="val 12000"/>
            </a:avLst>
          </a:prstGeom>
          <a:solidFill>
            <a:srgbClr val="1E2761"/>
          </a:solidFill>
          <a:ln/>
        </p:spPr>
      </p:sp>
      <p:sp>
        <p:nvSpPr>
          <p:cNvPr id="11" name="Text 9"/>
          <p:cNvSpPr txBox="1"/>
          <p:nvPr/>
        </p:nvSpPr>
        <p:spPr>
          <a:xfrm>
            <a:off x="5157216" y="1965960"/>
            <a:ext cx="1828800" cy="9144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Job</a:t>
            </a:r>
            <a:endParaRPr lang="en-US" sz="2200" dirty="0"/>
          </a:p>
        </p:txBody>
      </p:sp>
      <p:sp>
        <p:nvSpPr>
          <p:cNvPr id="12" name="Text 10"/>
          <p:cNvSpPr txBox="1"/>
          <p:nvPr/>
        </p:nvSpPr>
        <p:spPr>
          <a:xfrm>
            <a:off x="6986016" y="1965960"/>
            <a:ext cx="384048" cy="914400"/>
          </a:xfrm>
          <a:prstGeom prst="rect">
            <a:avLst/>
          </a:prstGeom>
          <a:noFill/>
          <a:ln/>
        </p:spPr>
        <p:txBody>
          <a:bodyPr wrap="square" lIns="0" tIns="0" rIns="0" bIns="0" rtlCol="0" anchor="ctr"/>
          <a:lstStyle/>
          <a:p>
            <a:pPr algn="ctr" indent="0" marL="0">
              <a:buNone/>
            </a:pPr>
            <a:r>
              <a:rPr lang="en-US" sz="2200" b="1" dirty="0">
                <a:solidFill>
                  <a:srgbClr val="5A6070"/>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7370064" y="1965960"/>
            <a:ext cx="1828800" cy="914400"/>
          </a:xfrm>
          <a:prstGeom prst="roundRect">
            <a:avLst>
              <a:gd name="adj" fmla="val 12000"/>
            </a:avLst>
          </a:prstGeom>
          <a:solidFill>
            <a:srgbClr val="1E2761"/>
          </a:solidFill>
          <a:ln/>
        </p:spPr>
      </p:sp>
      <p:sp>
        <p:nvSpPr>
          <p:cNvPr id="14" name="Text 12"/>
          <p:cNvSpPr txBox="1"/>
          <p:nvPr/>
        </p:nvSpPr>
        <p:spPr>
          <a:xfrm>
            <a:off x="7370064" y="1965960"/>
            <a:ext cx="1828800" cy="9144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Invoice</a:t>
            </a:r>
            <a:endParaRPr lang="en-US" sz="2200" dirty="0"/>
          </a:p>
        </p:txBody>
      </p:sp>
      <p:sp>
        <p:nvSpPr>
          <p:cNvPr id="15" name="Text 13"/>
          <p:cNvSpPr txBox="1"/>
          <p:nvPr/>
        </p:nvSpPr>
        <p:spPr>
          <a:xfrm>
            <a:off x="9198864" y="1965960"/>
            <a:ext cx="384048" cy="914400"/>
          </a:xfrm>
          <a:prstGeom prst="rect">
            <a:avLst/>
          </a:prstGeom>
          <a:noFill/>
          <a:ln/>
        </p:spPr>
        <p:txBody>
          <a:bodyPr wrap="square" lIns="0" tIns="0" rIns="0" bIns="0" rtlCol="0" anchor="ctr"/>
          <a:lstStyle/>
          <a:p>
            <a:pPr algn="ctr" indent="0" marL="0">
              <a:buNone/>
            </a:pPr>
            <a:r>
              <a:rPr lang="en-US" sz="2200" b="1" dirty="0">
                <a:solidFill>
                  <a:srgbClr val="5A6070"/>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9582912" y="1965960"/>
            <a:ext cx="1828800" cy="914400"/>
          </a:xfrm>
          <a:prstGeom prst="roundRect">
            <a:avLst>
              <a:gd name="adj" fmla="val 12000"/>
            </a:avLst>
          </a:prstGeom>
          <a:solidFill>
            <a:srgbClr val="C8A44D"/>
          </a:solidFill>
          <a:ln/>
        </p:spPr>
      </p:sp>
      <p:sp>
        <p:nvSpPr>
          <p:cNvPr id="17" name="Text 15"/>
          <p:cNvSpPr txBox="1"/>
          <p:nvPr/>
        </p:nvSpPr>
        <p:spPr>
          <a:xfrm>
            <a:off x="9582912" y="1965960"/>
            <a:ext cx="1828800" cy="91440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Paid</a:t>
            </a:r>
            <a:endParaRPr lang="en-US" sz="2200" dirty="0"/>
          </a:p>
        </p:txBody>
      </p:sp>
      <p:sp>
        <p:nvSpPr>
          <p:cNvPr id="18" name="Shape 16"/>
          <p:cNvSpPr/>
          <p:nvPr/>
        </p:nvSpPr>
        <p:spPr>
          <a:xfrm>
            <a:off x="731520" y="3200400"/>
            <a:ext cx="10698480" cy="914400"/>
          </a:xfrm>
          <a:prstGeom prst="rect">
            <a:avLst/>
          </a:prstGeom>
          <a:solidFill>
            <a:srgbClr val="F4F6FB"/>
          </a:solidFill>
          <a:ln/>
        </p:spPr>
      </p:sp>
      <p:sp>
        <p:nvSpPr>
          <p:cNvPr id="19" name="Text 17"/>
          <p:cNvSpPr txBox="1"/>
          <p:nvPr/>
        </p:nvSpPr>
        <p:spPr>
          <a:xfrm>
            <a:off x="960120" y="3255264"/>
            <a:ext cx="3017520" cy="80467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The whole thing is theirs</a:t>
            </a:r>
            <a:endParaRPr lang="en-US" sz="1500" dirty="0"/>
          </a:p>
        </p:txBody>
      </p:sp>
      <p:sp>
        <p:nvSpPr>
          <p:cNvPr id="20" name="Text 18"/>
          <p:cNvSpPr txBox="1"/>
          <p:nvPr/>
        </p:nvSpPr>
        <p:spPr>
          <a:xfrm>
            <a:off x="4160520" y="3255264"/>
            <a:ext cx="6629400" cy="804672"/>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Their logo, their colour, their name in the From line. A homeowner comparing three contractors cannot tell that two of them run the same software. Nothing on a quote PDF says FieldQuo.</a:t>
            </a:r>
            <a:endParaRPr lang="en-US" sz="1250" dirty="0"/>
          </a:p>
        </p:txBody>
      </p:sp>
      <p:sp>
        <p:nvSpPr>
          <p:cNvPr id="21" name="Shape 19"/>
          <p:cNvSpPr/>
          <p:nvPr/>
        </p:nvSpPr>
        <p:spPr>
          <a:xfrm>
            <a:off x="731520" y="4233672"/>
            <a:ext cx="10698480" cy="914400"/>
          </a:xfrm>
          <a:prstGeom prst="rect">
            <a:avLst/>
          </a:prstGeom>
          <a:solidFill>
            <a:srgbClr val="F4F6FB"/>
          </a:solidFill>
          <a:ln/>
        </p:spPr>
      </p:sp>
      <p:sp>
        <p:nvSpPr>
          <p:cNvPr id="22" name="Text 20"/>
          <p:cNvSpPr txBox="1"/>
          <p:nvPr/>
        </p:nvSpPr>
        <p:spPr>
          <a:xfrm>
            <a:off x="960120" y="4288536"/>
            <a:ext cx="3017520" cy="80467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It answers the phone</a:t>
            </a:r>
            <a:endParaRPr lang="en-US" sz="1500" dirty="0"/>
          </a:p>
        </p:txBody>
      </p:sp>
      <p:sp>
        <p:nvSpPr>
          <p:cNvPr id="23" name="Text 21"/>
          <p:cNvSpPr txBox="1"/>
          <p:nvPr/>
        </p:nvSpPr>
        <p:spPr>
          <a:xfrm>
            <a:off x="4160520" y="4288536"/>
            <a:ext cx="6629400" cy="804672"/>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The AI receptionist picks up while they are on a ladder, takes the details, books the visit, and hands them a draft quote from what the caller described.</a:t>
            </a:r>
            <a:endParaRPr lang="en-US" sz="1250" dirty="0"/>
          </a:p>
        </p:txBody>
      </p:sp>
      <p:sp>
        <p:nvSpPr>
          <p:cNvPr id="24" name="Shape 22"/>
          <p:cNvSpPr/>
          <p:nvPr/>
        </p:nvSpPr>
        <p:spPr>
          <a:xfrm>
            <a:off x="731520" y="5266944"/>
            <a:ext cx="10698480" cy="914400"/>
          </a:xfrm>
          <a:prstGeom prst="rect">
            <a:avLst/>
          </a:prstGeom>
          <a:solidFill>
            <a:srgbClr val="F4F6FB"/>
          </a:solidFill>
          <a:ln/>
        </p:spPr>
      </p:sp>
      <p:sp>
        <p:nvSpPr>
          <p:cNvPr id="25" name="Text 23"/>
          <p:cNvSpPr txBox="1"/>
          <p:nvPr/>
        </p:nvSpPr>
        <p:spPr>
          <a:xfrm>
            <a:off x="960120" y="5321808"/>
            <a:ext cx="3017520" cy="80467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It gets them paid</a:t>
            </a:r>
            <a:endParaRPr lang="en-US" sz="1500" dirty="0"/>
          </a:p>
        </p:txBody>
      </p:sp>
      <p:sp>
        <p:nvSpPr>
          <p:cNvPr id="26" name="Text 24"/>
          <p:cNvSpPr txBox="1"/>
          <p:nvPr/>
        </p:nvSpPr>
        <p:spPr>
          <a:xfrm>
            <a:off x="4160520" y="5321808"/>
            <a:ext cx="6629400" cy="804672"/>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Client opens a link, ticks the extras they want, signs. Invoice, card payment, done — no printing and no phone tag.</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Who picks up</a:t>
            </a:r>
            <a:endParaRPr lang="en-US" sz="3600" dirty="0"/>
          </a:p>
        </p:txBody>
      </p:sp>
      <p:sp>
        <p:nvSpPr>
          <p:cNvPr id="3" name="Text 1"/>
          <p:cNvSpPr txBox="1"/>
          <p:nvPr/>
        </p:nvSpPr>
        <p:spPr>
          <a:xfrm>
            <a:off x="731520" y="1207008"/>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Picture them before you dial. It changes your first sentence.</a:t>
            </a:r>
            <a:endParaRPr lang="en-US" sz="1500" dirty="0"/>
          </a:p>
        </p:txBody>
      </p:sp>
      <p:sp>
        <p:nvSpPr>
          <p:cNvPr id="4" name="Shape 2"/>
          <p:cNvSpPr/>
          <p:nvPr/>
        </p:nvSpPr>
        <p:spPr>
          <a:xfrm>
            <a:off x="731520" y="1874520"/>
            <a:ext cx="3383280" cy="2468880"/>
          </a:xfrm>
          <a:prstGeom prst="roundRect">
            <a:avLst>
              <a:gd name="adj" fmla="val 5185"/>
            </a:avLst>
          </a:prstGeom>
          <a:solidFill>
            <a:srgbClr val="F4F6FB"/>
          </a:solidFill>
          <a:ln/>
        </p:spPr>
      </p:sp>
      <p:sp>
        <p:nvSpPr>
          <p:cNvPr id="5" name="Text 3"/>
          <p:cNvSpPr txBox="1"/>
          <p:nvPr/>
        </p:nvSpPr>
        <p:spPr>
          <a:xfrm>
            <a:off x="1024128" y="2057400"/>
            <a:ext cx="2798064" cy="822960"/>
          </a:xfrm>
          <a:prstGeom prst="rect">
            <a:avLst/>
          </a:prstGeom>
          <a:noFill/>
          <a:ln/>
        </p:spPr>
        <p:txBody>
          <a:bodyPr wrap="square" lIns="0" tIns="0" rIns="0" bIns="0" rtlCol="0" anchor="ctr"/>
          <a:lstStyle/>
          <a:p>
            <a:pPr indent="0" marL="0">
              <a:buNone/>
            </a:pPr>
            <a:r>
              <a:rPr lang="en-US" sz="4600" b="1" dirty="0">
                <a:solidFill>
                  <a:srgbClr val="1E2761"/>
                </a:solidFill>
                <a:latin typeface="Cambria" pitchFamily="34" charset="0"/>
                <a:ea typeface="Cambria" pitchFamily="34" charset="-122"/>
                <a:cs typeface="Cambria" pitchFamily="34" charset="-120"/>
              </a:rPr>
              <a:t>1–20</a:t>
            </a:r>
            <a:endParaRPr lang="en-US" sz="4600" dirty="0"/>
          </a:p>
        </p:txBody>
      </p:sp>
      <p:sp>
        <p:nvSpPr>
          <p:cNvPr id="6" name="Text 4"/>
          <p:cNvSpPr txBox="1"/>
          <p:nvPr/>
        </p:nvSpPr>
        <p:spPr>
          <a:xfrm>
            <a:off x="1024128" y="2852928"/>
            <a:ext cx="2798064" cy="320040"/>
          </a:xfrm>
          <a:prstGeom prst="rect">
            <a:avLst/>
          </a:prstGeom>
          <a:noFill/>
          <a:ln/>
        </p:spPr>
        <p:txBody>
          <a:bodyPr wrap="square" lIns="0" tIns="0" rIns="0" bIns="0" rtlCol="0" anchor="ctr"/>
          <a:lstStyle/>
          <a:p>
            <a:pPr indent="0" marL="0">
              <a:buNone/>
            </a:pPr>
            <a:r>
              <a:rPr lang="en-US" sz="1400" b="1" dirty="0">
                <a:solidFill>
                  <a:srgbClr val="C8A44D"/>
                </a:solidFill>
                <a:latin typeface="Calibri" pitchFamily="34" charset="0"/>
                <a:ea typeface="Calibri" pitchFamily="34" charset="-122"/>
                <a:cs typeface="Calibri" pitchFamily="34" charset="-120"/>
              </a:rPr>
              <a:t>people</a:t>
            </a:r>
            <a:endParaRPr lang="en-US" sz="1400" dirty="0"/>
          </a:p>
        </p:txBody>
      </p:sp>
      <p:sp>
        <p:nvSpPr>
          <p:cNvPr id="7" name="Text 5"/>
          <p:cNvSpPr txBox="1"/>
          <p:nvPr/>
        </p:nvSpPr>
        <p:spPr>
          <a:xfrm>
            <a:off x="1024128" y="3218688"/>
            <a:ext cx="2798064" cy="100584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Usually the owner answers, and the owner is also the estimator, the invoicer and sometimes the person on the ladder.</a:t>
            </a:r>
            <a:endParaRPr lang="en-US" sz="1250" dirty="0"/>
          </a:p>
        </p:txBody>
      </p:sp>
      <p:sp>
        <p:nvSpPr>
          <p:cNvPr id="8" name="Shape 6"/>
          <p:cNvSpPr/>
          <p:nvPr/>
        </p:nvSpPr>
        <p:spPr>
          <a:xfrm>
            <a:off x="4389120" y="1874520"/>
            <a:ext cx="3383280" cy="2468880"/>
          </a:xfrm>
          <a:prstGeom prst="roundRect">
            <a:avLst>
              <a:gd name="adj" fmla="val 5185"/>
            </a:avLst>
          </a:prstGeom>
          <a:solidFill>
            <a:srgbClr val="F4F6FB"/>
          </a:solidFill>
          <a:ln/>
        </p:spPr>
      </p:sp>
      <p:sp>
        <p:nvSpPr>
          <p:cNvPr id="9" name="Text 7"/>
          <p:cNvSpPr txBox="1"/>
          <p:nvPr/>
        </p:nvSpPr>
        <p:spPr>
          <a:xfrm>
            <a:off x="4681728" y="2057400"/>
            <a:ext cx="2798064" cy="822960"/>
          </a:xfrm>
          <a:prstGeom prst="rect">
            <a:avLst/>
          </a:prstGeom>
          <a:noFill/>
          <a:ln/>
        </p:spPr>
        <p:txBody>
          <a:bodyPr wrap="square" lIns="0" tIns="0" rIns="0" bIns="0" rtlCol="0" anchor="ctr"/>
          <a:lstStyle/>
          <a:p>
            <a:pPr indent="0" marL="0">
              <a:buNone/>
            </a:pPr>
            <a:r>
              <a:rPr lang="en-US" sz="4600" b="1" dirty="0">
                <a:solidFill>
                  <a:srgbClr val="1E2761"/>
                </a:solidFill>
                <a:latin typeface="Cambria" pitchFamily="34" charset="0"/>
                <a:ea typeface="Cambria" pitchFamily="34" charset="-122"/>
                <a:cs typeface="Cambria" pitchFamily="34" charset="-120"/>
              </a:rPr>
              <a:t>39</a:t>
            </a:r>
            <a:endParaRPr lang="en-US" sz="4600" dirty="0"/>
          </a:p>
        </p:txBody>
      </p:sp>
      <p:sp>
        <p:nvSpPr>
          <p:cNvPr id="10" name="Text 8"/>
          <p:cNvSpPr txBox="1"/>
          <p:nvPr/>
        </p:nvSpPr>
        <p:spPr>
          <a:xfrm>
            <a:off x="4681728" y="2852928"/>
            <a:ext cx="2798064" cy="320040"/>
          </a:xfrm>
          <a:prstGeom prst="rect">
            <a:avLst/>
          </a:prstGeom>
          <a:noFill/>
          <a:ln/>
        </p:spPr>
        <p:txBody>
          <a:bodyPr wrap="square" lIns="0" tIns="0" rIns="0" bIns="0" rtlCol="0" anchor="ctr"/>
          <a:lstStyle/>
          <a:p>
            <a:pPr indent="0" marL="0">
              <a:buNone/>
            </a:pPr>
            <a:r>
              <a:rPr lang="en-US" sz="1400" b="1" dirty="0">
                <a:solidFill>
                  <a:srgbClr val="C8A44D"/>
                </a:solidFill>
                <a:latin typeface="Calibri" pitchFamily="34" charset="0"/>
                <a:ea typeface="Calibri" pitchFamily="34" charset="-122"/>
                <a:cs typeface="Calibri" pitchFamily="34" charset="-120"/>
              </a:rPr>
              <a:t>trades in the picker</a:t>
            </a:r>
            <a:endParaRPr lang="en-US" sz="1400" dirty="0"/>
          </a:p>
        </p:txBody>
      </p:sp>
      <p:sp>
        <p:nvSpPr>
          <p:cNvPr id="11" name="Text 9"/>
          <p:cNvSpPr txBox="1"/>
          <p:nvPr/>
        </p:nvSpPr>
        <p:spPr>
          <a:xfrm>
            <a:off x="4681728" y="3218688"/>
            <a:ext cx="2798064" cy="100584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Painters, cabinet makers, roofers, landscapers, flooring, plumbing. DISCOVERY_TRADES, and you pick one per day.</a:t>
            </a:r>
            <a:endParaRPr lang="en-US" sz="1250" dirty="0"/>
          </a:p>
        </p:txBody>
      </p:sp>
      <p:sp>
        <p:nvSpPr>
          <p:cNvPr id="12" name="Shape 10"/>
          <p:cNvSpPr/>
          <p:nvPr/>
        </p:nvSpPr>
        <p:spPr>
          <a:xfrm>
            <a:off x="8046720" y="1874520"/>
            <a:ext cx="3383280" cy="2468880"/>
          </a:xfrm>
          <a:prstGeom prst="roundRect">
            <a:avLst>
              <a:gd name="adj" fmla="val 5185"/>
            </a:avLst>
          </a:prstGeom>
          <a:solidFill>
            <a:srgbClr val="F4F6FB"/>
          </a:solidFill>
          <a:ln/>
        </p:spPr>
      </p:sp>
      <p:sp>
        <p:nvSpPr>
          <p:cNvPr id="13" name="Text 11"/>
          <p:cNvSpPr txBox="1"/>
          <p:nvPr/>
        </p:nvSpPr>
        <p:spPr>
          <a:xfrm>
            <a:off x="8339328" y="2057400"/>
            <a:ext cx="2798064" cy="822960"/>
          </a:xfrm>
          <a:prstGeom prst="rect">
            <a:avLst/>
          </a:prstGeom>
          <a:noFill/>
          <a:ln/>
        </p:spPr>
        <p:txBody>
          <a:bodyPr wrap="square" lIns="0" tIns="0" rIns="0" bIns="0" rtlCol="0" anchor="ctr"/>
          <a:lstStyle/>
          <a:p>
            <a:pPr indent="0" marL="0">
              <a:buNone/>
            </a:pPr>
            <a:r>
              <a:rPr lang="en-US" sz="4600" b="1" dirty="0">
                <a:solidFill>
                  <a:srgbClr val="1E2761"/>
                </a:solidFill>
                <a:latin typeface="Cambria" pitchFamily="34" charset="0"/>
                <a:ea typeface="Cambria" pitchFamily="34" charset="-122"/>
                <a:cs typeface="Cambria" pitchFamily="34" charset="-120"/>
              </a:rPr>
              <a:t>0</a:t>
            </a:r>
            <a:endParaRPr lang="en-US" sz="4600" dirty="0"/>
          </a:p>
        </p:txBody>
      </p:sp>
      <p:sp>
        <p:nvSpPr>
          <p:cNvPr id="14" name="Text 12"/>
          <p:cNvSpPr txBox="1"/>
          <p:nvPr/>
        </p:nvSpPr>
        <p:spPr>
          <a:xfrm>
            <a:off x="8339328" y="2852928"/>
            <a:ext cx="2798064" cy="320040"/>
          </a:xfrm>
          <a:prstGeom prst="rect">
            <a:avLst/>
          </a:prstGeom>
          <a:noFill/>
          <a:ln/>
        </p:spPr>
        <p:txBody>
          <a:bodyPr wrap="square" lIns="0" tIns="0" rIns="0" bIns="0" rtlCol="0" anchor="ctr"/>
          <a:lstStyle/>
          <a:p>
            <a:pPr indent="0" marL="0">
              <a:buNone/>
            </a:pPr>
            <a:r>
              <a:rPr lang="en-US" sz="1400" b="1" dirty="0">
                <a:solidFill>
                  <a:srgbClr val="C8A44D"/>
                </a:solidFill>
                <a:latin typeface="Calibri" pitchFamily="34" charset="0"/>
                <a:ea typeface="Calibri" pitchFamily="34" charset="-122"/>
                <a:cs typeface="Calibri" pitchFamily="34" charset="-120"/>
              </a:rPr>
              <a:t>quiet offices</a:t>
            </a:r>
            <a:endParaRPr lang="en-US" sz="1400" dirty="0"/>
          </a:p>
        </p:txBody>
      </p:sp>
      <p:sp>
        <p:nvSpPr>
          <p:cNvPr id="15" name="Text 13"/>
          <p:cNvSpPr txBox="1"/>
          <p:nvPr/>
        </p:nvSpPr>
        <p:spPr>
          <a:xfrm>
            <a:off x="8339328" y="3218688"/>
            <a:ext cx="2798064" cy="100584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They are in a van, on a site, or up a ladder. Assume noise, assume two minutes, and get to the point.</a:t>
            </a:r>
            <a:endParaRPr lang="en-US" sz="1250" dirty="0"/>
          </a:p>
        </p:txBody>
      </p:sp>
      <p:sp>
        <p:nvSpPr>
          <p:cNvPr id="16" name="Text 14"/>
          <p:cNvSpPr txBox="1"/>
          <p:nvPr/>
        </p:nvSpPr>
        <p:spPr>
          <a:xfrm>
            <a:off x="731520" y="4709160"/>
            <a:ext cx="10698480" cy="548640"/>
          </a:xfrm>
          <a:prstGeom prst="rect">
            <a:avLst/>
          </a:prstGeom>
          <a:noFill/>
          <a:ln/>
        </p:spPr>
        <p:txBody>
          <a:bodyPr wrap="square" rtlCol="0" anchor="ctr"/>
          <a:lstStyle/>
          <a:p>
            <a:pPr indent="0" marL="0">
              <a:buNone/>
            </a:pPr>
            <a:r>
              <a:rPr lang="en-US" sz="1800" i="1" dirty="0">
                <a:solidFill>
                  <a:srgbClr val="1E2761"/>
                </a:solidFill>
                <a:latin typeface="Cambria" pitchFamily="34" charset="0"/>
                <a:ea typeface="Cambria" pitchFamily="34" charset="-122"/>
                <a:cs typeface="Cambria" pitchFamily="34" charset="-120"/>
              </a:rPr>
              <a:t>One trade a day, all day. You get better at a script by saying it forty times, not by switching every call.</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The price, and the answer that sounds like a mistake</a:t>
            </a:r>
            <a:endParaRPr lang="en-US" sz="3600" dirty="0"/>
          </a:p>
        </p:txBody>
      </p:sp>
      <p:sp>
        <p:nvSpPr>
          <p:cNvPr id="3" name="Text 1"/>
          <p:cNvSpPr txBox="1"/>
          <p:nvPr/>
        </p:nvSpPr>
        <p:spPr>
          <a:xfrm>
            <a:off x="731520" y="1207008"/>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Four rungs. They differ in how many people they seat and in nothing else.</a:t>
            </a:r>
            <a:endParaRPr lang="en-US" sz="1500" dirty="0"/>
          </a:p>
        </p:txBody>
      </p:sp>
      <p:sp>
        <p:nvSpPr>
          <p:cNvPr id="4" name="Shape 2"/>
          <p:cNvSpPr/>
          <p:nvPr/>
        </p:nvSpPr>
        <p:spPr>
          <a:xfrm>
            <a:off x="731520" y="1874520"/>
            <a:ext cx="2514600" cy="1737360"/>
          </a:xfrm>
          <a:prstGeom prst="roundRect">
            <a:avLst>
              <a:gd name="adj" fmla="val 6316"/>
            </a:avLst>
          </a:prstGeom>
          <a:solidFill>
            <a:srgbClr val="F4F6FB"/>
          </a:solidFill>
          <a:ln/>
        </p:spPr>
      </p:sp>
      <p:sp>
        <p:nvSpPr>
          <p:cNvPr id="5" name="Text 3"/>
          <p:cNvSpPr txBox="1"/>
          <p:nvPr/>
        </p:nvSpPr>
        <p:spPr>
          <a:xfrm>
            <a:off x="960120" y="2011680"/>
            <a:ext cx="2057400" cy="365760"/>
          </a:xfrm>
          <a:prstGeom prst="rect">
            <a:avLst/>
          </a:prstGeom>
          <a:noFill/>
          <a:ln/>
        </p:spPr>
        <p:txBody>
          <a:bodyPr wrap="square" lIns="0" tIns="0" rIns="0" bIns="0" rtlCol="0" anchor="ctr"/>
          <a:lstStyle/>
          <a:p>
            <a:pPr indent="0" marL="0">
              <a:buNone/>
            </a:pPr>
            <a:r>
              <a:rPr lang="en-US" sz="1500" b="1" dirty="0">
                <a:solidFill>
                  <a:srgbClr val="C8A44D"/>
                </a:solidFill>
                <a:latin typeface="Calibri" pitchFamily="34" charset="0"/>
                <a:ea typeface="Calibri" pitchFamily="34" charset="-122"/>
                <a:cs typeface="Calibri" pitchFamily="34" charset="-120"/>
              </a:rPr>
              <a:t>Solo</a:t>
            </a:r>
            <a:endParaRPr lang="en-US" sz="1500" dirty="0"/>
          </a:p>
        </p:txBody>
      </p:sp>
      <p:sp>
        <p:nvSpPr>
          <p:cNvPr id="6" name="Text 4"/>
          <p:cNvSpPr txBox="1"/>
          <p:nvPr/>
        </p:nvSpPr>
        <p:spPr>
          <a:xfrm>
            <a:off x="960120" y="2377440"/>
            <a:ext cx="2057400" cy="640080"/>
          </a:xfrm>
          <a:prstGeom prst="rect">
            <a:avLst/>
          </a:prstGeom>
          <a:noFill/>
          <a:ln/>
        </p:spPr>
        <p:txBody>
          <a:bodyPr wrap="square" lIns="0" tIns="0" rIns="0" bIns="0" rtlCol="0" anchor="ctr"/>
          <a:lstStyle/>
          <a:p>
            <a:pPr indent="0" marL="0">
              <a:buNone/>
            </a:pPr>
            <a:r>
              <a:rPr lang="en-US" sz="3800" b="1" dirty="0">
                <a:solidFill>
                  <a:srgbClr val="1E2761"/>
                </a:solidFill>
                <a:latin typeface="Cambria" pitchFamily="34" charset="0"/>
                <a:ea typeface="Cambria" pitchFamily="34" charset="-122"/>
                <a:cs typeface="Cambria" pitchFamily="34" charset="-120"/>
              </a:rPr>
              <a:t>99</a:t>
            </a:r>
            <a:endParaRPr lang="en-US" sz="3800" dirty="0"/>
          </a:p>
        </p:txBody>
      </p:sp>
      <p:sp>
        <p:nvSpPr>
          <p:cNvPr id="7" name="Text 5"/>
          <p:cNvSpPr txBox="1"/>
          <p:nvPr/>
        </p:nvSpPr>
        <p:spPr>
          <a:xfrm>
            <a:off x="960120" y="3035808"/>
            <a:ext cx="2057400" cy="411480"/>
          </a:xfrm>
          <a:prstGeom prst="rect">
            <a:avLst/>
          </a:prstGeom>
          <a:noFill/>
          <a:ln/>
        </p:spPr>
        <p:txBody>
          <a:bodyPr wrap="square" lIns="0" tIns="0" rIns="0" bIns="0" rtlCol="0" anchor="ctr"/>
          <a:lstStyle/>
          <a:p>
            <a:pPr indent="0" marL="0">
              <a:buNone/>
            </a:pPr>
            <a:r>
              <a:rPr lang="en-US" sz="1200" dirty="0">
                <a:solidFill>
                  <a:srgbClr val="5A6070"/>
                </a:solidFill>
                <a:latin typeface="Calibri" pitchFamily="34" charset="0"/>
                <a:ea typeface="Calibri" pitchFamily="34" charset="-122"/>
                <a:cs typeface="Calibri" pitchFamily="34" charset="-120"/>
              </a:rPr>
              <a:t>1 + 5 free crew</a:t>
            </a:r>
            <a:endParaRPr lang="en-US" sz="1200" dirty="0"/>
          </a:p>
        </p:txBody>
      </p:sp>
      <p:sp>
        <p:nvSpPr>
          <p:cNvPr id="8" name="Shape 6"/>
          <p:cNvSpPr/>
          <p:nvPr/>
        </p:nvSpPr>
        <p:spPr>
          <a:xfrm>
            <a:off x="3456432" y="1874520"/>
            <a:ext cx="2514600" cy="1737360"/>
          </a:xfrm>
          <a:prstGeom prst="roundRect">
            <a:avLst>
              <a:gd name="adj" fmla="val 6316"/>
            </a:avLst>
          </a:prstGeom>
          <a:solidFill>
            <a:srgbClr val="F4F6FB"/>
          </a:solidFill>
          <a:ln/>
        </p:spPr>
      </p:sp>
      <p:sp>
        <p:nvSpPr>
          <p:cNvPr id="9" name="Text 7"/>
          <p:cNvSpPr txBox="1"/>
          <p:nvPr/>
        </p:nvSpPr>
        <p:spPr>
          <a:xfrm>
            <a:off x="3685032" y="2011680"/>
            <a:ext cx="2057400" cy="365760"/>
          </a:xfrm>
          <a:prstGeom prst="rect">
            <a:avLst/>
          </a:prstGeom>
          <a:noFill/>
          <a:ln/>
        </p:spPr>
        <p:txBody>
          <a:bodyPr wrap="square" lIns="0" tIns="0" rIns="0" bIns="0" rtlCol="0" anchor="ctr"/>
          <a:lstStyle/>
          <a:p>
            <a:pPr indent="0" marL="0">
              <a:buNone/>
            </a:pPr>
            <a:r>
              <a:rPr lang="en-US" sz="1500" b="1" dirty="0">
                <a:solidFill>
                  <a:srgbClr val="C8A44D"/>
                </a:solidFill>
                <a:latin typeface="Calibri" pitchFamily="34" charset="0"/>
                <a:ea typeface="Calibri" pitchFamily="34" charset="-122"/>
                <a:cs typeface="Calibri" pitchFamily="34" charset="-120"/>
              </a:rPr>
              <a:t>Crew</a:t>
            </a:r>
            <a:endParaRPr lang="en-US" sz="1500" dirty="0"/>
          </a:p>
        </p:txBody>
      </p:sp>
      <p:sp>
        <p:nvSpPr>
          <p:cNvPr id="10" name="Text 8"/>
          <p:cNvSpPr txBox="1"/>
          <p:nvPr/>
        </p:nvSpPr>
        <p:spPr>
          <a:xfrm>
            <a:off x="3685032" y="2377440"/>
            <a:ext cx="2057400" cy="640080"/>
          </a:xfrm>
          <a:prstGeom prst="rect">
            <a:avLst/>
          </a:prstGeom>
          <a:noFill/>
          <a:ln/>
        </p:spPr>
        <p:txBody>
          <a:bodyPr wrap="square" lIns="0" tIns="0" rIns="0" bIns="0" rtlCol="0" anchor="ctr"/>
          <a:lstStyle/>
          <a:p>
            <a:pPr indent="0" marL="0">
              <a:buNone/>
            </a:pPr>
            <a:r>
              <a:rPr lang="en-US" sz="3800" b="1" dirty="0">
                <a:solidFill>
                  <a:srgbClr val="1E2761"/>
                </a:solidFill>
                <a:latin typeface="Cambria" pitchFamily="34" charset="0"/>
                <a:ea typeface="Cambria" pitchFamily="34" charset="-122"/>
                <a:cs typeface="Cambria" pitchFamily="34" charset="-120"/>
              </a:rPr>
              <a:t>169</a:t>
            </a:r>
            <a:endParaRPr lang="en-US" sz="3800" dirty="0"/>
          </a:p>
        </p:txBody>
      </p:sp>
      <p:sp>
        <p:nvSpPr>
          <p:cNvPr id="11" name="Text 9"/>
          <p:cNvSpPr txBox="1"/>
          <p:nvPr/>
        </p:nvSpPr>
        <p:spPr>
          <a:xfrm>
            <a:off x="3685032" y="3035808"/>
            <a:ext cx="2057400" cy="411480"/>
          </a:xfrm>
          <a:prstGeom prst="rect">
            <a:avLst/>
          </a:prstGeom>
          <a:noFill/>
          <a:ln/>
        </p:spPr>
        <p:txBody>
          <a:bodyPr wrap="square" lIns="0" tIns="0" rIns="0" bIns="0" rtlCol="0" anchor="ctr"/>
          <a:lstStyle/>
          <a:p>
            <a:pPr indent="0" marL="0">
              <a:buNone/>
            </a:pPr>
            <a:r>
              <a:rPr lang="en-US" sz="1200" dirty="0">
                <a:solidFill>
                  <a:srgbClr val="5A6070"/>
                </a:solidFill>
                <a:latin typeface="Calibri" pitchFamily="34" charset="0"/>
                <a:ea typeface="Calibri" pitchFamily="34" charset="-122"/>
                <a:cs typeface="Calibri" pitchFamily="34" charset="-120"/>
              </a:rPr>
              <a:t>3 + 8 free crew</a:t>
            </a:r>
            <a:endParaRPr lang="en-US" sz="1200" dirty="0"/>
          </a:p>
        </p:txBody>
      </p:sp>
      <p:sp>
        <p:nvSpPr>
          <p:cNvPr id="12" name="Shape 10"/>
          <p:cNvSpPr/>
          <p:nvPr/>
        </p:nvSpPr>
        <p:spPr>
          <a:xfrm>
            <a:off x="6181344" y="1874520"/>
            <a:ext cx="2514600" cy="1737360"/>
          </a:xfrm>
          <a:prstGeom prst="roundRect">
            <a:avLst>
              <a:gd name="adj" fmla="val 6316"/>
            </a:avLst>
          </a:prstGeom>
          <a:solidFill>
            <a:srgbClr val="F4F6FB"/>
          </a:solidFill>
          <a:ln/>
        </p:spPr>
      </p:sp>
      <p:sp>
        <p:nvSpPr>
          <p:cNvPr id="13" name="Text 11"/>
          <p:cNvSpPr txBox="1"/>
          <p:nvPr/>
        </p:nvSpPr>
        <p:spPr>
          <a:xfrm>
            <a:off x="6409944" y="2011680"/>
            <a:ext cx="2057400" cy="365760"/>
          </a:xfrm>
          <a:prstGeom prst="rect">
            <a:avLst/>
          </a:prstGeom>
          <a:noFill/>
          <a:ln/>
        </p:spPr>
        <p:txBody>
          <a:bodyPr wrap="square" lIns="0" tIns="0" rIns="0" bIns="0" rtlCol="0" anchor="ctr"/>
          <a:lstStyle/>
          <a:p>
            <a:pPr indent="0" marL="0">
              <a:buNone/>
            </a:pPr>
            <a:r>
              <a:rPr lang="en-US" sz="1500" b="1" dirty="0">
                <a:solidFill>
                  <a:srgbClr val="C8A44D"/>
                </a:solidFill>
                <a:latin typeface="Calibri" pitchFamily="34" charset="0"/>
                <a:ea typeface="Calibri" pitchFamily="34" charset="-122"/>
                <a:cs typeface="Calibri" pitchFamily="34" charset="-120"/>
              </a:rPr>
              <a:t>Shop</a:t>
            </a:r>
            <a:endParaRPr lang="en-US" sz="1500" dirty="0"/>
          </a:p>
        </p:txBody>
      </p:sp>
      <p:sp>
        <p:nvSpPr>
          <p:cNvPr id="14" name="Text 12"/>
          <p:cNvSpPr txBox="1"/>
          <p:nvPr/>
        </p:nvSpPr>
        <p:spPr>
          <a:xfrm>
            <a:off x="6409944" y="2377440"/>
            <a:ext cx="2057400" cy="640080"/>
          </a:xfrm>
          <a:prstGeom prst="rect">
            <a:avLst/>
          </a:prstGeom>
          <a:noFill/>
          <a:ln/>
        </p:spPr>
        <p:txBody>
          <a:bodyPr wrap="square" lIns="0" tIns="0" rIns="0" bIns="0" rtlCol="0" anchor="ctr"/>
          <a:lstStyle/>
          <a:p>
            <a:pPr indent="0" marL="0">
              <a:buNone/>
            </a:pPr>
            <a:r>
              <a:rPr lang="en-US" sz="3800" b="1" dirty="0">
                <a:solidFill>
                  <a:srgbClr val="1E2761"/>
                </a:solidFill>
                <a:latin typeface="Cambria" pitchFamily="34" charset="0"/>
                <a:ea typeface="Cambria" pitchFamily="34" charset="-122"/>
                <a:cs typeface="Cambria" pitchFamily="34" charset="-120"/>
              </a:rPr>
              <a:t>269</a:t>
            </a:r>
            <a:endParaRPr lang="en-US" sz="3800" dirty="0"/>
          </a:p>
        </p:txBody>
      </p:sp>
      <p:sp>
        <p:nvSpPr>
          <p:cNvPr id="15" name="Text 13"/>
          <p:cNvSpPr txBox="1"/>
          <p:nvPr/>
        </p:nvSpPr>
        <p:spPr>
          <a:xfrm>
            <a:off x="6409944" y="3035808"/>
            <a:ext cx="2057400" cy="411480"/>
          </a:xfrm>
          <a:prstGeom prst="rect">
            <a:avLst/>
          </a:prstGeom>
          <a:noFill/>
          <a:ln/>
        </p:spPr>
        <p:txBody>
          <a:bodyPr wrap="square" lIns="0" tIns="0" rIns="0" bIns="0" rtlCol="0" anchor="ctr"/>
          <a:lstStyle/>
          <a:p>
            <a:pPr indent="0" marL="0">
              <a:buNone/>
            </a:pPr>
            <a:r>
              <a:rPr lang="en-US" sz="1200" dirty="0">
                <a:solidFill>
                  <a:srgbClr val="5A6070"/>
                </a:solidFill>
                <a:latin typeface="Calibri" pitchFamily="34" charset="0"/>
                <a:ea typeface="Calibri" pitchFamily="34" charset="-122"/>
                <a:cs typeface="Calibri" pitchFamily="34" charset="-120"/>
              </a:rPr>
              <a:t>6 + 11 free crew</a:t>
            </a:r>
            <a:endParaRPr lang="en-US" sz="1200" dirty="0"/>
          </a:p>
        </p:txBody>
      </p:sp>
      <p:sp>
        <p:nvSpPr>
          <p:cNvPr id="16" name="Shape 14"/>
          <p:cNvSpPr/>
          <p:nvPr/>
        </p:nvSpPr>
        <p:spPr>
          <a:xfrm>
            <a:off x="8906256" y="1874520"/>
            <a:ext cx="2514600" cy="1737360"/>
          </a:xfrm>
          <a:prstGeom prst="roundRect">
            <a:avLst>
              <a:gd name="adj" fmla="val 6316"/>
            </a:avLst>
          </a:prstGeom>
          <a:solidFill>
            <a:srgbClr val="F4F6FB"/>
          </a:solidFill>
          <a:ln/>
        </p:spPr>
      </p:sp>
      <p:sp>
        <p:nvSpPr>
          <p:cNvPr id="17" name="Text 15"/>
          <p:cNvSpPr txBox="1"/>
          <p:nvPr/>
        </p:nvSpPr>
        <p:spPr>
          <a:xfrm>
            <a:off x="9134856" y="2011680"/>
            <a:ext cx="2057400" cy="365760"/>
          </a:xfrm>
          <a:prstGeom prst="rect">
            <a:avLst/>
          </a:prstGeom>
          <a:noFill/>
          <a:ln/>
        </p:spPr>
        <p:txBody>
          <a:bodyPr wrap="square" lIns="0" tIns="0" rIns="0" bIns="0" rtlCol="0" anchor="ctr"/>
          <a:lstStyle/>
          <a:p>
            <a:pPr indent="0" marL="0">
              <a:buNone/>
            </a:pPr>
            <a:r>
              <a:rPr lang="en-US" sz="1500" b="1" dirty="0">
                <a:solidFill>
                  <a:srgbClr val="C8A44D"/>
                </a:solidFill>
                <a:latin typeface="Calibri" pitchFamily="34" charset="0"/>
                <a:ea typeface="Calibri" pitchFamily="34" charset="-122"/>
                <a:cs typeface="Calibri" pitchFamily="34" charset="-120"/>
              </a:rPr>
              <a:t>Scale</a:t>
            </a:r>
            <a:endParaRPr lang="en-US" sz="1500" dirty="0"/>
          </a:p>
        </p:txBody>
      </p:sp>
      <p:sp>
        <p:nvSpPr>
          <p:cNvPr id="18" name="Text 16"/>
          <p:cNvSpPr txBox="1"/>
          <p:nvPr/>
        </p:nvSpPr>
        <p:spPr>
          <a:xfrm>
            <a:off x="9134856" y="2377440"/>
            <a:ext cx="2057400" cy="640080"/>
          </a:xfrm>
          <a:prstGeom prst="rect">
            <a:avLst/>
          </a:prstGeom>
          <a:noFill/>
          <a:ln/>
        </p:spPr>
        <p:txBody>
          <a:bodyPr wrap="square" lIns="0" tIns="0" rIns="0" bIns="0" rtlCol="0" anchor="ctr"/>
          <a:lstStyle/>
          <a:p>
            <a:pPr indent="0" marL="0">
              <a:buNone/>
            </a:pPr>
            <a:r>
              <a:rPr lang="en-US" sz="3800" b="1" dirty="0">
                <a:solidFill>
                  <a:srgbClr val="1E2761"/>
                </a:solidFill>
                <a:latin typeface="Cambria" pitchFamily="34" charset="0"/>
                <a:ea typeface="Cambria" pitchFamily="34" charset="-122"/>
                <a:cs typeface="Cambria" pitchFamily="34" charset="-120"/>
              </a:rPr>
              <a:t>369</a:t>
            </a:r>
            <a:endParaRPr lang="en-US" sz="3800" dirty="0"/>
          </a:p>
        </p:txBody>
      </p:sp>
      <p:sp>
        <p:nvSpPr>
          <p:cNvPr id="19" name="Text 17"/>
          <p:cNvSpPr txBox="1"/>
          <p:nvPr/>
        </p:nvSpPr>
        <p:spPr>
          <a:xfrm>
            <a:off x="9134856" y="3035808"/>
            <a:ext cx="2057400" cy="411480"/>
          </a:xfrm>
          <a:prstGeom prst="rect">
            <a:avLst/>
          </a:prstGeom>
          <a:noFill/>
          <a:ln/>
        </p:spPr>
        <p:txBody>
          <a:bodyPr wrap="square" lIns="0" tIns="0" rIns="0" bIns="0" rtlCol="0" anchor="ctr"/>
          <a:lstStyle/>
          <a:p>
            <a:pPr indent="0" marL="0">
              <a:buNone/>
            </a:pPr>
            <a:r>
              <a:rPr lang="en-US" sz="1200" dirty="0">
                <a:solidFill>
                  <a:srgbClr val="5A6070"/>
                </a:solidFill>
                <a:latin typeface="Calibri" pitchFamily="34" charset="0"/>
                <a:ea typeface="Calibri" pitchFamily="34" charset="-122"/>
                <a:cs typeface="Calibri" pitchFamily="34" charset="-120"/>
              </a:rPr>
              <a:t>10 + 15 free crew</a:t>
            </a:r>
            <a:endParaRPr lang="en-US" sz="1200" dirty="0"/>
          </a:p>
        </p:txBody>
      </p:sp>
      <p:sp>
        <p:nvSpPr>
          <p:cNvPr id="20" name="Shape 18"/>
          <p:cNvSpPr/>
          <p:nvPr/>
        </p:nvSpPr>
        <p:spPr>
          <a:xfrm>
            <a:off x="731520" y="3886200"/>
            <a:ext cx="10698480" cy="713232"/>
          </a:xfrm>
          <a:prstGeom prst="rect">
            <a:avLst/>
          </a:prstGeom>
          <a:solidFill>
            <a:srgbClr val="F4F6FB"/>
          </a:solidFill>
          <a:ln/>
        </p:spPr>
      </p:sp>
      <p:sp>
        <p:nvSpPr>
          <p:cNvPr id="21" name="Text 19"/>
          <p:cNvSpPr txBox="1"/>
          <p:nvPr/>
        </p:nvSpPr>
        <p:spPr>
          <a:xfrm>
            <a:off x="960120" y="3941064"/>
            <a:ext cx="3200400" cy="60350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Every rung gets everything</a:t>
            </a:r>
            <a:endParaRPr lang="en-US" sz="1500" dirty="0"/>
          </a:p>
        </p:txBody>
      </p:sp>
      <p:sp>
        <p:nvSpPr>
          <p:cNvPr id="22" name="Text 20"/>
          <p:cNvSpPr txBox="1"/>
          <p:nvPr/>
        </p:nvSpPr>
        <p:spPr>
          <a:xfrm>
            <a:off x="4343400" y="3941064"/>
            <a:ext cx="6446520" cy="603504"/>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All 76 features are on every plan. The receptionist, the website, the AI quote review, the payouts. You are selling seats, not tiers.</a:t>
            </a:r>
            <a:endParaRPr lang="en-US" sz="1250" dirty="0"/>
          </a:p>
        </p:txBody>
      </p:sp>
      <p:sp>
        <p:nvSpPr>
          <p:cNvPr id="23" name="Shape 21"/>
          <p:cNvSpPr/>
          <p:nvPr/>
        </p:nvSpPr>
        <p:spPr>
          <a:xfrm>
            <a:off x="731520" y="4718304"/>
            <a:ext cx="10698480" cy="713232"/>
          </a:xfrm>
          <a:prstGeom prst="rect">
            <a:avLst/>
          </a:prstGeom>
          <a:solidFill>
            <a:srgbClr val="F4F6FB"/>
          </a:solidFill>
          <a:ln/>
        </p:spPr>
      </p:sp>
      <p:sp>
        <p:nvSpPr>
          <p:cNvPr id="24" name="Text 22"/>
          <p:cNvSpPr txBox="1"/>
          <p:nvPr/>
        </p:nvSpPr>
        <p:spPr>
          <a:xfrm>
            <a:off x="960120" y="4773168"/>
            <a:ext cx="3200400" cy="60350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Say the number with no currency</a:t>
            </a:r>
            <a:endParaRPr lang="en-US" sz="1500" dirty="0"/>
          </a:p>
        </p:txBody>
      </p:sp>
      <p:sp>
        <p:nvSpPr>
          <p:cNvPr id="25" name="Text 23"/>
          <p:cNvSpPr txBox="1"/>
          <p:nvPr/>
        </p:nvSpPr>
        <p:spPr>
          <a:xfrm>
            <a:off x="4343400" y="4773168"/>
            <a:ext cx="6446520" cy="603504"/>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A Canadian pays 99 in Canadian dollars, an American 99 in US dollars. Same number, not a conversion. The signup address decides.</a:t>
            </a:r>
            <a:endParaRPr lang="en-US" sz="1250" dirty="0"/>
          </a:p>
        </p:txBody>
      </p:sp>
      <p:sp>
        <p:nvSpPr>
          <p:cNvPr id="26" name="Shape 24"/>
          <p:cNvSpPr/>
          <p:nvPr/>
        </p:nvSpPr>
        <p:spPr>
          <a:xfrm>
            <a:off x="731520" y="5550408"/>
            <a:ext cx="10698480" cy="713232"/>
          </a:xfrm>
          <a:prstGeom prst="rect">
            <a:avLst/>
          </a:prstGeom>
          <a:solidFill>
            <a:srgbClr val="F4F6FB"/>
          </a:solidFill>
          <a:ln/>
        </p:spPr>
      </p:sp>
      <p:sp>
        <p:nvSpPr>
          <p:cNvPr id="27" name="Text 25"/>
          <p:cNvSpPr txBox="1"/>
          <p:nvPr/>
        </p:nvSpPr>
        <p:spPr>
          <a:xfrm>
            <a:off x="960120" y="5605272"/>
            <a:ext cx="3200400" cy="60350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Do not invent a difference</a:t>
            </a:r>
            <a:endParaRPr lang="en-US" sz="1500" dirty="0"/>
          </a:p>
        </p:txBody>
      </p:sp>
      <p:sp>
        <p:nvSpPr>
          <p:cNvPr id="28" name="Text 26"/>
          <p:cNvSpPr txBox="1"/>
          <p:nvPr/>
        </p:nvSpPr>
        <p:spPr>
          <a:xfrm>
            <a:off x="4343400" y="5605272"/>
            <a:ext cx="6446520" cy="603504"/>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A grid with a tick in every cell looks broken and the temptation is to make something up. There is no code anywhere that would make it true.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731520" y="502920"/>
            <a:ext cx="2286000" cy="457200"/>
          </a:xfrm>
          <a:prstGeom prst="roundRect">
            <a:avLst>
              <a:gd name="adj" fmla="val 20000"/>
            </a:avLst>
          </a:prstGeom>
          <a:solidFill>
            <a:srgbClr val="C8A44D"/>
          </a:solidFill>
          <a:ln/>
        </p:spPr>
      </p:sp>
      <p:sp>
        <p:nvSpPr>
          <p:cNvPr id="3" name="Text 1"/>
          <p:cNvSpPr txBox="1"/>
          <p:nvPr/>
        </p:nvSpPr>
        <p:spPr>
          <a:xfrm>
            <a:off x="731520" y="502920"/>
            <a:ext cx="2286000" cy="457200"/>
          </a:xfrm>
          <a:prstGeom prst="rect">
            <a:avLst/>
          </a:prstGeom>
          <a:noFill/>
          <a:ln/>
        </p:spPr>
        <p:txBody>
          <a:bodyPr wrap="square" lIns="0" tIns="0" rIns="0" bIns="0" rtlCol="0" anchor="ctr"/>
          <a:lstStyle/>
          <a:p>
            <a:pPr algn="ctr" indent="0" marL="0">
              <a:buNone/>
            </a:pPr>
            <a:r>
              <a:rPr lang="en-US" sz="1400" b="1" spc="200" kern="0" dirty="0">
                <a:solidFill>
                  <a:srgbClr val="1E2761"/>
                </a:solidFill>
                <a:latin typeface="Calibri" pitchFamily="34" charset="0"/>
                <a:ea typeface="Calibri" pitchFamily="34" charset="-122"/>
                <a:cs typeface="Calibri" pitchFamily="34" charset="-120"/>
              </a:rPr>
              <a:t>PRACTICE 1</a:t>
            </a:r>
            <a:endParaRPr lang="en-US" sz="1400" dirty="0"/>
          </a:p>
        </p:txBody>
      </p:sp>
      <p:sp>
        <p:nvSpPr>
          <p:cNvPr id="4" name="Text 2"/>
          <p:cNvSpPr txBox="1"/>
          <p:nvPr/>
        </p:nvSpPr>
        <p:spPr>
          <a:xfrm>
            <a:off x="3291840" y="502920"/>
            <a:ext cx="8138160" cy="457200"/>
          </a:xfrm>
          <a:prstGeom prst="rect">
            <a:avLst/>
          </a:prstGeom>
          <a:noFill/>
          <a:ln/>
        </p:spPr>
        <p:txBody>
          <a:bodyPr wrap="square" lIns="0" tIns="0" rIns="0" bIns="0"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Say it out loud. Nobody types.</a:t>
            </a:r>
            <a:endParaRPr lang="en-US" sz="1400" dirty="0"/>
          </a:p>
        </p:txBody>
      </p:sp>
      <p:sp>
        <p:nvSpPr>
          <p:cNvPr id="5" name="Text 3"/>
          <p:cNvSpPr txBox="1"/>
          <p:nvPr/>
        </p:nvSpPr>
        <p:spPr>
          <a:xfrm>
            <a:off x="731520" y="1371600"/>
            <a:ext cx="10698480" cy="146304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Forty seconds in, a painter says:</a:t>
            </a:r>
            <a:endParaRPr lang="en-US" sz="2800" dirty="0"/>
          </a:p>
          <a:p>
            <a:pPr indent="0" marL="0">
              <a:buNone/>
            </a:pPr>
            <a:r>
              <a:rPr lang="en-US" sz="2800" b="1" dirty="0">
                <a:solidFill>
                  <a:srgbClr val="FFFFFF"/>
                </a:solidFill>
                <a:latin typeface="Cambria" pitchFamily="34" charset="0"/>
                <a:ea typeface="Cambria" pitchFamily="34" charset="-122"/>
                <a:cs typeface="Cambria" pitchFamily="34" charset="-120"/>
              </a:rPr>
              <a:t>“We already use Jobber.”</a:t>
            </a:r>
            <a:endParaRPr lang="en-US" sz="2800" dirty="0"/>
          </a:p>
        </p:txBody>
      </p:sp>
      <p:sp>
        <p:nvSpPr>
          <p:cNvPr id="6" name="Shape 4"/>
          <p:cNvSpPr/>
          <p:nvPr/>
        </p:nvSpPr>
        <p:spPr>
          <a:xfrm>
            <a:off x="731520" y="3200400"/>
            <a:ext cx="10698480" cy="1371600"/>
          </a:xfrm>
          <a:prstGeom prst="roundRect">
            <a:avLst>
              <a:gd name="adj" fmla="val 9333"/>
            </a:avLst>
          </a:prstGeom>
          <a:solidFill>
            <a:srgbClr val="2A3A78"/>
          </a:solidFill>
          <a:ln/>
        </p:spPr>
      </p:sp>
      <p:sp>
        <p:nvSpPr>
          <p:cNvPr id="7" name="Text 5"/>
          <p:cNvSpPr txBox="1"/>
          <p:nvPr/>
        </p:nvSpPr>
        <p:spPr>
          <a:xfrm>
            <a:off x="1097280" y="3200400"/>
            <a:ext cx="9966960" cy="13716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What is your next sentence? Not your pitch — the one sentence that keeps you on the phone.</a:t>
            </a:r>
            <a:endParaRPr lang="en-US" sz="2000" dirty="0"/>
          </a:p>
        </p:txBody>
      </p:sp>
      <p:sp>
        <p:nvSpPr>
          <p:cNvPr id="8" name="Text 6"/>
          <p:cNvSpPr txBox="1"/>
          <p:nvPr/>
        </p:nvSpPr>
        <p:spPr>
          <a:xfrm>
            <a:off x="731520" y="4937760"/>
            <a:ext cx="10698480" cy="457200"/>
          </a:xfrm>
          <a:prstGeom prst="rect">
            <a:avLst/>
          </a:prstGeom>
          <a:noFill/>
          <a:ln/>
        </p:spPr>
        <p:txBody>
          <a:bodyPr wrap="square" rtlCol="0" anchor="ctr"/>
          <a:lstStyle/>
          <a:p>
            <a:pPr indent="0" marL="0">
              <a:buNone/>
            </a:pPr>
            <a:r>
              <a:rPr lang="en-US" sz="1400" i="1" dirty="0">
                <a:solidFill>
                  <a:srgbClr val="C8A44D"/>
                </a:solidFill>
                <a:latin typeface="Calibri" pitchFamily="34" charset="0"/>
                <a:ea typeface="Calibri" pitchFamily="34" charset="-122"/>
                <a:cs typeface="Calibri" pitchFamily="34" charset="-120"/>
              </a:rPr>
              <a:t>The answer is not on this slide. That is the point.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Twelve tabs, and only four of them are your morning</a:t>
            </a:r>
            <a:endParaRPr lang="en-US" sz="3600" dirty="0"/>
          </a:p>
        </p:txBody>
      </p:sp>
      <p:sp>
        <p:nvSpPr>
          <p:cNvPr id="3" name="Text 1"/>
          <p:cNvSpPr txBox="1"/>
          <p:nvPr/>
        </p:nvSpPr>
        <p:spPr>
          <a:xfrm>
            <a:off x="731520" y="1207008"/>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The rest you visit when something happens. Do not try to learn them all today.</a:t>
            </a:r>
            <a:endParaRPr lang="en-US" sz="1500" dirty="0"/>
          </a:p>
        </p:txBody>
      </p:sp>
      <p:sp>
        <p:nvSpPr>
          <p:cNvPr id="4" name="Shape 2"/>
          <p:cNvSpPr/>
          <p:nvPr/>
        </p:nvSpPr>
        <p:spPr>
          <a:xfrm>
            <a:off x="731520" y="1828800"/>
            <a:ext cx="2496312" cy="1371600"/>
          </a:xfrm>
          <a:prstGeom prst="roundRect">
            <a:avLst>
              <a:gd name="adj" fmla="val 6667"/>
            </a:avLst>
          </a:prstGeom>
          <a:solidFill>
            <a:srgbClr val="F4F6FB"/>
          </a:solidFill>
          <a:ln/>
        </p:spPr>
      </p:sp>
      <p:sp>
        <p:nvSpPr>
          <p:cNvPr id="5" name="Text 3"/>
          <p:cNvSpPr txBox="1"/>
          <p:nvPr/>
        </p:nvSpPr>
        <p:spPr>
          <a:xfrm>
            <a:off x="932688" y="1938528"/>
            <a:ext cx="2093976"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Today</a:t>
            </a:r>
            <a:endParaRPr lang="en-US" sz="1500" dirty="0"/>
          </a:p>
        </p:txBody>
      </p:sp>
      <p:sp>
        <p:nvSpPr>
          <p:cNvPr id="6" name="Text 4"/>
          <p:cNvSpPr txBox="1"/>
          <p:nvPr/>
        </p:nvSpPr>
        <p:spPr>
          <a:xfrm>
            <a:off x="932688" y="2231136"/>
            <a:ext cx="2093976" cy="237744"/>
          </a:xfrm>
          <a:prstGeom prst="rect">
            <a:avLst/>
          </a:prstGeom>
          <a:noFill/>
          <a:ln/>
        </p:spPr>
        <p:txBody>
          <a:bodyPr wrap="square" lIns="0" tIns="0" rIns="0" bIns="0" rtlCol="0" anchor="ctr"/>
          <a:lstStyle/>
          <a:p>
            <a:pPr indent="0" marL="0">
              <a:buNone/>
            </a:pPr>
            <a:r>
              <a:rPr lang="en-US" sz="950" b="1" spc="100" kern="0" dirty="0">
                <a:solidFill>
                  <a:srgbClr val="C8A44D"/>
                </a:solidFill>
                <a:latin typeface="Calibri" pitchFamily="34" charset="0"/>
                <a:ea typeface="Calibri" pitchFamily="34" charset="-122"/>
                <a:cs typeface="Calibri" pitchFamily="34" charset="-120"/>
              </a:rPr>
              <a:t>Daily</a:t>
            </a:r>
            <a:endParaRPr lang="en-US" sz="950" dirty="0"/>
          </a:p>
        </p:txBody>
      </p:sp>
      <p:sp>
        <p:nvSpPr>
          <p:cNvPr id="7" name="Text 5"/>
          <p:cNvSpPr txBox="1"/>
          <p:nvPr/>
        </p:nvSpPr>
        <p:spPr>
          <a:xfrm>
            <a:off x="932688" y="2487168"/>
            <a:ext cx="2093976" cy="621792"/>
          </a:xfrm>
          <a:prstGeom prst="rect">
            <a:avLst/>
          </a:prstGeom>
          <a:noFill/>
          <a:ln/>
        </p:spPr>
        <p:txBody>
          <a:bodyPr wrap="square" lIns="0" tIns="0" rIns="0" bIns="0" rtlCol="0" anchor="ctr"/>
          <a:lstStyle/>
          <a:p>
            <a:pPr indent="0" marL="0">
              <a:buNone/>
            </a:pPr>
            <a:r>
              <a:rPr lang="en-US" sz="1050" dirty="0">
                <a:solidFill>
                  <a:srgbClr val="5A6070"/>
                </a:solidFill>
                <a:latin typeface="Calibri" pitchFamily="34" charset="0"/>
                <a:ea typeface="Calibri" pitchFamily="34" charset="-122"/>
                <a:cs typeface="Calibri" pitchFamily="34" charset="-120"/>
              </a:rPr>
              <a:t>One sentence: what to do next. It refuses to guess when a count failed to load.</a:t>
            </a:r>
            <a:endParaRPr lang="en-US" sz="1050" dirty="0"/>
          </a:p>
        </p:txBody>
      </p:sp>
      <p:sp>
        <p:nvSpPr>
          <p:cNvPr id="8" name="Shape 6"/>
          <p:cNvSpPr/>
          <p:nvPr/>
        </p:nvSpPr>
        <p:spPr>
          <a:xfrm>
            <a:off x="3465576" y="1828800"/>
            <a:ext cx="2496312" cy="1371600"/>
          </a:xfrm>
          <a:prstGeom prst="roundRect">
            <a:avLst>
              <a:gd name="adj" fmla="val 6667"/>
            </a:avLst>
          </a:prstGeom>
          <a:solidFill>
            <a:srgbClr val="F4F6FB"/>
          </a:solidFill>
          <a:ln/>
        </p:spPr>
      </p:sp>
      <p:sp>
        <p:nvSpPr>
          <p:cNvPr id="9" name="Text 7"/>
          <p:cNvSpPr txBox="1"/>
          <p:nvPr/>
        </p:nvSpPr>
        <p:spPr>
          <a:xfrm>
            <a:off x="3666744" y="1938528"/>
            <a:ext cx="2093976"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Queue</a:t>
            </a:r>
            <a:endParaRPr lang="en-US" sz="1500" dirty="0"/>
          </a:p>
        </p:txBody>
      </p:sp>
      <p:sp>
        <p:nvSpPr>
          <p:cNvPr id="10" name="Text 8"/>
          <p:cNvSpPr txBox="1"/>
          <p:nvPr/>
        </p:nvSpPr>
        <p:spPr>
          <a:xfrm>
            <a:off x="3666744" y="2231136"/>
            <a:ext cx="2093976" cy="237744"/>
          </a:xfrm>
          <a:prstGeom prst="rect">
            <a:avLst/>
          </a:prstGeom>
          <a:noFill/>
          <a:ln/>
        </p:spPr>
        <p:txBody>
          <a:bodyPr wrap="square" lIns="0" tIns="0" rIns="0" bIns="0" rtlCol="0" anchor="ctr"/>
          <a:lstStyle/>
          <a:p>
            <a:pPr indent="0" marL="0">
              <a:buNone/>
            </a:pPr>
            <a:r>
              <a:rPr lang="en-US" sz="950" b="1" spc="100" kern="0" dirty="0">
                <a:solidFill>
                  <a:srgbClr val="C8A44D"/>
                </a:solidFill>
                <a:latin typeface="Calibri" pitchFamily="34" charset="0"/>
                <a:ea typeface="Calibri" pitchFamily="34" charset="-122"/>
                <a:cs typeface="Calibri" pitchFamily="34" charset="-120"/>
              </a:rPr>
              <a:t>Daily</a:t>
            </a:r>
            <a:endParaRPr lang="en-US" sz="950" dirty="0"/>
          </a:p>
        </p:txBody>
      </p:sp>
      <p:sp>
        <p:nvSpPr>
          <p:cNvPr id="11" name="Text 9"/>
          <p:cNvSpPr txBox="1"/>
          <p:nvPr/>
        </p:nvSpPr>
        <p:spPr>
          <a:xfrm>
            <a:off x="3666744" y="2487168"/>
            <a:ext cx="2093976" cy="621792"/>
          </a:xfrm>
          <a:prstGeom prst="rect">
            <a:avLst/>
          </a:prstGeom>
          <a:noFill/>
          <a:ln/>
        </p:spPr>
        <p:txBody>
          <a:bodyPr wrap="square" lIns="0" tIns="0" rIns="0" bIns="0" rtlCol="0" anchor="ctr"/>
          <a:lstStyle/>
          <a:p>
            <a:pPr indent="0" marL="0">
              <a:buNone/>
            </a:pPr>
            <a:r>
              <a:rPr lang="en-US" sz="1050" dirty="0">
                <a:solidFill>
                  <a:srgbClr val="5A6070"/>
                </a:solidFill>
                <a:latin typeface="Calibri" pitchFamily="34" charset="0"/>
                <a:ea typeface="Calibri" pitchFamily="34" charset="-122"/>
                <a:cs typeface="Calibri" pitchFamily="34" charset="-120"/>
              </a:rPr>
              <a:t>Claim a prospect, read the research, call, close the claim out.</a:t>
            </a:r>
            <a:endParaRPr lang="en-US" sz="1050" dirty="0"/>
          </a:p>
        </p:txBody>
      </p:sp>
      <p:sp>
        <p:nvSpPr>
          <p:cNvPr id="12" name="Shape 10"/>
          <p:cNvSpPr/>
          <p:nvPr/>
        </p:nvSpPr>
        <p:spPr>
          <a:xfrm>
            <a:off x="6199632" y="1828800"/>
            <a:ext cx="2496312" cy="1371600"/>
          </a:xfrm>
          <a:prstGeom prst="roundRect">
            <a:avLst>
              <a:gd name="adj" fmla="val 6667"/>
            </a:avLst>
          </a:prstGeom>
          <a:solidFill>
            <a:srgbClr val="F4F6FB"/>
          </a:solidFill>
          <a:ln/>
        </p:spPr>
      </p:sp>
      <p:sp>
        <p:nvSpPr>
          <p:cNvPr id="13" name="Text 11"/>
          <p:cNvSpPr txBox="1"/>
          <p:nvPr/>
        </p:nvSpPr>
        <p:spPr>
          <a:xfrm>
            <a:off x="6400800" y="1938528"/>
            <a:ext cx="2093976"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Leads</a:t>
            </a:r>
            <a:endParaRPr lang="en-US" sz="1500" dirty="0"/>
          </a:p>
        </p:txBody>
      </p:sp>
      <p:sp>
        <p:nvSpPr>
          <p:cNvPr id="14" name="Text 12"/>
          <p:cNvSpPr txBox="1"/>
          <p:nvPr/>
        </p:nvSpPr>
        <p:spPr>
          <a:xfrm>
            <a:off x="6400800" y="2231136"/>
            <a:ext cx="2093976" cy="237744"/>
          </a:xfrm>
          <a:prstGeom prst="rect">
            <a:avLst/>
          </a:prstGeom>
          <a:noFill/>
          <a:ln/>
        </p:spPr>
        <p:txBody>
          <a:bodyPr wrap="square" lIns="0" tIns="0" rIns="0" bIns="0" rtlCol="0" anchor="ctr"/>
          <a:lstStyle/>
          <a:p>
            <a:pPr indent="0" marL="0">
              <a:buNone/>
            </a:pPr>
            <a:r>
              <a:rPr lang="en-US" sz="950" b="1" spc="100" kern="0" dirty="0">
                <a:solidFill>
                  <a:srgbClr val="C8A44D"/>
                </a:solidFill>
                <a:latin typeface="Calibri" pitchFamily="34" charset="0"/>
                <a:ea typeface="Calibri" pitchFamily="34" charset="-122"/>
                <a:cs typeface="Calibri" pitchFamily="34" charset="-120"/>
              </a:rPr>
              <a:t>Daily</a:t>
            </a:r>
            <a:endParaRPr lang="en-US" sz="950" dirty="0"/>
          </a:p>
        </p:txBody>
      </p:sp>
      <p:sp>
        <p:nvSpPr>
          <p:cNvPr id="15" name="Text 13"/>
          <p:cNvSpPr txBox="1"/>
          <p:nvPr/>
        </p:nvSpPr>
        <p:spPr>
          <a:xfrm>
            <a:off x="6400800" y="2487168"/>
            <a:ext cx="2093976" cy="621792"/>
          </a:xfrm>
          <a:prstGeom prst="rect">
            <a:avLst/>
          </a:prstGeom>
          <a:noFill/>
          <a:ln/>
        </p:spPr>
        <p:txBody>
          <a:bodyPr wrap="square" lIns="0" tIns="0" rIns="0" bIns="0" rtlCol="0" anchor="ctr"/>
          <a:lstStyle/>
          <a:p>
            <a:pPr indent="0" marL="0">
              <a:buNone/>
            </a:pPr>
            <a:r>
              <a:rPr lang="en-US" sz="1050" dirty="0">
                <a:solidFill>
                  <a:srgbClr val="5A6070"/>
                </a:solidFill>
                <a:latin typeface="Calibri" pitchFamily="34" charset="0"/>
                <a:ea typeface="Calibri" pitchFamily="34" charset="-122"/>
                <a:cs typeface="Calibri" pitchFamily="34" charset="-120"/>
              </a:rPr>
              <a:t>The ones you typed in yourself. Email and the first text go from here.</a:t>
            </a:r>
            <a:endParaRPr lang="en-US" sz="1050" dirty="0"/>
          </a:p>
        </p:txBody>
      </p:sp>
      <p:sp>
        <p:nvSpPr>
          <p:cNvPr id="16" name="Shape 14"/>
          <p:cNvSpPr/>
          <p:nvPr/>
        </p:nvSpPr>
        <p:spPr>
          <a:xfrm>
            <a:off x="8933688" y="1828800"/>
            <a:ext cx="2496312" cy="1371600"/>
          </a:xfrm>
          <a:prstGeom prst="roundRect">
            <a:avLst>
              <a:gd name="adj" fmla="val 6667"/>
            </a:avLst>
          </a:prstGeom>
          <a:solidFill>
            <a:srgbClr val="F4F6FB"/>
          </a:solidFill>
          <a:ln/>
        </p:spPr>
      </p:sp>
      <p:sp>
        <p:nvSpPr>
          <p:cNvPr id="17" name="Text 15"/>
          <p:cNvSpPr txBox="1"/>
          <p:nvPr/>
        </p:nvSpPr>
        <p:spPr>
          <a:xfrm>
            <a:off x="9134856" y="1938528"/>
            <a:ext cx="2093976"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Conversations</a:t>
            </a:r>
            <a:endParaRPr lang="en-US" sz="1500" dirty="0"/>
          </a:p>
        </p:txBody>
      </p:sp>
      <p:sp>
        <p:nvSpPr>
          <p:cNvPr id="18" name="Text 16"/>
          <p:cNvSpPr txBox="1"/>
          <p:nvPr/>
        </p:nvSpPr>
        <p:spPr>
          <a:xfrm>
            <a:off x="9134856" y="2231136"/>
            <a:ext cx="2093976" cy="237744"/>
          </a:xfrm>
          <a:prstGeom prst="rect">
            <a:avLst/>
          </a:prstGeom>
          <a:noFill/>
          <a:ln/>
        </p:spPr>
        <p:txBody>
          <a:bodyPr wrap="square" lIns="0" tIns="0" rIns="0" bIns="0" rtlCol="0" anchor="ctr"/>
          <a:lstStyle/>
          <a:p>
            <a:pPr indent="0" marL="0">
              <a:buNone/>
            </a:pPr>
            <a:r>
              <a:rPr lang="en-US" sz="950" b="1" spc="100" kern="0" dirty="0">
                <a:solidFill>
                  <a:srgbClr val="C8A44D"/>
                </a:solidFill>
                <a:latin typeface="Calibri" pitchFamily="34" charset="0"/>
                <a:ea typeface="Calibri" pitchFamily="34" charset="-122"/>
                <a:cs typeface="Calibri" pitchFamily="34" charset="-120"/>
              </a:rPr>
              <a:t>Daily</a:t>
            </a:r>
            <a:endParaRPr lang="en-US" sz="950" dirty="0"/>
          </a:p>
        </p:txBody>
      </p:sp>
      <p:sp>
        <p:nvSpPr>
          <p:cNvPr id="19" name="Text 17"/>
          <p:cNvSpPr txBox="1"/>
          <p:nvPr/>
        </p:nvSpPr>
        <p:spPr>
          <a:xfrm>
            <a:off x="9134856" y="2487168"/>
            <a:ext cx="2093976" cy="621792"/>
          </a:xfrm>
          <a:prstGeom prst="rect">
            <a:avLst/>
          </a:prstGeom>
          <a:noFill/>
          <a:ln/>
        </p:spPr>
        <p:txBody>
          <a:bodyPr wrap="square" lIns="0" tIns="0" rIns="0" bIns="0" rtlCol="0" anchor="ctr"/>
          <a:lstStyle/>
          <a:p>
            <a:pPr indent="0" marL="0">
              <a:buNone/>
            </a:pPr>
            <a:r>
              <a:rPr lang="en-US" sz="1050" dirty="0">
                <a:solidFill>
                  <a:srgbClr val="5A6070"/>
                </a:solidFill>
                <a:latin typeface="Calibri" pitchFamily="34" charset="0"/>
                <a:ea typeface="Calibri" pitchFamily="34" charset="-122"/>
                <a:cs typeface="Calibri" pitchFamily="34" charset="-120"/>
              </a:rPr>
              <a:t>Email replies. Somebody is waiting on you.</a:t>
            </a:r>
            <a:endParaRPr lang="en-US" sz="1050" dirty="0"/>
          </a:p>
        </p:txBody>
      </p:sp>
      <p:sp>
        <p:nvSpPr>
          <p:cNvPr id="20" name="Shape 18"/>
          <p:cNvSpPr/>
          <p:nvPr/>
        </p:nvSpPr>
        <p:spPr>
          <a:xfrm>
            <a:off x="731520" y="3337560"/>
            <a:ext cx="2496312" cy="1371600"/>
          </a:xfrm>
          <a:prstGeom prst="roundRect">
            <a:avLst>
              <a:gd name="adj" fmla="val 6667"/>
            </a:avLst>
          </a:prstGeom>
          <a:solidFill>
            <a:srgbClr val="F4F6FB"/>
          </a:solidFill>
          <a:ln/>
        </p:spPr>
      </p:sp>
      <p:sp>
        <p:nvSpPr>
          <p:cNvPr id="21" name="Text 19"/>
          <p:cNvSpPr txBox="1"/>
          <p:nvPr/>
        </p:nvSpPr>
        <p:spPr>
          <a:xfrm>
            <a:off x="932688" y="3447288"/>
            <a:ext cx="2093976"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Texts</a:t>
            </a:r>
            <a:endParaRPr lang="en-US" sz="1500" dirty="0"/>
          </a:p>
        </p:txBody>
      </p:sp>
      <p:sp>
        <p:nvSpPr>
          <p:cNvPr id="22" name="Text 20"/>
          <p:cNvSpPr txBox="1"/>
          <p:nvPr/>
        </p:nvSpPr>
        <p:spPr>
          <a:xfrm>
            <a:off x="932688" y="3739896"/>
            <a:ext cx="2093976" cy="237744"/>
          </a:xfrm>
          <a:prstGeom prst="rect">
            <a:avLst/>
          </a:prstGeom>
          <a:noFill/>
          <a:ln/>
        </p:spPr>
        <p:txBody>
          <a:bodyPr wrap="square" lIns="0" tIns="0" rIns="0" bIns="0" rtlCol="0" anchor="ctr"/>
          <a:lstStyle/>
          <a:p>
            <a:pPr indent="0" marL="0">
              <a:buNone/>
            </a:pPr>
            <a:r>
              <a:rPr lang="en-US" sz="950" b="1" spc="100" kern="0" dirty="0">
                <a:solidFill>
                  <a:srgbClr val="C8A44D"/>
                </a:solidFill>
                <a:latin typeface="Calibri" pitchFamily="34" charset="0"/>
                <a:ea typeface="Calibri" pitchFamily="34" charset="-122"/>
                <a:cs typeface="Calibri" pitchFamily="34" charset="-120"/>
              </a:rPr>
              <a:t>When it buzzes</a:t>
            </a:r>
            <a:endParaRPr lang="en-US" sz="950" dirty="0"/>
          </a:p>
        </p:txBody>
      </p:sp>
      <p:sp>
        <p:nvSpPr>
          <p:cNvPr id="23" name="Text 21"/>
          <p:cNvSpPr txBox="1"/>
          <p:nvPr/>
        </p:nvSpPr>
        <p:spPr>
          <a:xfrm>
            <a:off x="932688" y="3995928"/>
            <a:ext cx="2093976" cy="621792"/>
          </a:xfrm>
          <a:prstGeom prst="rect">
            <a:avLst/>
          </a:prstGeom>
          <a:noFill/>
          <a:ln/>
        </p:spPr>
        <p:txBody>
          <a:bodyPr wrap="square" lIns="0" tIns="0" rIns="0" bIns="0" rtlCol="0" anchor="ctr"/>
          <a:lstStyle/>
          <a:p>
            <a:pPr indent="0" marL="0">
              <a:buNone/>
            </a:pPr>
            <a:r>
              <a:rPr lang="en-US" sz="1050" dirty="0">
                <a:solidFill>
                  <a:srgbClr val="5A6070"/>
                </a:solidFill>
                <a:latin typeface="Calibri" pitchFamily="34" charset="0"/>
                <a:ea typeface="Calibri" pitchFamily="34" charset="-122"/>
                <a:cs typeface="Calibri" pitchFamily="34" charset="-120"/>
              </a:rPr>
              <a:t>Two-way SMS threads.</a:t>
            </a:r>
            <a:endParaRPr lang="en-US" sz="1050" dirty="0"/>
          </a:p>
        </p:txBody>
      </p:sp>
      <p:sp>
        <p:nvSpPr>
          <p:cNvPr id="24" name="Shape 22"/>
          <p:cNvSpPr/>
          <p:nvPr/>
        </p:nvSpPr>
        <p:spPr>
          <a:xfrm>
            <a:off x="3465576" y="3337560"/>
            <a:ext cx="2496312" cy="1371600"/>
          </a:xfrm>
          <a:prstGeom prst="roundRect">
            <a:avLst>
              <a:gd name="adj" fmla="val 6667"/>
            </a:avLst>
          </a:prstGeom>
          <a:solidFill>
            <a:srgbClr val="F4F6FB"/>
          </a:solidFill>
          <a:ln/>
        </p:spPr>
      </p:sp>
      <p:sp>
        <p:nvSpPr>
          <p:cNvPr id="25" name="Text 23"/>
          <p:cNvSpPr txBox="1"/>
          <p:nvPr/>
        </p:nvSpPr>
        <p:spPr>
          <a:xfrm>
            <a:off x="3666744" y="3447288"/>
            <a:ext cx="2093976"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Voicemail</a:t>
            </a:r>
            <a:endParaRPr lang="en-US" sz="1500" dirty="0"/>
          </a:p>
        </p:txBody>
      </p:sp>
      <p:sp>
        <p:nvSpPr>
          <p:cNvPr id="26" name="Text 24"/>
          <p:cNvSpPr txBox="1"/>
          <p:nvPr/>
        </p:nvSpPr>
        <p:spPr>
          <a:xfrm>
            <a:off x="3666744" y="3739896"/>
            <a:ext cx="2093976" cy="237744"/>
          </a:xfrm>
          <a:prstGeom prst="rect">
            <a:avLst/>
          </a:prstGeom>
          <a:noFill/>
          <a:ln/>
        </p:spPr>
        <p:txBody>
          <a:bodyPr wrap="square" lIns="0" tIns="0" rIns="0" bIns="0" rtlCol="0" anchor="ctr"/>
          <a:lstStyle/>
          <a:p>
            <a:pPr indent="0" marL="0">
              <a:buNone/>
            </a:pPr>
            <a:r>
              <a:rPr lang="en-US" sz="950" b="1" spc="100" kern="0" dirty="0">
                <a:solidFill>
                  <a:srgbClr val="C8A44D"/>
                </a:solidFill>
                <a:latin typeface="Calibri" pitchFamily="34" charset="0"/>
                <a:ea typeface="Calibri" pitchFamily="34" charset="-122"/>
                <a:cs typeface="Calibri" pitchFamily="34" charset="-120"/>
              </a:rPr>
              <a:t>When it buzzes</a:t>
            </a:r>
            <a:endParaRPr lang="en-US" sz="950" dirty="0"/>
          </a:p>
        </p:txBody>
      </p:sp>
      <p:sp>
        <p:nvSpPr>
          <p:cNvPr id="27" name="Text 25"/>
          <p:cNvSpPr txBox="1"/>
          <p:nvPr/>
        </p:nvSpPr>
        <p:spPr>
          <a:xfrm>
            <a:off x="3666744" y="3995928"/>
            <a:ext cx="2093976" cy="621792"/>
          </a:xfrm>
          <a:prstGeom prst="rect">
            <a:avLst/>
          </a:prstGeom>
          <a:noFill/>
          <a:ln/>
        </p:spPr>
        <p:txBody>
          <a:bodyPr wrap="square" lIns="0" tIns="0" rIns="0" bIns="0" rtlCol="0" anchor="ctr"/>
          <a:lstStyle/>
          <a:p>
            <a:pPr indent="0" marL="0">
              <a:buNone/>
            </a:pPr>
            <a:r>
              <a:rPr lang="en-US" sz="1050" dirty="0">
                <a:solidFill>
                  <a:srgbClr val="5A6070"/>
                </a:solidFill>
                <a:latin typeface="Calibri" pitchFamily="34" charset="0"/>
                <a:ea typeface="Calibri" pitchFamily="34" charset="-122"/>
                <a:cs typeface="Calibri" pitchFamily="34" charset="-120"/>
              </a:rPr>
              <a:t>Messages left on your number.</a:t>
            </a:r>
            <a:endParaRPr lang="en-US" sz="1050" dirty="0"/>
          </a:p>
        </p:txBody>
      </p:sp>
      <p:sp>
        <p:nvSpPr>
          <p:cNvPr id="28" name="Shape 26"/>
          <p:cNvSpPr/>
          <p:nvPr/>
        </p:nvSpPr>
        <p:spPr>
          <a:xfrm>
            <a:off x="6199632" y="3337560"/>
            <a:ext cx="2496312" cy="1371600"/>
          </a:xfrm>
          <a:prstGeom prst="roundRect">
            <a:avLst>
              <a:gd name="adj" fmla="val 6667"/>
            </a:avLst>
          </a:prstGeom>
          <a:solidFill>
            <a:srgbClr val="F4F6FB"/>
          </a:solidFill>
          <a:ln/>
        </p:spPr>
      </p:sp>
      <p:sp>
        <p:nvSpPr>
          <p:cNvPr id="29" name="Text 27"/>
          <p:cNvSpPr txBox="1"/>
          <p:nvPr/>
        </p:nvSpPr>
        <p:spPr>
          <a:xfrm>
            <a:off x="6400800" y="3447288"/>
            <a:ext cx="2093976"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Calendar</a:t>
            </a:r>
            <a:endParaRPr lang="en-US" sz="1500" dirty="0"/>
          </a:p>
        </p:txBody>
      </p:sp>
      <p:sp>
        <p:nvSpPr>
          <p:cNvPr id="30" name="Text 28"/>
          <p:cNvSpPr txBox="1"/>
          <p:nvPr/>
        </p:nvSpPr>
        <p:spPr>
          <a:xfrm>
            <a:off x="6400800" y="3739896"/>
            <a:ext cx="2093976" cy="237744"/>
          </a:xfrm>
          <a:prstGeom prst="rect">
            <a:avLst/>
          </a:prstGeom>
          <a:noFill/>
          <a:ln/>
        </p:spPr>
        <p:txBody>
          <a:bodyPr wrap="square" lIns="0" tIns="0" rIns="0" bIns="0" rtlCol="0" anchor="ctr"/>
          <a:lstStyle/>
          <a:p>
            <a:pPr indent="0" marL="0">
              <a:buNone/>
            </a:pPr>
            <a:r>
              <a:rPr lang="en-US" sz="950" b="1" spc="100" kern="0" dirty="0">
                <a:solidFill>
                  <a:srgbClr val="C8A44D"/>
                </a:solidFill>
                <a:latin typeface="Calibri" pitchFamily="34" charset="0"/>
                <a:ea typeface="Calibri" pitchFamily="34" charset="-122"/>
                <a:cs typeface="Calibri" pitchFamily="34" charset="-120"/>
              </a:rPr>
              <a:t>When it buzzes</a:t>
            </a:r>
            <a:endParaRPr lang="en-US" sz="950" dirty="0"/>
          </a:p>
        </p:txBody>
      </p:sp>
      <p:sp>
        <p:nvSpPr>
          <p:cNvPr id="31" name="Text 29"/>
          <p:cNvSpPr txBox="1"/>
          <p:nvPr/>
        </p:nvSpPr>
        <p:spPr>
          <a:xfrm>
            <a:off x="6400800" y="3995928"/>
            <a:ext cx="2093976" cy="621792"/>
          </a:xfrm>
          <a:prstGeom prst="rect">
            <a:avLst/>
          </a:prstGeom>
          <a:noFill/>
          <a:ln/>
        </p:spPr>
        <p:txBody>
          <a:bodyPr wrap="square" lIns="0" tIns="0" rIns="0" bIns="0" rtlCol="0" anchor="ctr"/>
          <a:lstStyle/>
          <a:p>
            <a:pPr indent="0" marL="0">
              <a:buNone/>
            </a:pPr>
            <a:r>
              <a:rPr lang="en-US" sz="1050" dirty="0">
                <a:solidFill>
                  <a:srgbClr val="5A6070"/>
                </a:solidFill>
                <a:latin typeface="Calibri" pitchFamily="34" charset="0"/>
                <a:ea typeface="Calibri" pitchFamily="34" charset="-122"/>
                <a:cs typeface="Calibri" pitchFamily="34" charset="-120"/>
              </a:rPr>
              <a:t>Your appointments and callbacks.</a:t>
            </a:r>
            <a:endParaRPr lang="en-US" sz="1050" dirty="0"/>
          </a:p>
        </p:txBody>
      </p:sp>
      <p:sp>
        <p:nvSpPr>
          <p:cNvPr id="32" name="Shape 30"/>
          <p:cNvSpPr/>
          <p:nvPr/>
        </p:nvSpPr>
        <p:spPr>
          <a:xfrm>
            <a:off x="8933688" y="3337560"/>
            <a:ext cx="2496312" cy="1371600"/>
          </a:xfrm>
          <a:prstGeom prst="roundRect">
            <a:avLst>
              <a:gd name="adj" fmla="val 6667"/>
            </a:avLst>
          </a:prstGeom>
          <a:solidFill>
            <a:srgbClr val="F4F6FB"/>
          </a:solidFill>
          <a:ln/>
        </p:spPr>
      </p:sp>
      <p:sp>
        <p:nvSpPr>
          <p:cNvPr id="33" name="Text 31"/>
          <p:cNvSpPr txBox="1"/>
          <p:nvPr/>
        </p:nvSpPr>
        <p:spPr>
          <a:xfrm>
            <a:off x="9134856" y="3447288"/>
            <a:ext cx="2093976"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My companies</a:t>
            </a:r>
            <a:endParaRPr lang="en-US" sz="1500" dirty="0"/>
          </a:p>
        </p:txBody>
      </p:sp>
      <p:sp>
        <p:nvSpPr>
          <p:cNvPr id="34" name="Text 32"/>
          <p:cNvSpPr txBox="1"/>
          <p:nvPr/>
        </p:nvSpPr>
        <p:spPr>
          <a:xfrm>
            <a:off x="9134856" y="3739896"/>
            <a:ext cx="2093976" cy="237744"/>
          </a:xfrm>
          <a:prstGeom prst="rect">
            <a:avLst/>
          </a:prstGeom>
          <a:noFill/>
          <a:ln/>
        </p:spPr>
        <p:txBody>
          <a:bodyPr wrap="square" lIns="0" tIns="0" rIns="0" bIns="0" rtlCol="0" anchor="ctr"/>
          <a:lstStyle/>
          <a:p>
            <a:pPr indent="0" marL="0">
              <a:buNone/>
            </a:pPr>
            <a:r>
              <a:rPr lang="en-US" sz="950" b="1" spc="100" kern="0" dirty="0">
                <a:solidFill>
                  <a:srgbClr val="C8A44D"/>
                </a:solidFill>
                <a:latin typeface="Calibri" pitchFamily="34" charset="0"/>
                <a:ea typeface="Calibri" pitchFamily="34" charset="-122"/>
                <a:cs typeface="Calibri" pitchFamily="34" charset="-120"/>
              </a:rPr>
              <a:t>Weekly</a:t>
            </a:r>
            <a:endParaRPr lang="en-US" sz="950" dirty="0"/>
          </a:p>
        </p:txBody>
      </p:sp>
      <p:sp>
        <p:nvSpPr>
          <p:cNvPr id="35" name="Text 33"/>
          <p:cNvSpPr txBox="1"/>
          <p:nvPr/>
        </p:nvSpPr>
        <p:spPr>
          <a:xfrm>
            <a:off x="9134856" y="3995928"/>
            <a:ext cx="2093976" cy="621792"/>
          </a:xfrm>
          <a:prstGeom prst="rect">
            <a:avLst/>
          </a:prstGeom>
          <a:noFill/>
          <a:ln/>
        </p:spPr>
        <p:txBody>
          <a:bodyPr wrap="square" lIns="0" tIns="0" rIns="0" bIns="0" rtlCol="0" anchor="ctr"/>
          <a:lstStyle/>
          <a:p>
            <a:pPr indent="0" marL="0">
              <a:buNone/>
            </a:pPr>
            <a:r>
              <a:rPr lang="en-US" sz="1050" dirty="0">
                <a:solidFill>
                  <a:srgbClr val="5A6070"/>
                </a:solidFill>
                <a:latin typeface="Calibri" pitchFamily="34" charset="0"/>
                <a:ea typeface="Calibri" pitchFamily="34" charset="-122"/>
                <a:cs typeface="Calibri" pitchFamily="34" charset="-120"/>
              </a:rPr>
              <a:t>The contractors you signed up. Your retention book.</a:t>
            </a:r>
            <a:endParaRPr lang="en-US" sz="1050" dirty="0"/>
          </a:p>
        </p:txBody>
      </p:sp>
      <p:sp>
        <p:nvSpPr>
          <p:cNvPr id="36" name="Shape 34"/>
          <p:cNvSpPr/>
          <p:nvPr/>
        </p:nvSpPr>
        <p:spPr>
          <a:xfrm>
            <a:off x="731520" y="4846320"/>
            <a:ext cx="2496312" cy="1371600"/>
          </a:xfrm>
          <a:prstGeom prst="roundRect">
            <a:avLst>
              <a:gd name="adj" fmla="val 6667"/>
            </a:avLst>
          </a:prstGeom>
          <a:solidFill>
            <a:srgbClr val="F4F6FB"/>
          </a:solidFill>
          <a:ln/>
        </p:spPr>
      </p:sp>
      <p:sp>
        <p:nvSpPr>
          <p:cNvPr id="37" name="Text 35"/>
          <p:cNvSpPr txBox="1"/>
          <p:nvPr/>
        </p:nvSpPr>
        <p:spPr>
          <a:xfrm>
            <a:off x="932688" y="4956048"/>
            <a:ext cx="2093976"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Support</a:t>
            </a:r>
            <a:endParaRPr lang="en-US" sz="1500" dirty="0"/>
          </a:p>
        </p:txBody>
      </p:sp>
      <p:sp>
        <p:nvSpPr>
          <p:cNvPr id="38" name="Text 36"/>
          <p:cNvSpPr txBox="1"/>
          <p:nvPr/>
        </p:nvSpPr>
        <p:spPr>
          <a:xfrm>
            <a:off x="932688" y="5248656"/>
            <a:ext cx="2093976" cy="237744"/>
          </a:xfrm>
          <a:prstGeom prst="rect">
            <a:avLst/>
          </a:prstGeom>
          <a:noFill/>
          <a:ln/>
        </p:spPr>
        <p:txBody>
          <a:bodyPr wrap="square" lIns="0" tIns="0" rIns="0" bIns="0" rtlCol="0" anchor="ctr"/>
          <a:lstStyle/>
          <a:p>
            <a:pPr indent="0" marL="0">
              <a:buNone/>
            </a:pPr>
            <a:r>
              <a:rPr lang="en-US" sz="950" b="1" spc="100" kern="0" dirty="0">
                <a:solidFill>
                  <a:srgbClr val="C8A44D"/>
                </a:solidFill>
                <a:latin typeface="Calibri" pitchFamily="34" charset="0"/>
                <a:ea typeface="Calibri" pitchFamily="34" charset="-122"/>
                <a:cs typeface="Calibri" pitchFamily="34" charset="-120"/>
              </a:rPr>
              <a:t>When it breaks</a:t>
            </a:r>
            <a:endParaRPr lang="en-US" sz="950" dirty="0"/>
          </a:p>
        </p:txBody>
      </p:sp>
      <p:sp>
        <p:nvSpPr>
          <p:cNvPr id="39" name="Text 37"/>
          <p:cNvSpPr txBox="1"/>
          <p:nvPr/>
        </p:nvSpPr>
        <p:spPr>
          <a:xfrm>
            <a:off x="932688" y="5504688"/>
            <a:ext cx="2093976" cy="621792"/>
          </a:xfrm>
          <a:prstGeom prst="rect">
            <a:avLst/>
          </a:prstGeom>
          <a:noFill/>
          <a:ln/>
        </p:spPr>
        <p:txBody>
          <a:bodyPr wrap="square" lIns="0" tIns="0" rIns="0" bIns="0" rtlCol="0" anchor="ctr"/>
          <a:lstStyle/>
          <a:p>
            <a:pPr indent="0" marL="0">
              <a:buNone/>
            </a:pPr>
            <a:r>
              <a:rPr lang="en-US" sz="1050" dirty="0">
                <a:solidFill>
                  <a:srgbClr val="5A6070"/>
                </a:solidFill>
                <a:latin typeface="Calibri" pitchFamily="34" charset="0"/>
                <a:ea typeface="Calibri" pitchFamily="34" charset="-122"/>
                <a:cs typeface="Calibri" pitchFamily="34" charset="-120"/>
              </a:rPr>
              <a:t>Send a technical problem to FieldQuo.</a:t>
            </a:r>
            <a:endParaRPr lang="en-US" sz="1050" dirty="0"/>
          </a:p>
        </p:txBody>
      </p:sp>
      <p:sp>
        <p:nvSpPr>
          <p:cNvPr id="40" name="Shape 38"/>
          <p:cNvSpPr/>
          <p:nvPr/>
        </p:nvSpPr>
        <p:spPr>
          <a:xfrm>
            <a:off x="3465576" y="4846320"/>
            <a:ext cx="2496312" cy="1371600"/>
          </a:xfrm>
          <a:prstGeom prst="roundRect">
            <a:avLst>
              <a:gd name="adj" fmla="val 6667"/>
            </a:avLst>
          </a:prstGeom>
          <a:solidFill>
            <a:srgbClr val="F4F6FB"/>
          </a:solidFill>
          <a:ln/>
        </p:spPr>
      </p:sp>
      <p:sp>
        <p:nvSpPr>
          <p:cNvPr id="41" name="Text 39"/>
          <p:cNvSpPr txBox="1"/>
          <p:nvPr/>
        </p:nvSpPr>
        <p:spPr>
          <a:xfrm>
            <a:off x="3666744" y="4956048"/>
            <a:ext cx="2093976"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Notes</a:t>
            </a:r>
            <a:endParaRPr lang="en-US" sz="1500" dirty="0"/>
          </a:p>
        </p:txBody>
      </p:sp>
      <p:sp>
        <p:nvSpPr>
          <p:cNvPr id="42" name="Text 40"/>
          <p:cNvSpPr txBox="1"/>
          <p:nvPr/>
        </p:nvSpPr>
        <p:spPr>
          <a:xfrm>
            <a:off x="3666744" y="5248656"/>
            <a:ext cx="2093976" cy="237744"/>
          </a:xfrm>
          <a:prstGeom prst="rect">
            <a:avLst/>
          </a:prstGeom>
          <a:noFill/>
          <a:ln/>
        </p:spPr>
        <p:txBody>
          <a:bodyPr wrap="square" lIns="0" tIns="0" rIns="0" bIns="0" rtlCol="0" anchor="ctr"/>
          <a:lstStyle/>
          <a:p>
            <a:pPr indent="0" marL="0">
              <a:buNone/>
            </a:pPr>
            <a:r>
              <a:rPr lang="en-US" sz="950" b="1" spc="100" kern="0" dirty="0">
                <a:solidFill>
                  <a:srgbClr val="C8A44D"/>
                </a:solidFill>
                <a:latin typeface="Calibri" pitchFamily="34" charset="0"/>
                <a:ea typeface="Calibri" pitchFamily="34" charset="-122"/>
                <a:cs typeface="Calibri" pitchFamily="34" charset="-120"/>
              </a:rPr>
              <a:t>Whenever</a:t>
            </a:r>
            <a:endParaRPr lang="en-US" sz="950" dirty="0"/>
          </a:p>
        </p:txBody>
      </p:sp>
      <p:sp>
        <p:nvSpPr>
          <p:cNvPr id="43" name="Text 41"/>
          <p:cNvSpPr txBox="1"/>
          <p:nvPr/>
        </p:nvSpPr>
        <p:spPr>
          <a:xfrm>
            <a:off x="3666744" y="5504688"/>
            <a:ext cx="2093976" cy="621792"/>
          </a:xfrm>
          <a:prstGeom prst="rect">
            <a:avLst/>
          </a:prstGeom>
          <a:noFill/>
          <a:ln/>
        </p:spPr>
        <p:txBody>
          <a:bodyPr wrap="square" lIns="0" tIns="0" rIns="0" bIns="0" rtlCol="0" anchor="ctr"/>
          <a:lstStyle/>
          <a:p>
            <a:pPr indent="0" marL="0">
              <a:buNone/>
            </a:pPr>
            <a:r>
              <a:rPr lang="en-US" sz="1050" dirty="0">
                <a:solidFill>
                  <a:srgbClr val="5A6070"/>
                </a:solidFill>
                <a:latin typeface="Calibri" pitchFamily="34" charset="0"/>
                <a:ea typeface="Calibri" pitchFamily="34" charset="-122"/>
                <a:cs typeface="Calibri" pitchFamily="34" charset="-120"/>
              </a:rPr>
              <a:t>Autosaves. Archive only — nothing deletes.</a:t>
            </a:r>
            <a:endParaRPr lang="en-US" sz="1050" dirty="0"/>
          </a:p>
        </p:txBody>
      </p:sp>
      <p:sp>
        <p:nvSpPr>
          <p:cNvPr id="44" name="Shape 42"/>
          <p:cNvSpPr/>
          <p:nvPr/>
        </p:nvSpPr>
        <p:spPr>
          <a:xfrm>
            <a:off x="6199632" y="4846320"/>
            <a:ext cx="2496312" cy="1371600"/>
          </a:xfrm>
          <a:prstGeom prst="roundRect">
            <a:avLst>
              <a:gd name="adj" fmla="val 6667"/>
            </a:avLst>
          </a:prstGeom>
          <a:solidFill>
            <a:srgbClr val="F4F6FB"/>
          </a:solidFill>
          <a:ln/>
        </p:spPr>
      </p:sp>
      <p:sp>
        <p:nvSpPr>
          <p:cNvPr id="45" name="Text 43"/>
          <p:cNvSpPr txBox="1"/>
          <p:nvPr/>
        </p:nvSpPr>
        <p:spPr>
          <a:xfrm>
            <a:off x="6400800" y="4956048"/>
            <a:ext cx="2093976"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Demo</a:t>
            </a:r>
            <a:endParaRPr lang="en-US" sz="1500" dirty="0"/>
          </a:p>
        </p:txBody>
      </p:sp>
      <p:sp>
        <p:nvSpPr>
          <p:cNvPr id="46" name="Text 44"/>
          <p:cNvSpPr txBox="1"/>
          <p:nvPr/>
        </p:nvSpPr>
        <p:spPr>
          <a:xfrm>
            <a:off x="6400800" y="5248656"/>
            <a:ext cx="2093976" cy="237744"/>
          </a:xfrm>
          <a:prstGeom prst="rect">
            <a:avLst/>
          </a:prstGeom>
          <a:noFill/>
          <a:ln/>
        </p:spPr>
        <p:txBody>
          <a:bodyPr wrap="square" lIns="0" tIns="0" rIns="0" bIns="0" rtlCol="0" anchor="ctr"/>
          <a:lstStyle/>
          <a:p>
            <a:pPr indent="0" marL="0">
              <a:buNone/>
            </a:pPr>
            <a:r>
              <a:rPr lang="en-US" sz="950" b="1" spc="100" kern="0" dirty="0">
                <a:solidFill>
                  <a:srgbClr val="C8A44D"/>
                </a:solidFill>
                <a:latin typeface="Calibri" pitchFamily="34" charset="0"/>
                <a:ea typeface="Calibri" pitchFamily="34" charset="-122"/>
                <a:cs typeface="Calibri" pitchFamily="34" charset="-120"/>
              </a:rPr>
              <a:t>On a call</a:t>
            </a:r>
            <a:endParaRPr lang="en-US" sz="950" dirty="0"/>
          </a:p>
        </p:txBody>
      </p:sp>
      <p:sp>
        <p:nvSpPr>
          <p:cNvPr id="47" name="Text 45"/>
          <p:cNvSpPr txBox="1"/>
          <p:nvPr/>
        </p:nvSpPr>
        <p:spPr>
          <a:xfrm>
            <a:off x="6400800" y="5504688"/>
            <a:ext cx="2093976" cy="621792"/>
          </a:xfrm>
          <a:prstGeom prst="rect">
            <a:avLst/>
          </a:prstGeom>
          <a:noFill/>
          <a:ln/>
        </p:spPr>
        <p:txBody>
          <a:bodyPr wrap="square" lIns="0" tIns="0" rIns="0" bIns="0" rtlCol="0" anchor="ctr"/>
          <a:lstStyle/>
          <a:p>
            <a:pPr indent="0" marL="0">
              <a:buNone/>
            </a:pPr>
            <a:r>
              <a:rPr lang="en-US" sz="1050" dirty="0">
                <a:solidFill>
                  <a:srgbClr val="5A6070"/>
                </a:solidFill>
                <a:latin typeface="Calibri" pitchFamily="34" charset="0"/>
                <a:ea typeface="Calibri" pitchFamily="34" charset="-122"/>
                <a:cs typeface="Calibri" pitchFamily="34" charset="-120"/>
              </a:rPr>
              <a:t>The account you drive in front of a prospect.</a:t>
            </a:r>
            <a:endParaRPr lang="en-US" sz="1050" dirty="0"/>
          </a:p>
        </p:txBody>
      </p:sp>
      <p:sp>
        <p:nvSpPr>
          <p:cNvPr id="48" name="Shape 46"/>
          <p:cNvSpPr/>
          <p:nvPr/>
        </p:nvSpPr>
        <p:spPr>
          <a:xfrm>
            <a:off x="8933688" y="4846320"/>
            <a:ext cx="2496312" cy="1371600"/>
          </a:xfrm>
          <a:prstGeom prst="roundRect">
            <a:avLst>
              <a:gd name="adj" fmla="val 6667"/>
            </a:avLst>
          </a:prstGeom>
          <a:solidFill>
            <a:srgbClr val="F4F6FB"/>
          </a:solidFill>
          <a:ln/>
        </p:spPr>
      </p:sp>
      <p:sp>
        <p:nvSpPr>
          <p:cNvPr id="49" name="Text 47"/>
          <p:cNvSpPr txBox="1"/>
          <p:nvPr/>
        </p:nvSpPr>
        <p:spPr>
          <a:xfrm>
            <a:off x="9134856" y="4956048"/>
            <a:ext cx="2093976"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Pay</a:t>
            </a:r>
            <a:endParaRPr lang="en-US" sz="1500" dirty="0"/>
          </a:p>
        </p:txBody>
      </p:sp>
      <p:sp>
        <p:nvSpPr>
          <p:cNvPr id="50" name="Text 48"/>
          <p:cNvSpPr txBox="1"/>
          <p:nvPr/>
        </p:nvSpPr>
        <p:spPr>
          <a:xfrm>
            <a:off x="9134856" y="5248656"/>
            <a:ext cx="2093976" cy="237744"/>
          </a:xfrm>
          <a:prstGeom prst="rect">
            <a:avLst/>
          </a:prstGeom>
          <a:noFill/>
          <a:ln/>
        </p:spPr>
        <p:txBody>
          <a:bodyPr wrap="square" lIns="0" tIns="0" rIns="0" bIns="0" rtlCol="0" anchor="ctr"/>
          <a:lstStyle/>
          <a:p>
            <a:pPr indent="0" marL="0">
              <a:buNone/>
            </a:pPr>
            <a:r>
              <a:rPr lang="en-US" sz="950" b="1" spc="100" kern="0" dirty="0">
                <a:solidFill>
                  <a:srgbClr val="C8A44D"/>
                </a:solidFill>
                <a:latin typeface="Calibri" pitchFamily="34" charset="0"/>
                <a:ea typeface="Calibri" pitchFamily="34" charset="-122"/>
                <a:cs typeface="Calibri" pitchFamily="34" charset="-120"/>
              </a:rPr>
              <a:t>Day one, then never</a:t>
            </a:r>
            <a:endParaRPr lang="en-US" sz="950" dirty="0"/>
          </a:p>
        </p:txBody>
      </p:sp>
      <p:sp>
        <p:nvSpPr>
          <p:cNvPr id="51" name="Text 49"/>
          <p:cNvSpPr txBox="1"/>
          <p:nvPr/>
        </p:nvSpPr>
        <p:spPr>
          <a:xfrm>
            <a:off x="9134856" y="5504688"/>
            <a:ext cx="2093976" cy="621792"/>
          </a:xfrm>
          <a:prstGeom prst="rect">
            <a:avLst/>
          </a:prstGeom>
          <a:noFill/>
          <a:ln/>
        </p:spPr>
        <p:txBody>
          <a:bodyPr wrap="square" lIns="0" tIns="0" rIns="0" bIns="0" rtlCol="0" anchor="ctr"/>
          <a:lstStyle/>
          <a:p>
            <a:pPr indent="0" marL="0">
              <a:buNone/>
            </a:pPr>
            <a:r>
              <a:rPr lang="en-US" sz="1050" dirty="0">
                <a:solidFill>
                  <a:srgbClr val="5A6070"/>
                </a:solidFill>
                <a:latin typeface="Calibri" pitchFamily="34" charset="0"/>
                <a:ea typeface="Calibri" pitchFamily="34" charset="-122"/>
                <a:cs typeface="Calibri" pitchFamily="34" charset="-120"/>
              </a:rPr>
              <a:t>How you want the money.</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Start on Today. It answers one question.</a:t>
            </a:r>
            <a:endParaRPr lang="en-US" sz="3600" dirty="0"/>
          </a:p>
        </p:txBody>
      </p:sp>
      <p:sp>
        <p:nvSpPr>
          <p:cNvPr id="3" name="Text 1"/>
          <p:cNvSpPr txBox="1"/>
          <p:nvPr/>
        </p:nvSpPr>
        <p:spPr>
          <a:xfrm>
            <a:off x="731520" y="1207008"/>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“What do I do next?” — computed, in this order, and refused when it cannot be computed.</a:t>
            </a:r>
            <a:endParaRPr lang="en-US" sz="1500" dirty="0"/>
          </a:p>
        </p:txBody>
      </p:sp>
      <p:sp>
        <p:nvSpPr>
          <p:cNvPr id="4" name="Shape 2"/>
          <p:cNvSpPr/>
          <p:nvPr/>
        </p:nvSpPr>
        <p:spPr>
          <a:xfrm>
            <a:off x="731520" y="2276856"/>
            <a:ext cx="402336" cy="402336"/>
          </a:xfrm>
          <a:prstGeom prst="ellipse">
            <a:avLst/>
          </a:prstGeom>
          <a:solidFill>
            <a:srgbClr val="1E2761"/>
          </a:solidFill>
          <a:ln/>
        </p:spPr>
      </p:sp>
      <p:sp>
        <p:nvSpPr>
          <p:cNvPr id="5" name="Text 3"/>
          <p:cNvSpPr txBox="1"/>
          <p:nvPr/>
        </p:nvSpPr>
        <p:spPr>
          <a:xfrm>
            <a:off x="731520" y="227685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89888" y="2167128"/>
            <a:ext cx="3291840" cy="640080"/>
          </a:xfrm>
          <a:prstGeom prst="rect">
            <a:avLst/>
          </a:prstGeom>
          <a:noFill/>
          <a:ln/>
        </p:spPr>
        <p:txBody>
          <a:bodyPr wrap="square" lIns="0" tIns="0" rIns="0" bIns="0" rtlCol="0" anchor="ctr"/>
          <a:lstStyle/>
          <a:p>
            <a:pPr indent="0" marL="0">
              <a:buNone/>
            </a:pPr>
            <a:r>
              <a:rPr lang="en-US" sz="1700" b="1" dirty="0">
                <a:solidFill>
                  <a:srgbClr val="1B1B1F"/>
                </a:solidFill>
                <a:latin typeface="Calibri" pitchFamily="34" charset="0"/>
                <a:ea typeface="Calibri" pitchFamily="34" charset="-122"/>
                <a:cs typeface="Calibri" pitchFamily="34" charset="-120"/>
              </a:rPr>
              <a:t>Somebody wrote back</a:t>
            </a:r>
            <a:endParaRPr lang="en-US" sz="1700" dirty="0"/>
          </a:p>
        </p:txBody>
      </p:sp>
      <p:sp>
        <p:nvSpPr>
          <p:cNvPr id="7" name="Text 5"/>
          <p:cNvSpPr txBox="1"/>
          <p:nvPr/>
        </p:nvSpPr>
        <p:spPr>
          <a:xfrm>
            <a:off x="4800600" y="2167128"/>
            <a:ext cx="6446520" cy="640080"/>
          </a:xfrm>
          <a:prstGeom prst="rect">
            <a:avLst/>
          </a:prstGeom>
          <a:noFill/>
          <a:ln/>
        </p:spPr>
        <p:txBody>
          <a:bodyPr wrap="square" lIns="0" tIns="0" rIns="0" bIns="0" rtlCol="0" anchor="ctr"/>
          <a:lstStyle/>
          <a:p>
            <a:pPr indent="0" marL="0">
              <a:buNone/>
            </a:pPr>
            <a:r>
              <a:rPr lang="en-US" sz="1300" dirty="0">
                <a:solidFill>
                  <a:srgbClr val="5A6070"/>
                </a:solidFill>
                <a:latin typeface="Calibri" pitchFamily="34" charset="0"/>
                <a:ea typeface="Calibri" pitchFamily="34" charset="-122"/>
                <a:cs typeface="Calibri" pitchFamily="34" charset="-120"/>
              </a:rPr>
              <a:t>Replies waiting on you. A person is holding while you decide what to do with your morning.</a:t>
            </a:r>
            <a:endParaRPr lang="en-US" sz="1300" dirty="0"/>
          </a:p>
        </p:txBody>
      </p:sp>
      <p:sp>
        <p:nvSpPr>
          <p:cNvPr id="8" name="Shape 6"/>
          <p:cNvSpPr/>
          <p:nvPr/>
        </p:nvSpPr>
        <p:spPr>
          <a:xfrm>
            <a:off x="731520" y="3026664"/>
            <a:ext cx="402336" cy="402336"/>
          </a:xfrm>
          <a:prstGeom prst="ellipse">
            <a:avLst/>
          </a:prstGeom>
          <a:solidFill>
            <a:srgbClr val="1E2761"/>
          </a:solidFill>
          <a:ln/>
        </p:spPr>
      </p:sp>
      <p:sp>
        <p:nvSpPr>
          <p:cNvPr id="9" name="Text 7"/>
          <p:cNvSpPr txBox="1"/>
          <p:nvPr/>
        </p:nvSpPr>
        <p:spPr>
          <a:xfrm>
            <a:off x="731520" y="302666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1389888" y="2916936"/>
            <a:ext cx="3291840" cy="640080"/>
          </a:xfrm>
          <a:prstGeom prst="rect">
            <a:avLst/>
          </a:prstGeom>
          <a:noFill/>
          <a:ln/>
        </p:spPr>
        <p:txBody>
          <a:bodyPr wrap="square" lIns="0" tIns="0" rIns="0" bIns="0" rtlCol="0" anchor="ctr"/>
          <a:lstStyle/>
          <a:p>
            <a:pPr indent="0" marL="0">
              <a:buNone/>
            </a:pPr>
            <a:r>
              <a:rPr lang="en-US" sz="1700" b="1" dirty="0">
                <a:solidFill>
                  <a:srgbClr val="1B1B1F"/>
                </a:solidFill>
                <a:latin typeface="Calibri" pitchFamily="34" charset="0"/>
                <a:ea typeface="Calibri" pitchFamily="34" charset="-122"/>
                <a:cs typeface="Calibri" pitchFamily="34" charset="-120"/>
              </a:rPr>
              <a:t>Ring the ones you hold</a:t>
            </a:r>
            <a:endParaRPr lang="en-US" sz="1700" dirty="0"/>
          </a:p>
        </p:txBody>
      </p:sp>
      <p:sp>
        <p:nvSpPr>
          <p:cNvPr id="11" name="Text 9"/>
          <p:cNvSpPr txBox="1"/>
          <p:nvPr/>
        </p:nvSpPr>
        <p:spPr>
          <a:xfrm>
            <a:off x="4800600" y="2916936"/>
            <a:ext cx="6446520" cy="640080"/>
          </a:xfrm>
          <a:prstGeom prst="rect">
            <a:avLst/>
          </a:prstGeom>
          <a:noFill/>
          <a:ln/>
        </p:spPr>
        <p:txBody>
          <a:bodyPr wrap="square" lIns="0" tIns="0" rIns="0" bIns="0" rtlCol="0" anchor="ctr"/>
          <a:lstStyle/>
          <a:p>
            <a:pPr indent="0" marL="0">
              <a:buNone/>
            </a:pPr>
            <a:r>
              <a:rPr lang="en-US" sz="1300" dirty="0">
                <a:solidFill>
                  <a:srgbClr val="5A6070"/>
                </a:solidFill>
                <a:latin typeface="Calibri" pitchFamily="34" charset="0"/>
                <a:ea typeface="Calibri" pitchFamily="34" charset="-122"/>
                <a:cs typeface="Calibri" pitchFamily="34" charset="-120"/>
              </a:rPr>
              <a:t>Prospects you claimed and have not spoken to. A claim is a lease on everybody else's ability to call them.</a:t>
            </a:r>
            <a:endParaRPr lang="en-US" sz="1300" dirty="0"/>
          </a:p>
        </p:txBody>
      </p:sp>
      <p:sp>
        <p:nvSpPr>
          <p:cNvPr id="12" name="Shape 10"/>
          <p:cNvSpPr/>
          <p:nvPr/>
        </p:nvSpPr>
        <p:spPr>
          <a:xfrm>
            <a:off x="731520" y="3776472"/>
            <a:ext cx="402336" cy="402336"/>
          </a:xfrm>
          <a:prstGeom prst="ellipse">
            <a:avLst/>
          </a:prstGeom>
          <a:solidFill>
            <a:srgbClr val="1E2761"/>
          </a:solidFill>
          <a:ln/>
        </p:spPr>
      </p:sp>
      <p:sp>
        <p:nvSpPr>
          <p:cNvPr id="13" name="Text 11"/>
          <p:cNvSpPr txBox="1"/>
          <p:nvPr/>
        </p:nvSpPr>
        <p:spPr>
          <a:xfrm>
            <a:off x="731520" y="377647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1389888" y="3666744"/>
            <a:ext cx="3291840" cy="640080"/>
          </a:xfrm>
          <a:prstGeom prst="rect">
            <a:avLst/>
          </a:prstGeom>
          <a:noFill/>
          <a:ln/>
        </p:spPr>
        <p:txBody>
          <a:bodyPr wrap="square" lIns="0" tIns="0" rIns="0" bIns="0" rtlCol="0" anchor="ctr"/>
          <a:lstStyle/>
          <a:p>
            <a:pPr indent="0" marL="0">
              <a:buNone/>
            </a:pPr>
            <a:r>
              <a:rPr lang="en-US" sz="1700" b="1" dirty="0">
                <a:solidFill>
                  <a:srgbClr val="1B1B1F"/>
                </a:solidFill>
                <a:latin typeface="Calibri" pitchFamily="34" charset="0"/>
                <a:ea typeface="Calibri" pitchFamily="34" charset="-122"/>
                <a:cs typeface="Calibri" pitchFamily="34" charset="-120"/>
              </a:rPr>
              <a:t>Claim a new one</a:t>
            </a:r>
            <a:endParaRPr lang="en-US" sz="1700" dirty="0"/>
          </a:p>
        </p:txBody>
      </p:sp>
      <p:sp>
        <p:nvSpPr>
          <p:cNvPr id="15" name="Text 13"/>
          <p:cNvSpPr txBox="1"/>
          <p:nvPr/>
        </p:nvSpPr>
        <p:spPr>
          <a:xfrm>
            <a:off x="4800600" y="3666744"/>
            <a:ext cx="6446520" cy="640080"/>
          </a:xfrm>
          <a:prstGeom prst="rect">
            <a:avLst/>
          </a:prstGeom>
          <a:noFill/>
          <a:ln/>
        </p:spPr>
        <p:txBody>
          <a:bodyPr wrap="square" lIns="0" tIns="0" rIns="0" bIns="0" rtlCol="0" anchor="ctr"/>
          <a:lstStyle/>
          <a:p>
            <a:pPr indent="0" marL="0">
              <a:buNone/>
            </a:pPr>
            <a:r>
              <a:rPr lang="en-US" sz="1300" dirty="0">
                <a:solidFill>
                  <a:srgbClr val="5A6070"/>
                </a:solidFill>
                <a:latin typeface="Calibri" pitchFamily="34" charset="0"/>
                <a:ea typeface="Calibri" pitchFamily="34" charset="-122"/>
                <a:cs typeface="Calibri" pitchFamily="34" charset="-120"/>
              </a:rPr>
              <a:t>The pool has stock and you are holding nothing.</a:t>
            </a:r>
            <a:endParaRPr lang="en-US" sz="1300" dirty="0"/>
          </a:p>
        </p:txBody>
      </p:sp>
      <p:sp>
        <p:nvSpPr>
          <p:cNvPr id="16" name="Shape 14"/>
          <p:cNvSpPr/>
          <p:nvPr/>
        </p:nvSpPr>
        <p:spPr>
          <a:xfrm>
            <a:off x="731520" y="4526280"/>
            <a:ext cx="402336" cy="402336"/>
          </a:xfrm>
          <a:prstGeom prst="ellipse">
            <a:avLst/>
          </a:prstGeom>
          <a:solidFill>
            <a:srgbClr val="1E2761"/>
          </a:solidFill>
          <a:ln/>
        </p:spPr>
      </p:sp>
      <p:sp>
        <p:nvSpPr>
          <p:cNvPr id="17" name="Text 15"/>
          <p:cNvSpPr txBox="1"/>
          <p:nvPr/>
        </p:nvSpPr>
        <p:spPr>
          <a:xfrm>
            <a:off x="731520" y="45262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1389888" y="4416552"/>
            <a:ext cx="3291840" cy="640080"/>
          </a:xfrm>
          <a:prstGeom prst="rect">
            <a:avLst/>
          </a:prstGeom>
          <a:noFill/>
          <a:ln/>
        </p:spPr>
        <p:txBody>
          <a:bodyPr wrap="square" lIns="0" tIns="0" rIns="0" bIns="0" rtlCol="0" anchor="ctr"/>
          <a:lstStyle/>
          <a:p>
            <a:pPr indent="0" marL="0">
              <a:buNone/>
            </a:pPr>
            <a:r>
              <a:rPr lang="en-US" sz="1700" b="1" dirty="0">
                <a:solidFill>
                  <a:srgbClr val="1B1B1F"/>
                </a:solidFill>
                <a:latin typeface="Calibri" pitchFamily="34" charset="0"/>
                <a:ea typeface="Calibri" pitchFamily="34" charset="-122"/>
                <a:cs typeface="Calibri" pitchFamily="34" charset="-120"/>
              </a:rPr>
              <a:t>Write to a lead</a:t>
            </a:r>
            <a:endParaRPr lang="en-US" sz="1700" dirty="0"/>
          </a:p>
        </p:txBody>
      </p:sp>
      <p:sp>
        <p:nvSpPr>
          <p:cNvPr id="19" name="Text 17"/>
          <p:cNvSpPr txBox="1"/>
          <p:nvPr/>
        </p:nvSpPr>
        <p:spPr>
          <a:xfrm>
            <a:off x="4800600" y="4416552"/>
            <a:ext cx="6446520" cy="640080"/>
          </a:xfrm>
          <a:prstGeom prst="rect">
            <a:avLst/>
          </a:prstGeom>
          <a:noFill/>
          <a:ln/>
        </p:spPr>
        <p:txBody>
          <a:bodyPr wrap="square" lIns="0" tIns="0" rIns="0" bIns="0" rtlCol="0" anchor="ctr"/>
          <a:lstStyle/>
          <a:p>
            <a:pPr indent="0" marL="0">
              <a:buNone/>
            </a:pPr>
            <a:r>
              <a:rPr lang="en-US" sz="1300" dirty="0">
                <a:solidFill>
                  <a:srgbClr val="5A6070"/>
                </a:solidFill>
                <a:latin typeface="Calibri" pitchFamily="34" charset="0"/>
                <a:ea typeface="Calibri" pitchFamily="34" charset="-122"/>
                <a:cs typeface="Calibri" pitchFamily="34" charset="-120"/>
              </a:rPr>
              <a:t>Leads you typed in and never contacted.</a:t>
            </a:r>
            <a:endParaRPr lang="en-US" sz="1300" dirty="0"/>
          </a:p>
        </p:txBody>
      </p:sp>
      <p:sp>
        <p:nvSpPr>
          <p:cNvPr id="20" name="Shape 18"/>
          <p:cNvSpPr/>
          <p:nvPr/>
        </p:nvSpPr>
        <p:spPr>
          <a:xfrm>
            <a:off x="731520" y="5257800"/>
            <a:ext cx="10698480" cy="914400"/>
          </a:xfrm>
          <a:prstGeom prst="roundRect">
            <a:avLst>
              <a:gd name="adj" fmla="val 12000"/>
            </a:avLst>
          </a:prstGeom>
          <a:solidFill>
            <a:srgbClr val="F4F6FB"/>
          </a:solidFill>
          <a:ln/>
        </p:spPr>
      </p:sp>
      <p:sp>
        <p:nvSpPr>
          <p:cNvPr id="21" name="Text 19"/>
          <p:cNvSpPr txBox="1"/>
          <p:nvPr/>
        </p:nvSpPr>
        <p:spPr>
          <a:xfrm>
            <a:off x="1051560" y="5349240"/>
            <a:ext cx="10058400" cy="7315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An empty ladder means the day's queue is clear. </a:t>
            </a:r>
            <a:pPr indent="0" marL="0">
              <a:buNone/>
            </a:pPr>
            <a:r>
              <a:rPr lang="en-US" sz="1300" dirty="0">
                <a:solidFill>
                  <a:srgbClr val="5A6070"/>
                </a:solidFill>
                <a:latin typeface="Calibri" pitchFamily="34" charset="0"/>
                <a:ea typeface="Calibri" pitchFamily="34" charset="-122"/>
                <a:cs typeface="Calibri" pitchFamily="34" charset="-120"/>
              </a:rPr>
              <a:t>It never invents busywork, and it never reads a failed fetch as a zero — if a count could not be read it says which one, rather than telling you to go home while three people wait.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The queue hands you one. You cannot shop.</a:t>
            </a:r>
            <a:endParaRPr lang="en-US" sz="3600" dirty="0"/>
          </a:p>
        </p:txBody>
      </p:sp>
      <p:sp>
        <p:nvSpPr>
          <p:cNvPr id="3" name="Text 1"/>
          <p:cNvSpPr txBox="1"/>
          <p:nvPr/>
        </p:nvSpPr>
        <p:spPr>
          <a:xfrm>
            <a:off x="731520" y="1207008"/>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Pick a trade, press “Claim the next one”, and work what you get.</a:t>
            </a:r>
            <a:endParaRPr lang="en-US" sz="1500" dirty="0"/>
          </a:p>
        </p:txBody>
      </p:sp>
      <p:sp>
        <p:nvSpPr>
          <p:cNvPr id="4" name="Shape 2"/>
          <p:cNvSpPr/>
          <p:nvPr/>
        </p:nvSpPr>
        <p:spPr>
          <a:xfrm>
            <a:off x="731520" y="1920240"/>
            <a:ext cx="10698480" cy="932688"/>
          </a:xfrm>
          <a:prstGeom prst="rect">
            <a:avLst/>
          </a:prstGeom>
          <a:solidFill>
            <a:srgbClr val="F4F6FB"/>
          </a:solidFill>
          <a:ln/>
        </p:spPr>
      </p:sp>
      <p:sp>
        <p:nvSpPr>
          <p:cNvPr id="5" name="Text 3"/>
          <p:cNvSpPr txBox="1"/>
          <p:nvPr/>
        </p:nvSpPr>
        <p:spPr>
          <a:xfrm>
            <a:off x="960120" y="1975104"/>
            <a:ext cx="3017520" cy="8229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A count, never a list</a:t>
            </a:r>
            <a:endParaRPr lang="en-US" sz="1500" dirty="0"/>
          </a:p>
        </p:txBody>
      </p:sp>
      <p:sp>
        <p:nvSpPr>
          <p:cNvPr id="6" name="Text 4"/>
          <p:cNvSpPr txBox="1"/>
          <p:nvPr/>
        </p:nvSpPr>
        <p:spPr>
          <a:xfrm>
            <a:off x="4160520" y="1975104"/>
            <a:ext cx="6629400" cy="82296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You see how many are free in each of the 39 trades. There is no endpoint anywhere that lists them. A rep who could see the pool would cherry-pick, and one rep claiming two hundred and calling nine freezes the board for everybody.</a:t>
            </a:r>
            <a:endParaRPr lang="en-US" sz="1250" dirty="0"/>
          </a:p>
        </p:txBody>
      </p:sp>
      <p:sp>
        <p:nvSpPr>
          <p:cNvPr id="7" name="Shape 5"/>
          <p:cNvSpPr/>
          <p:nvPr/>
        </p:nvSpPr>
        <p:spPr>
          <a:xfrm>
            <a:off x="731520" y="2971800"/>
            <a:ext cx="10698480" cy="932688"/>
          </a:xfrm>
          <a:prstGeom prst="rect">
            <a:avLst/>
          </a:prstGeom>
          <a:solidFill>
            <a:srgbClr val="F4F6FB"/>
          </a:solidFill>
          <a:ln/>
        </p:spPr>
      </p:sp>
      <p:sp>
        <p:nvSpPr>
          <p:cNvPr id="8" name="Text 6"/>
          <p:cNvSpPr txBox="1"/>
          <p:nvPr/>
        </p:nvSpPr>
        <p:spPr>
          <a:xfrm>
            <a:off x="960120" y="3026664"/>
            <a:ext cx="3017520" cy="8229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The claim is the lock</a:t>
            </a:r>
            <a:endParaRPr lang="en-US" sz="1500" dirty="0"/>
          </a:p>
        </p:txBody>
      </p:sp>
      <p:sp>
        <p:nvSpPr>
          <p:cNvPr id="9" name="Text 7"/>
          <p:cNvSpPr txBox="1"/>
          <p:nvPr/>
        </p:nvSpPr>
        <p:spPr>
          <a:xfrm>
            <a:off x="4160520" y="3026664"/>
            <a:ext cx="6629400" cy="82296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While you hold it, no other rep can ring that business. That is the whole fairness mechanism, and it is why holding one you are not working is not a neutral act.</a:t>
            </a:r>
            <a:endParaRPr lang="en-US" sz="1250" dirty="0"/>
          </a:p>
        </p:txBody>
      </p:sp>
      <p:sp>
        <p:nvSpPr>
          <p:cNvPr id="10" name="Shape 8"/>
          <p:cNvSpPr/>
          <p:nvPr/>
        </p:nvSpPr>
        <p:spPr>
          <a:xfrm>
            <a:off x="731520" y="4023360"/>
            <a:ext cx="10698480" cy="932688"/>
          </a:xfrm>
          <a:prstGeom prst="rect">
            <a:avLst/>
          </a:prstGeom>
          <a:solidFill>
            <a:srgbClr val="F4F6FB"/>
          </a:solidFill>
          <a:ln/>
        </p:spPr>
      </p:sp>
      <p:sp>
        <p:nvSpPr>
          <p:cNvPr id="11" name="Text 9"/>
          <p:cNvSpPr txBox="1"/>
          <p:nvPr/>
        </p:nvSpPr>
        <p:spPr>
          <a:xfrm>
            <a:off x="960120" y="4078224"/>
            <a:ext cx="3017520" cy="8229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48 hours of doing nothing</a:t>
            </a:r>
            <a:endParaRPr lang="en-US" sz="1500" dirty="0"/>
          </a:p>
        </p:txBody>
      </p:sp>
      <p:sp>
        <p:nvSpPr>
          <p:cNvPr id="12" name="Text 10"/>
          <p:cNvSpPr txBox="1"/>
          <p:nvPr/>
        </p:nvSpPr>
        <p:spPr>
          <a:xfrm>
            <a:off x="4160520" y="4078224"/>
            <a:ext cx="6629400" cy="82296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An unworked claim lapses and the prospect goes back in the pool. It measures inactivity, not age — ring them twice and it keeps resetting.</a:t>
            </a:r>
            <a:endParaRPr lang="en-US" sz="1250" dirty="0"/>
          </a:p>
        </p:txBody>
      </p:sp>
      <p:sp>
        <p:nvSpPr>
          <p:cNvPr id="13" name="Shape 11"/>
          <p:cNvSpPr/>
          <p:nvPr/>
        </p:nvSpPr>
        <p:spPr>
          <a:xfrm>
            <a:off x="731520" y="5074920"/>
            <a:ext cx="10698480" cy="932688"/>
          </a:xfrm>
          <a:prstGeom prst="rect">
            <a:avLst/>
          </a:prstGeom>
          <a:solidFill>
            <a:srgbClr val="F4F6FB"/>
          </a:solidFill>
          <a:ln/>
        </p:spPr>
      </p:sp>
      <p:sp>
        <p:nvSpPr>
          <p:cNvPr id="14" name="Text 12"/>
          <p:cNvSpPr txBox="1"/>
          <p:nvPr/>
        </p:nvSpPr>
        <p:spPr>
          <a:xfrm>
            <a:off x="960120" y="5129784"/>
            <a:ext cx="3017520" cy="8229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You cannot summon more</a:t>
            </a:r>
            <a:endParaRPr lang="en-US" sz="1500" dirty="0"/>
          </a:p>
        </p:txBody>
      </p:sp>
      <p:sp>
        <p:nvSpPr>
          <p:cNvPr id="15" name="Text 13"/>
          <p:cNvSpPr txBox="1"/>
          <p:nvPr/>
        </p:nvSpPr>
        <p:spPr>
          <a:xfrm>
            <a:off x="4160520" y="5129784"/>
            <a:ext cx="6629400" cy="82296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Discovery runs on a schedule. If a trade is empty, the screen names which of three reasons it is. Pick a different trade.</a:t>
            </a:r>
            <a:endParaRPr lang="en-US" sz="1250" dirty="0"/>
          </a:p>
        </p:txBody>
      </p:sp>
      <p:sp>
        <p:nvSpPr>
          <p:cNvPr id="16" name="Text 14"/>
          <p:cNvSpPr txBox="1"/>
          <p:nvPr/>
        </p:nvSpPr>
        <p:spPr>
          <a:xfrm>
            <a:off x="731520" y="6035040"/>
            <a:ext cx="10698480" cy="457200"/>
          </a:xfrm>
          <a:prstGeom prst="rect">
            <a:avLst/>
          </a:prstGeom>
          <a:noFill/>
          <a:ln/>
        </p:spPr>
        <p:txBody>
          <a:bodyPr wrap="square" rtlCol="0" anchor="ctr"/>
          <a:lstStyle/>
          <a:p>
            <a:pPr indent="0" marL="0">
              <a:buNone/>
            </a:pPr>
            <a:r>
              <a:rPr lang="en-US" sz="1350" i="1" dirty="0">
                <a:solidFill>
                  <a:srgbClr val="8C2F39"/>
                </a:solidFill>
                <a:latin typeface="Calibri" pitchFamily="34" charset="0"/>
                <a:ea typeface="Calibri" pitchFamily="34" charset="-122"/>
                <a:cs typeface="Calibri" pitchFamily="34" charset="-120"/>
              </a:rPr>
              <a:t>Worked prospects stay in your queue rather than clearing out of it. That is how it behaves today — not a bug you have found.</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731520" y="640080"/>
            <a:ext cx="10698480" cy="73152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Four layers. Read all four before you dial.</a:t>
            </a:r>
            <a:endParaRPr lang="en-US" sz="3400" dirty="0"/>
          </a:p>
        </p:txBody>
      </p:sp>
      <p:sp>
        <p:nvSpPr>
          <p:cNvPr id="3" name="Text 1"/>
          <p:cNvSpPr txBox="1"/>
          <p:nvPr/>
        </p:nvSpPr>
        <p:spPr>
          <a:xfrm>
            <a:off x="731520" y="1389888"/>
            <a:ext cx="10698480" cy="411480"/>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The screen keeps fact, guess and suggestion apart. On the phone, so do you — and the difference is audible.</a:t>
            </a:r>
            <a:endParaRPr lang="en-US" sz="1500" dirty="0"/>
          </a:p>
        </p:txBody>
      </p:sp>
      <p:sp>
        <p:nvSpPr>
          <p:cNvPr id="4" name="Shape 2"/>
          <p:cNvSpPr/>
          <p:nvPr/>
        </p:nvSpPr>
        <p:spPr>
          <a:xfrm>
            <a:off x="731520" y="2148840"/>
            <a:ext cx="10698480" cy="822960"/>
          </a:xfrm>
          <a:prstGeom prst="rect">
            <a:avLst/>
          </a:prstGeom>
          <a:solidFill>
            <a:srgbClr val="2A3A78"/>
          </a:solidFill>
          <a:ln/>
        </p:spPr>
      </p:sp>
      <p:sp>
        <p:nvSpPr>
          <p:cNvPr id="5" name="Text 3"/>
          <p:cNvSpPr txBox="1"/>
          <p:nvPr/>
        </p:nvSpPr>
        <p:spPr>
          <a:xfrm>
            <a:off x="960120" y="2203704"/>
            <a:ext cx="3200400" cy="713232"/>
          </a:xfrm>
          <a:prstGeom prst="rect">
            <a:avLst/>
          </a:prstGeom>
          <a:noFill/>
          <a:ln/>
        </p:spPr>
        <p:txBody>
          <a:bodyPr wrap="square" lIns="0" tIns="0" rIns="0" bIns="0" rtlCol="0" anchor="ctr"/>
          <a:lstStyle/>
          <a:p>
            <a:pPr indent="0" marL="0">
              <a:buNone/>
            </a:pPr>
            <a:r>
              <a:rPr lang="en-US" sz="1500" b="1" dirty="0">
                <a:solidFill>
                  <a:srgbClr val="C8A44D"/>
                </a:solidFill>
                <a:latin typeface="Calibri" pitchFamily="34" charset="0"/>
                <a:ea typeface="Calibri" pitchFamily="34" charset="-122"/>
                <a:cs typeface="Calibri" pitchFamily="34" charset="-120"/>
              </a:rPr>
              <a:t>What we observed</a:t>
            </a:r>
            <a:endParaRPr lang="en-US" sz="1500" dirty="0"/>
          </a:p>
        </p:txBody>
      </p:sp>
      <p:sp>
        <p:nvSpPr>
          <p:cNvPr id="6" name="Text 4"/>
          <p:cNvSpPr txBox="1"/>
          <p:nvPr/>
        </p:nvSpPr>
        <p:spPr>
          <a:xfrm>
            <a:off x="4343400" y="2203704"/>
            <a:ext cx="6446520" cy="713232"/>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A crawler actually saw it. Safe to say as a flat statement.</a:t>
            </a:r>
            <a:endParaRPr lang="en-US" sz="1250" dirty="0"/>
          </a:p>
        </p:txBody>
      </p:sp>
      <p:sp>
        <p:nvSpPr>
          <p:cNvPr id="7" name="Shape 5"/>
          <p:cNvSpPr/>
          <p:nvPr/>
        </p:nvSpPr>
        <p:spPr>
          <a:xfrm>
            <a:off x="731520" y="3090672"/>
            <a:ext cx="10698480" cy="822960"/>
          </a:xfrm>
          <a:prstGeom prst="rect">
            <a:avLst/>
          </a:prstGeom>
          <a:solidFill>
            <a:srgbClr val="27346B"/>
          </a:solidFill>
          <a:ln/>
        </p:spPr>
      </p:sp>
      <p:sp>
        <p:nvSpPr>
          <p:cNvPr id="8" name="Text 6"/>
          <p:cNvSpPr txBox="1"/>
          <p:nvPr/>
        </p:nvSpPr>
        <p:spPr>
          <a:xfrm>
            <a:off x="960120" y="3145536"/>
            <a:ext cx="3200400" cy="713232"/>
          </a:xfrm>
          <a:prstGeom prst="rect">
            <a:avLst/>
          </a:prstGeom>
          <a:noFill/>
          <a:ln/>
        </p:spPr>
        <p:txBody>
          <a:bodyPr wrap="square" lIns="0" tIns="0" rIns="0" bIns="0" rtlCol="0" anchor="ctr"/>
          <a:lstStyle/>
          <a:p>
            <a:pPr indent="0" marL="0">
              <a:buNone/>
            </a:pPr>
            <a:r>
              <a:rPr lang="en-US" sz="1500" b="1" dirty="0">
                <a:solidFill>
                  <a:srgbClr val="C8A44D"/>
                </a:solidFill>
                <a:latin typeface="Calibri" pitchFamily="34" charset="0"/>
                <a:ea typeface="Calibri" pitchFamily="34" charset="-122"/>
                <a:cs typeface="Calibri" pitchFamily="34" charset="-120"/>
              </a:rPr>
              <a:t>What we infer</a:t>
            </a:r>
            <a:endParaRPr lang="en-US" sz="1500" dirty="0"/>
          </a:p>
        </p:txBody>
      </p:sp>
      <p:sp>
        <p:nvSpPr>
          <p:cNvPr id="9" name="Text 7"/>
          <p:cNvSpPr txBox="1"/>
          <p:nvPr/>
        </p:nvSpPr>
        <p:spPr>
          <a:xfrm>
            <a:off x="4343400" y="3145536"/>
            <a:ext cx="6446520" cy="713232"/>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A guess with a confidence number on it. Say it as a question, never as a claim.</a:t>
            </a:r>
            <a:endParaRPr lang="en-US" sz="1250" dirty="0"/>
          </a:p>
        </p:txBody>
      </p:sp>
      <p:sp>
        <p:nvSpPr>
          <p:cNvPr id="10" name="Shape 8"/>
          <p:cNvSpPr/>
          <p:nvPr/>
        </p:nvSpPr>
        <p:spPr>
          <a:xfrm>
            <a:off x="731520" y="4032504"/>
            <a:ext cx="10698480" cy="822960"/>
          </a:xfrm>
          <a:prstGeom prst="rect">
            <a:avLst/>
          </a:prstGeom>
          <a:solidFill>
            <a:srgbClr val="2A3A78"/>
          </a:solidFill>
          <a:ln/>
        </p:spPr>
      </p:sp>
      <p:sp>
        <p:nvSpPr>
          <p:cNvPr id="11" name="Text 9"/>
          <p:cNvSpPr txBox="1"/>
          <p:nvPr/>
        </p:nvSpPr>
        <p:spPr>
          <a:xfrm>
            <a:off x="960120" y="4087368"/>
            <a:ext cx="3200400" cy="713232"/>
          </a:xfrm>
          <a:prstGeom prst="rect">
            <a:avLst/>
          </a:prstGeom>
          <a:noFill/>
          <a:ln/>
        </p:spPr>
        <p:txBody>
          <a:bodyPr wrap="square" lIns="0" tIns="0" rIns="0" bIns="0" rtlCol="0" anchor="ctr"/>
          <a:lstStyle/>
          <a:p>
            <a:pPr indent="0" marL="0">
              <a:buNone/>
            </a:pPr>
            <a:r>
              <a:rPr lang="en-US" sz="1500" b="1" dirty="0">
                <a:solidFill>
                  <a:srgbClr val="C8A44D"/>
                </a:solidFill>
                <a:latin typeface="Calibri" pitchFamily="34" charset="0"/>
                <a:ea typeface="Calibri" pitchFamily="34" charset="-122"/>
                <a:cs typeface="Calibri" pitchFamily="34" charset="-120"/>
              </a:rPr>
              <a:t>What to pitch</a:t>
            </a:r>
            <a:endParaRPr lang="en-US" sz="1500" dirty="0"/>
          </a:p>
        </p:txBody>
      </p:sp>
      <p:sp>
        <p:nvSpPr>
          <p:cNvPr id="12" name="Text 10"/>
          <p:cNvSpPr txBox="1"/>
          <p:nvPr/>
        </p:nvSpPr>
        <p:spPr>
          <a:xfrm>
            <a:off x="4343400" y="4087368"/>
            <a:ext cx="6446520" cy="713232"/>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A suggestion. It is not a script and it does not know they have a new baby.</a:t>
            </a:r>
            <a:endParaRPr lang="en-US" sz="1250" dirty="0"/>
          </a:p>
        </p:txBody>
      </p:sp>
      <p:sp>
        <p:nvSpPr>
          <p:cNvPr id="13" name="Shape 11"/>
          <p:cNvSpPr/>
          <p:nvPr/>
        </p:nvSpPr>
        <p:spPr>
          <a:xfrm>
            <a:off x="731520" y="4974336"/>
            <a:ext cx="10698480" cy="822960"/>
          </a:xfrm>
          <a:prstGeom prst="rect">
            <a:avLst/>
          </a:prstGeom>
          <a:solidFill>
            <a:srgbClr val="27346B"/>
          </a:solidFill>
          <a:ln/>
        </p:spPr>
      </p:sp>
      <p:sp>
        <p:nvSpPr>
          <p:cNvPr id="14" name="Text 12"/>
          <p:cNvSpPr txBox="1"/>
          <p:nvPr/>
        </p:nvSpPr>
        <p:spPr>
          <a:xfrm>
            <a:off x="960120" y="5029200"/>
            <a:ext cx="3200400" cy="713232"/>
          </a:xfrm>
          <a:prstGeom prst="rect">
            <a:avLst/>
          </a:prstGeom>
          <a:noFill/>
          <a:ln/>
        </p:spPr>
        <p:txBody>
          <a:bodyPr wrap="square" lIns="0" tIns="0" rIns="0" bIns="0" rtlCol="0" anchor="ctr"/>
          <a:lstStyle/>
          <a:p>
            <a:pPr indent="0" marL="0">
              <a:buNone/>
            </a:pPr>
            <a:r>
              <a:rPr lang="en-US" sz="1500" b="1" dirty="0">
                <a:solidFill>
                  <a:srgbClr val="C8A44D"/>
                </a:solidFill>
                <a:latin typeface="Calibri" pitchFamily="34" charset="0"/>
                <a:ea typeface="Calibri" pitchFamily="34" charset="-122"/>
                <a:cs typeface="Calibri" pitchFamily="34" charset="-120"/>
              </a:rPr>
              <a:t>What we do not know</a:t>
            </a:r>
            <a:endParaRPr lang="en-US" sz="1500" dirty="0"/>
          </a:p>
        </p:txBody>
      </p:sp>
      <p:sp>
        <p:nvSpPr>
          <p:cNvPr id="15" name="Text 13"/>
          <p:cNvSpPr txBox="1"/>
          <p:nvPr/>
        </p:nvSpPr>
        <p:spPr>
          <a:xfrm>
            <a:off x="4343400" y="5029200"/>
            <a:ext cx="6446520" cy="713232"/>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Named gaps. These are your questions — free material, already written for you.</a:t>
            </a:r>
            <a:endParaRPr lang="en-US" sz="1250" dirty="0"/>
          </a:p>
        </p:txBody>
      </p:sp>
      <p:sp>
        <p:nvSpPr>
          <p:cNvPr id="16" name="Text 14"/>
          <p:cNvSpPr txBox="1"/>
          <p:nvPr/>
        </p:nvSpPr>
        <p:spPr>
          <a:xfrm>
            <a:off x="731520" y="5943600"/>
            <a:ext cx="10698480" cy="640080"/>
          </a:xfrm>
          <a:prstGeom prst="rect">
            <a:avLst/>
          </a:prstGeom>
          <a:noFill/>
          <a:ln/>
        </p:spPr>
        <p:txBody>
          <a:bodyPr wrap="square" rtlCol="0" anchor="ctr"/>
          <a:lstStyle/>
          <a:p>
            <a:pPr indent="0" marL="0">
              <a:buNone/>
            </a:pPr>
            <a:r>
              <a:rPr lang="en-US" sz="1600" i="1" dirty="0">
                <a:solidFill>
                  <a:srgbClr val="C8A44D"/>
                </a:solidFill>
                <a:latin typeface="Cambria" pitchFamily="34" charset="0"/>
                <a:ea typeface="Cambria" pitchFamily="34" charset="-122"/>
                <a:cs typeface="Cambria" pitchFamily="34" charset="-120"/>
              </a:rPr>
              <a:t>A capability marked false is an observation. Null means nobody found out. They are not the same thing, and reading null as “they don't have it” is how you say something untrue without meaning to.</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731520" y="502920"/>
            <a:ext cx="2286000" cy="457200"/>
          </a:xfrm>
          <a:prstGeom prst="roundRect">
            <a:avLst>
              <a:gd name="adj" fmla="val 20000"/>
            </a:avLst>
          </a:prstGeom>
          <a:solidFill>
            <a:srgbClr val="C8A44D"/>
          </a:solidFill>
          <a:ln/>
        </p:spPr>
      </p:sp>
      <p:sp>
        <p:nvSpPr>
          <p:cNvPr id="3" name="Text 1"/>
          <p:cNvSpPr txBox="1"/>
          <p:nvPr/>
        </p:nvSpPr>
        <p:spPr>
          <a:xfrm>
            <a:off x="731520" y="502920"/>
            <a:ext cx="2286000" cy="457200"/>
          </a:xfrm>
          <a:prstGeom prst="rect">
            <a:avLst/>
          </a:prstGeom>
          <a:noFill/>
          <a:ln/>
        </p:spPr>
        <p:txBody>
          <a:bodyPr wrap="square" lIns="0" tIns="0" rIns="0" bIns="0" rtlCol="0" anchor="ctr"/>
          <a:lstStyle/>
          <a:p>
            <a:pPr algn="ctr" indent="0" marL="0">
              <a:buNone/>
            </a:pPr>
            <a:r>
              <a:rPr lang="en-US" sz="1400" b="1" spc="200" kern="0" dirty="0">
                <a:solidFill>
                  <a:srgbClr val="1E2761"/>
                </a:solidFill>
                <a:latin typeface="Calibri" pitchFamily="34" charset="0"/>
                <a:ea typeface="Calibri" pitchFamily="34" charset="-122"/>
                <a:cs typeface="Calibri" pitchFamily="34" charset="-120"/>
              </a:rPr>
              <a:t>PRACTICE 2</a:t>
            </a:r>
            <a:endParaRPr lang="en-US" sz="1400" dirty="0"/>
          </a:p>
        </p:txBody>
      </p:sp>
      <p:sp>
        <p:nvSpPr>
          <p:cNvPr id="4" name="Text 2"/>
          <p:cNvSpPr txBox="1"/>
          <p:nvPr/>
        </p:nvSpPr>
        <p:spPr>
          <a:xfrm>
            <a:off x="3291840" y="502920"/>
            <a:ext cx="8138160" cy="457200"/>
          </a:xfrm>
          <a:prstGeom prst="rect">
            <a:avLst/>
          </a:prstGeom>
          <a:noFill/>
          <a:ln/>
        </p:spPr>
        <p:txBody>
          <a:bodyPr wrap="square" lIns="0" tIns="0" rIns="0" bIns="0"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Say it out loud. Nobody types.</a:t>
            </a:r>
            <a:endParaRPr lang="en-US" sz="1400" dirty="0"/>
          </a:p>
        </p:txBody>
      </p:sp>
      <p:sp>
        <p:nvSpPr>
          <p:cNvPr id="5" name="Text 3"/>
          <p:cNvSpPr txBox="1"/>
          <p:nvPr/>
        </p:nvSpPr>
        <p:spPr>
          <a:xfrm>
            <a:off x="731520" y="1371600"/>
            <a:ext cx="10698480" cy="146304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research screen says:</a:t>
            </a:r>
            <a:endParaRPr lang="en-US" sz="2800" dirty="0"/>
          </a:p>
          <a:p>
            <a:pPr indent="0" marL="0">
              <a:buNone/>
            </a:pPr>
            <a:r>
              <a:rPr lang="en-US" sz="2800" b="1" dirty="0">
                <a:solidFill>
                  <a:srgbClr val="FFFFFF"/>
                </a:solidFill>
                <a:latin typeface="Cambria" pitchFamily="34" charset="0"/>
                <a:ea typeface="Cambria" pitchFamily="34" charset="-122"/>
                <a:cs typeface="Cambria" pitchFamily="34" charset="-120"/>
              </a:rPr>
              <a:t>“We infer they take no online bookings — confidence 0.62.”</a:t>
            </a:r>
            <a:endParaRPr lang="en-US" sz="2800" dirty="0"/>
          </a:p>
        </p:txBody>
      </p:sp>
      <p:sp>
        <p:nvSpPr>
          <p:cNvPr id="6" name="Shape 4"/>
          <p:cNvSpPr/>
          <p:nvPr/>
        </p:nvSpPr>
        <p:spPr>
          <a:xfrm>
            <a:off x="731520" y="3200400"/>
            <a:ext cx="10698480" cy="1371600"/>
          </a:xfrm>
          <a:prstGeom prst="roundRect">
            <a:avLst>
              <a:gd name="adj" fmla="val 9333"/>
            </a:avLst>
          </a:prstGeom>
          <a:solidFill>
            <a:srgbClr val="2A3A78"/>
          </a:solidFill>
          <a:ln/>
        </p:spPr>
      </p:sp>
      <p:sp>
        <p:nvSpPr>
          <p:cNvPr id="7" name="Text 5"/>
          <p:cNvSpPr txBox="1"/>
          <p:nvPr/>
        </p:nvSpPr>
        <p:spPr>
          <a:xfrm>
            <a:off x="1097280" y="3200400"/>
            <a:ext cx="9966960" cy="13716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Say that to the contractor. Out loud, in one sentence, without telling them something we did not observe.</a:t>
            </a:r>
            <a:endParaRPr lang="en-US" sz="2000" dirty="0"/>
          </a:p>
        </p:txBody>
      </p:sp>
      <p:sp>
        <p:nvSpPr>
          <p:cNvPr id="8" name="Text 6"/>
          <p:cNvSpPr txBox="1"/>
          <p:nvPr/>
        </p:nvSpPr>
        <p:spPr>
          <a:xfrm>
            <a:off x="731520" y="4937760"/>
            <a:ext cx="10698480" cy="457200"/>
          </a:xfrm>
          <a:prstGeom prst="rect">
            <a:avLst/>
          </a:prstGeom>
          <a:noFill/>
          <a:ln/>
        </p:spPr>
        <p:txBody>
          <a:bodyPr wrap="square" rtlCol="0" anchor="ctr"/>
          <a:lstStyle/>
          <a:p>
            <a:pPr indent="0" marL="0">
              <a:buNone/>
            </a:pPr>
            <a:r>
              <a:rPr lang="en-US" sz="1400" i="1" dirty="0">
                <a:solidFill>
                  <a:srgbClr val="C8A44D"/>
                </a:solidFill>
                <a:latin typeface="Calibri" pitchFamily="34" charset="0"/>
                <a:ea typeface="Calibri" pitchFamily="34" charset="-122"/>
                <a:cs typeface="Calibri" pitchFamily="34" charset="-120"/>
              </a:rPr>
              <a:t>The answer is not on this slide. That is the point.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A call, end to end</a:t>
            </a:r>
            <a:endParaRPr lang="en-US" sz="3600" dirty="0"/>
          </a:p>
        </p:txBody>
      </p:sp>
      <p:sp>
        <p:nvSpPr>
          <p:cNvPr id="3" name="Text 1"/>
          <p:cNvSpPr txBox="1"/>
          <p:nvPr/>
        </p:nvSpPr>
        <p:spPr>
          <a:xfrm>
            <a:off x="731520" y="1207008"/>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It all happens on one screen. You never leave the record.</a:t>
            </a:r>
            <a:endParaRPr lang="en-US" sz="1500" dirty="0"/>
          </a:p>
        </p:txBody>
      </p:sp>
      <p:sp>
        <p:nvSpPr>
          <p:cNvPr id="4" name="Shape 2"/>
          <p:cNvSpPr/>
          <p:nvPr/>
        </p:nvSpPr>
        <p:spPr>
          <a:xfrm>
            <a:off x="731520" y="2020824"/>
            <a:ext cx="384048" cy="384048"/>
          </a:xfrm>
          <a:prstGeom prst="ellipse">
            <a:avLst/>
          </a:prstGeom>
          <a:solidFill>
            <a:srgbClr val="1E2761"/>
          </a:solidFill>
          <a:ln/>
        </p:spPr>
      </p:sp>
      <p:sp>
        <p:nvSpPr>
          <p:cNvPr id="5" name="Text 3"/>
          <p:cNvSpPr txBox="1"/>
          <p:nvPr/>
        </p:nvSpPr>
        <p:spPr>
          <a:xfrm>
            <a:off x="731520" y="20208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353312" y="1965960"/>
            <a:ext cx="3017520" cy="502920"/>
          </a:xfrm>
          <a:prstGeom prst="rect">
            <a:avLst/>
          </a:prstGeom>
          <a:noFill/>
          <a:ln/>
        </p:spPr>
        <p:txBody>
          <a:bodyPr wrap="square" lIns="0" tIns="0" rIns="0" bIns="0" rtlCol="0" anchor="ctr"/>
          <a:lstStyle/>
          <a:p>
            <a:pPr indent="0" marL="0">
              <a:buNone/>
            </a:pPr>
            <a:r>
              <a:rPr lang="en-US" sz="1550" b="1" dirty="0">
                <a:solidFill>
                  <a:srgbClr val="1B1B1F"/>
                </a:solidFill>
                <a:latin typeface="Calibri" pitchFamily="34" charset="0"/>
                <a:ea typeface="Calibri" pitchFamily="34" charset="-122"/>
                <a:cs typeface="Calibri" pitchFamily="34" charset="-120"/>
              </a:rPr>
              <a:t>Claim it</a:t>
            </a:r>
            <a:endParaRPr lang="en-US" sz="1550" dirty="0"/>
          </a:p>
        </p:txBody>
      </p:sp>
      <p:sp>
        <p:nvSpPr>
          <p:cNvPr id="7" name="Text 5"/>
          <p:cNvSpPr txBox="1"/>
          <p:nvPr/>
        </p:nvSpPr>
        <p:spPr>
          <a:xfrm>
            <a:off x="4434840" y="1965960"/>
            <a:ext cx="6812280" cy="50292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One press. You get the next one in that trade, not the one you liked the look of.</a:t>
            </a:r>
            <a:endParaRPr lang="en-US" sz="1250" dirty="0"/>
          </a:p>
        </p:txBody>
      </p:sp>
      <p:sp>
        <p:nvSpPr>
          <p:cNvPr id="8" name="Shape 6"/>
          <p:cNvSpPr/>
          <p:nvPr/>
        </p:nvSpPr>
        <p:spPr>
          <a:xfrm>
            <a:off x="731520" y="2679192"/>
            <a:ext cx="384048" cy="384048"/>
          </a:xfrm>
          <a:prstGeom prst="ellipse">
            <a:avLst/>
          </a:prstGeom>
          <a:solidFill>
            <a:srgbClr val="1E2761"/>
          </a:solidFill>
          <a:ln/>
        </p:spPr>
      </p:sp>
      <p:sp>
        <p:nvSpPr>
          <p:cNvPr id="9" name="Text 7"/>
          <p:cNvSpPr txBox="1"/>
          <p:nvPr/>
        </p:nvSpPr>
        <p:spPr>
          <a:xfrm>
            <a:off x="731520" y="26791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353312" y="2624328"/>
            <a:ext cx="3017520" cy="502920"/>
          </a:xfrm>
          <a:prstGeom prst="rect">
            <a:avLst/>
          </a:prstGeom>
          <a:noFill/>
          <a:ln/>
        </p:spPr>
        <p:txBody>
          <a:bodyPr wrap="square" lIns="0" tIns="0" rIns="0" bIns="0" rtlCol="0" anchor="ctr"/>
          <a:lstStyle/>
          <a:p>
            <a:pPr indent="0" marL="0">
              <a:buNone/>
            </a:pPr>
            <a:r>
              <a:rPr lang="en-US" sz="1550" b="1" dirty="0">
                <a:solidFill>
                  <a:srgbClr val="1B1B1F"/>
                </a:solidFill>
                <a:latin typeface="Calibri" pitchFamily="34" charset="0"/>
                <a:ea typeface="Calibri" pitchFamily="34" charset="-122"/>
                <a:cs typeface="Calibri" pitchFamily="34" charset="-120"/>
              </a:rPr>
              <a:t>Read all four layers</a:t>
            </a:r>
            <a:endParaRPr lang="en-US" sz="1550" dirty="0"/>
          </a:p>
        </p:txBody>
      </p:sp>
      <p:sp>
        <p:nvSpPr>
          <p:cNvPr id="11" name="Text 9"/>
          <p:cNvSpPr txBox="1"/>
          <p:nvPr/>
        </p:nvSpPr>
        <p:spPr>
          <a:xfrm>
            <a:off x="4434840" y="2624328"/>
            <a:ext cx="6812280" cy="50292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Two minutes. This is where the call is won, not on the call.</a:t>
            </a:r>
            <a:endParaRPr lang="en-US" sz="1250" dirty="0"/>
          </a:p>
        </p:txBody>
      </p:sp>
      <p:sp>
        <p:nvSpPr>
          <p:cNvPr id="12" name="Shape 10"/>
          <p:cNvSpPr/>
          <p:nvPr/>
        </p:nvSpPr>
        <p:spPr>
          <a:xfrm>
            <a:off x="731520" y="3337560"/>
            <a:ext cx="384048" cy="384048"/>
          </a:xfrm>
          <a:prstGeom prst="ellipse">
            <a:avLst/>
          </a:prstGeom>
          <a:solidFill>
            <a:srgbClr val="1E2761"/>
          </a:solidFill>
          <a:ln/>
        </p:spPr>
      </p:sp>
      <p:sp>
        <p:nvSpPr>
          <p:cNvPr id="13" name="Text 11"/>
          <p:cNvSpPr txBox="1"/>
          <p:nvPr/>
        </p:nvSpPr>
        <p:spPr>
          <a:xfrm>
            <a:off x="731520" y="3337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353312" y="3282696"/>
            <a:ext cx="3017520" cy="502920"/>
          </a:xfrm>
          <a:prstGeom prst="rect">
            <a:avLst/>
          </a:prstGeom>
          <a:noFill/>
          <a:ln/>
        </p:spPr>
        <p:txBody>
          <a:bodyPr wrap="square" lIns="0" tIns="0" rIns="0" bIns="0" rtlCol="0" anchor="ctr"/>
          <a:lstStyle/>
          <a:p>
            <a:pPr indent="0" marL="0">
              <a:buNone/>
            </a:pPr>
            <a:r>
              <a:rPr lang="en-US" sz="1550" b="1" dirty="0">
                <a:solidFill>
                  <a:srgbClr val="1B1B1F"/>
                </a:solidFill>
                <a:latin typeface="Calibri" pitchFamily="34" charset="0"/>
                <a:ea typeface="Calibri" pitchFamily="34" charset="-122"/>
                <a:cs typeface="Calibri" pitchFamily="34" charset="-120"/>
              </a:rPr>
              <a:t>Press Call</a:t>
            </a:r>
            <a:endParaRPr lang="en-US" sz="1550" dirty="0"/>
          </a:p>
        </p:txBody>
      </p:sp>
      <p:sp>
        <p:nvSpPr>
          <p:cNvPr id="15" name="Text 13"/>
          <p:cNvSpPr txBox="1"/>
          <p:nvPr/>
        </p:nvSpPr>
        <p:spPr>
          <a:xfrm>
            <a:off x="4434840" y="3282696"/>
            <a:ext cx="6812280" cy="50292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It rings in your browser through a headset. Your own number shows on their handset.</a:t>
            </a:r>
            <a:endParaRPr lang="en-US" sz="1250" dirty="0"/>
          </a:p>
        </p:txBody>
      </p:sp>
      <p:sp>
        <p:nvSpPr>
          <p:cNvPr id="16" name="Shape 14"/>
          <p:cNvSpPr/>
          <p:nvPr/>
        </p:nvSpPr>
        <p:spPr>
          <a:xfrm>
            <a:off x="731520" y="3995928"/>
            <a:ext cx="384048" cy="384048"/>
          </a:xfrm>
          <a:prstGeom prst="ellipse">
            <a:avLst/>
          </a:prstGeom>
          <a:solidFill>
            <a:srgbClr val="1E2761"/>
          </a:solidFill>
          <a:ln/>
        </p:spPr>
      </p:sp>
      <p:sp>
        <p:nvSpPr>
          <p:cNvPr id="17" name="Text 15"/>
          <p:cNvSpPr txBox="1"/>
          <p:nvPr/>
        </p:nvSpPr>
        <p:spPr>
          <a:xfrm>
            <a:off x="731520" y="39959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1353312" y="3941064"/>
            <a:ext cx="3017520" cy="502920"/>
          </a:xfrm>
          <a:prstGeom prst="rect">
            <a:avLst/>
          </a:prstGeom>
          <a:noFill/>
          <a:ln/>
        </p:spPr>
        <p:txBody>
          <a:bodyPr wrap="square" lIns="0" tIns="0" rIns="0" bIns="0" rtlCol="0" anchor="ctr"/>
          <a:lstStyle/>
          <a:p>
            <a:pPr indent="0" marL="0">
              <a:buNone/>
            </a:pPr>
            <a:r>
              <a:rPr lang="en-US" sz="1550" b="1" dirty="0">
                <a:solidFill>
                  <a:srgbClr val="1B1B1F"/>
                </a:solidFill>
                <a:latin typeface="Calibri" pitchFamily="34" charset="0"/>
                <a:ea typeface="Calibri" pitchFamily="34" charset="-122"/>
                <a:cs typeface="Calibri" pitchFamily="34" charset="-120"/>
              </a:rPr>
              <a:t>Say who you are, and the number</a:t>
            </a:r>
            <a:endParaRPr lang="en-US" sz="1550" dirty="0"/>
          </a:p>
        </p:txBody>
      </p:sp>
      <p:sp>
        <p:nvSpPr>
          <p:cNvPr id="19" name="Text 17"/>
          <p:cNvSpPr txBox="1"/>
          <p:nvPr/>
        </p:nvSpPr>
        <p:spPr>
          <a:xfrm>
            <a:off x="4434840" y="3941064"/>
            <a:ext cx="6812280" cy="50292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Identify yourself and give a callback number. It is required, every call, and the screen shows you the number being presented so you can read it out.</a:t>
            </a:r>
            <a:endParaRPr lang="en-US" sz="1250" dirty="0"/>
          </a:p>
        </p:txBody>
      </p:sp>
      <p:sp>
        <p:nvSpPr>
          <p:cNvPr id="20" name="Shape 18"/>
          <p:cNvSpPr/>
          <p:nvPr/>
        </p:nvSpPr>
        <p:spPr>
          <a:xfrm>
            <a:off x="731520" y="4654296"/>
            <a:ext cx="384048" cy="384048"/>
          </a:xfrm>
          <a:prstGeom prst="ellipse">
            <a:avLst/>
          </a:prstGeom>
          <a:solidFill>
            <a:srgbClr val="1E2761"/>
          </a:solidFill>
          <a:ln/>
        </p:spPr>
      </p:sp>
      <p:sp>
        <p:nvSpPr>
          <p:cNvPr id="21" name="Text 19"/>
          <p:cNvSpPr txBox="1"/>
          <p:nvPr/>
        </p:nvSpPr>
        <p:spPr>
          <a:xfrm>
            <a:off x="731520" y="46542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txBox="1"/>
          <p:nvPr/>
        </p:nvSpPr>
        <p:spPr>
          <a:xfrm>
            <a:off x="1353312" y="4599432"/>
            <a:ext cx="3017520" cy="502920"/>
          </a:xfrm>
          <a:prstGeom prst="rect">
            <a:avLst/>
          </a:prstGeom>
          <a:noFill/>
          <a:ln/>
        </p:spPr>
        <p:txBody>
          <a:bodyPr wrap="square" lIns="0" tIns="0" rIns="0" bIns="0" rtlCol="0" anchor="ctr"/>
          <a:lstStyle/>
          <a:p>
            <a:pPr indent="0" marL="0">
              <a:buNone/>
            </a:pPr>
            <a:r>
              <a:rPr lang="en-US" sz="1550" b="1" dirty="0">
                <a:solidFill>
                  <a:srgbClr val="1B1B1F"/>
                </a:solidFill>
                <a:latin typeface="Calibri" pitchFamily="34" charset="0"/>
                <a:ea typeface="Calibri" pitchFamily="34" charset="-122"/>
                <a:cs typeface="Calibri" pitchFamily="34" charset="-120"/>
              </a:rPr>
              <a:t>Type while they talk</a:t>
            </a:r>
            <a:endParaRPr lang="en-US" sz="1550" dirty="0"/>
          </a:p>
        </p:txBody>
      </p:sp>
      <p:sp>
        <p:nvSpPr>
          <p:cNvPr id="23" name="Text 21"/>
          <p:cNvSpPr txBox="1"/>
          <p:nvPr/>
        </p:nvSpPr>
        <p:spPr>
          <a:xfrm>
            <a:off x="4434840" y="4599432"/>
            <a:ext cx="6812280" cy="50292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The note box sits beside the dial. As close to their words as you can get. A note written afterwards is a summary of a memory.</a:t>
            </a:r>
            <a:endParaRPr lang="en-US" sz="1250" dirty="0"/>
          </a:p>
        </p:txBody>
      </p:sp>
      <p:sp>
        <p:nvSpPr>
          <p:cNvPr id="24" name="Shape 22"/>
          <p:cNvSpPr/>
          <p:nvPr/>
        </p:nvSpPr>
        <p:spPr>
          <a:xfrm>
            <a:off x="731520" y="5312664"/>
            <a:ext cx="384048" cy="384048"/>
          </a:xfrm>
          <a:prstGeom prst="ellipse">
            <a:avLst/>
          </a:prstGeom>
          <a:solidFill>
            <a:srgbClr val="C8A44D"/>
          </a:solidFill>
          <a:ln/>
        </p:spPr>
      </p:sp>
      <p:sp>
        <p:nvSpPr>
          <p:cNvPr id="25" name="Text 23"/>
          <p:cNvSpPr txBox="1"/>
          <p:nvPr/>
        </p:nvSpPr>
        <p:spPr>
          <a:xfrm>
            <a:off x="731520" y="5312664"/>
            <a:ext cx="384048" cy="384048"/>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6</a:t>
            </a:r>
            <a:endParaRPr lang="en-US" sz="1400" dirty="0"/>
          </a:p>
        </p:txBody>
      </p:sp>
      <p:sp>
        <p:nvSpPr>
          <p:cNvPr id="26" name="Text 24"/>
          <p:cNvSpPr txBox="1"/>
          <p:nvPr/>
        </p:nvSpPr>
        <p:spPr>
          <a:xfrm>
            <a:off x="1353312" y="5257800"/>
            <a:ext cx="3017520" cy="502920"/>
          </a:xfrm>
          <a:prstGeom prst="rect">
            <a:avLst/>
          </a:prstGeom>
          <a:noFill/>
          <a:ln/>
        </p:spPr>
        <p:txBody>
          <a:bodyPr wrap="square" lIns="0" tIns="0" rIns="0" bIns="0" rtlCol="0" anchor="ctr"/>
          <a:lstStyle/>
          <a:p>
            <a:pPr indent="0" marL="0">
              <a:buNone/>
            </a:pPr>
            <a:r>
              <a:rPr lang="en-US" sz="1550" b="1" dirty="0">
                <a:solidFill>
                  <a:srgbClr val="1B1B1F"/>
                </a:solidFill>
                <a:latin typeface="Calibri" pitchFamily="34" charset="0"/>
                <a:ea typeface="Calibri" pitchFamily="34" charset="-122"/>
                <a:cs typeface="Calibri" pitchFamily="34" charset="-120"/>
              </a:rPr>
              <a:t>Close it out</a:t>
            </a:r>
            <a:endParaRPr lang="en-US" sz="1550" dirty="0"/>
          </a:p>
        </p:txBody>
      </p:sp>
      <p:sp>
        <p:nvSpPr>
          <p:cNvPr id="27" name="Text 25"/>
          <p:cNvSpPr txBox="1"/>
          <p:nvPr/>
        </p:nvSpPr>
        <p:spPr>
          <a:xfrm>
            <a:off x="4434840" y="5257800"/>
            <a:ext cx="6812280" cy="50292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Pick what happened from the list. Some choices need the note before they will save.</a:t>
            </a:r>
            <a:endParaRPr lang="en-US" sz="1250" dirty="0"/>
          </a:p>
        </p:txBody>
      </p:sp>
      <p:sp>
        <p:nvSpPr>
          <p:cNvPr id="28" name="Text 26"/>
          <p:cNvSpPr txBox="1"/>
          <p:nvPr/>
        </p:nvSpPr>
        <p:spPr>
          <a:xfrm>
            <a:off x="731520" y="5943600"/>
            <a:ext cx="10698480" cy="457200"/>
          </a:xfrm>
          <a:prstGeom prst="rect">
            <a:avLst/>
          </a:prstGeom>
          <a:noFill/>
          <a:ln/>
        </p:spPr>
        <p:txBody>
          <a:bodyPr wrap="square" rtlCol="0" anchor="ctr"/>
          <a:lstStyle/>
          <a:p>
            <a:pPr indent="0" marL="0">
              <a:buNone/>
            </a:pPr>
            <a:r>
              <a:rPr lang="en-US" sz="1700" i="1" dirty="0">
                <a:solidFill>
                  <a:srgbClr val="1E2761"/>
                </a:solidFill>
                <a:latin typeface="Cambria" pitchFamily="34" charset="0"/>
                <a:ea typeface="Cambria" pitchFamily="34" charset="-122"/>
                <a:cs typeface="Cambria" pitchFamily="34" charset="-120"/>
              </a:rPr>
              <a:t>Ten ways a call can end, and the screen keeps the unfinished one in front of you until you say which it was.</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The hours you may ring — the screen works them out</a:t>
            </a:r>
            <a:endParaRPr lang="en-US" sz="3600" dirty="0"/>
          </a:p>
        </p:txBody>
      </p:sp>
      <p:sp>
        <p:nvSpPr>
          <p:cNvPr id="3" name="Text 1"/>
          <p:cNvSpPr txBox="1"/>
          <p:nvPr/>
        </p:nvSpPr>
        <p:spPr>
          <a:xfrm>
            <a:off x="731520" y="1207008"/>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There is no one window. Whose rule applies depends on where THEY are, and it is judged in their clock.</a:t>
            </a:r>
            <a:endParaRPr lang="en-US" sz="1500" dirty="0"/>
          </a:p>
        </p:txBody>
      </p:sp>
      <p:sp>
        <p:nvSpPr>
          <p:cNvPr id="4" name="Shape 2"/>
          <p:cNvSpPr/>
          <p:nvPr/>
        </p:nvSpPr>
        <p:spPr>
          <a:xfrm>
            <a:off x="731520" y="1920240"/>
            <a:ext cx="5166360" cy="1600200"/>
          </a:xfrm>
          <a:prstGeom prst="roundRect">
            <a:avLst>
              <a:gd name="adj" fmla="val 8000"/>
            </a:avLst>
          </a:prstGeom>
          <a:solidFill>
            <a:srgbClr val="F4F6FB"/>
          </a:solidFill>
          <a:ln/>
        </p:spPr>
      </p:sp>
      <p:sp>
        <p:nvSpPr>
          <p:cNvPr id="5" name="Text 3"/>
          <p:cNvSpPr txBox="1"/>
          <p:nvPr/>
        </p:nvSpPr>
        <p:spPr>
          <a:xfrm>
            <a:off x="1005840" y="2103120"/>
            <a:ext cx="4617720" cy="1280160"/>
          </a:xfrm>
          <a:prstGeom prst="rect">
            <a:avLst/>
          </a:prstGeom>
          <a:noFill/>
          <a:ln/>
        </p:spPr>
        <p:txBody>
          <a:bodyPr wrap="square" lIns="0" tIns="0" rIns="0" bIns="0" rtlCol="0" anchor="ctr"/>
          <a:lstStyle/>
          <a:p>
            <a:pPr indent="0" marL="0">
              <a:buNone/>
            </a:pPr>
            <a:r>
              <a:rPr lang="en-US" sz="1400" dirty="0">
                <a:solidFill>
                  <a:srgbClr val="5A6070"/>
                </a:solidFill>
                <a:latin typeface="Calibri" pitchFamily="34" charset="0"/>
                <a:ea typeface="Calibri" pitchFamily="34" charset="-122"/>
                <a:cs typeface="Calibri" pitchFamily="34" charset="-120"/>
              </a:rPr>
              <a:t>Canada
</a:t>
            </a:r>
            <a:pPr indent="0" marL="0">
              <a:buNone/>
            </a:pPr>
            <a:r>
              <a:rPr lang="en-US" sz="2200" b="1" dirty="0">
                <a:solidFill>
                  <a:srgbClr val="1E2761"/>
                </a:solidFill>
                <a:latin typeface="Cambria" pitchFamily="34" charset="0"/>
                <a:ea typeface="Cambria" pitchFamily="34" charset="-122"/>
                <a:cs typeface="Cambria" pitchFamily="34" charset="-120"/>
              </a:rPr>
              <a:t>09:00 – 21:30 weekdays
</a:t>
            </a:r>
            <a:pPr indent="0" marL="0">
              <a:buNone/>
            </a:pPr>
            <a:r>
              <a:rPr lang="en-US" sz="1600" b="1" dirty="0">
                <a:solidFill>
                  <a:srgbClr val="1E2761"/>
                </a:solidFill>
                <a:latin typeface="Cambria" pitchFamily="34" charset="0"/>
                <a:ea typeface="Cambria" pitchFamily="34" charset="-122"/>
                <a:cs typeface="Cambria" pitchFamily="34" charset="-120"/>
              </a:rPr>
              <a:t>10:00 – 18:00 weekends</a:t>
            </a:r>
            <a:endParaRPr lang="en-US" sz="1400" dirty="0"/>
          </a:p>
        </p:txBody>
      </p:sp>
      <p:sp>
        <p:nvSpPr>
          <p:cNvPr id="6" name="Shape 4"/>
          <p:cNvSpPr/>
          <p:nvPr/>
        </p:nvSpPr>
        <p:spPr>
          <a:xfrm>
            <a:off x="6263640" y="1920240"/>
            <a:ext cx="5166360" cy="1600200"/>
          </a:xfrm>
          <a:prstGeom prst="roundRect">
            <a:avLst>
              <a:gd name="adj" fmla="val 8000"/>
            </a:avLst>
          </a:prstGeom>
          <a:solidFill>
            <a:srgbClr val="F4F6FB"/>
          </a:solidFill>
          <a:ln/>
        </p:spPr>
      </p:sp>
      <p:sp>
        <p:nvSpPr>
          <p:cNvPr id="7" name="Text 5"/>
          <p:cNvSpPr txBox="1"/>
          <p:nvPr/>
        </p:nvSpPr>
        <p:spPr>
          <a:xfrm>
            <a:off x="6537960" y="2103120"/>
            <a:ext cx="4617720" cy="1280160"/>
          </a:xfrm>
          <a:prstGeom prst="rect">
            <a:avLst/>
          </a:prstGeom>
          <a:noFill/>
          <a:ln/>
        </p:spPr>
        <p:txBody>
          <a:bodyPr wrap="square" lIns="0" tIns="0" rIns="0" bIns="0" rtlCol="0" anchor="ctr"/>
          <a:lstStyle/>
          <a:p>
            <a:pPr indent="0" marL="0">
              <a:buNone/>
            </a:pPr>
            <a:r>
              <a:rPr lang="en-US" sz="1400" dirty="0">
                <a:solidFill>
                  <a:srgbClr val="5A6070"/>
                </a:solidFill>
                <a:latin typeface="Calibri" pitchFamily="34" charset="0"/>
                <a:ea typeface="Calibri" pitchFamily="34" charset="-122"/>
                <a:cs typeface="Calibri" pitchFamily="34" charset="-120"/>
              </a:rPr>
              <a:t>The commonest US state window
</a:t>
            </a:r>
            <a:pPr indent="0" marL="0">
              <a:buNone/>
            </a:pPr>
            <a:r>
              <a:rPr lang="en-US" sz="2200" b="1" dirty="0">
                <a:solidFill>
                  <a:srgbClr val="1E2761"/>
                </a:solidFill>
                <a:latin typeface="Cambria" pitchFamily="34" charset="0"/>
                <a:ea typeface="Cambria" pitchFamily="34" charset="-122"/>
                <a:cs typeface="Cambria" pitchFamily="34" charset="-120"/>
              </a:rPr>
              <a:t>08:00 – 21:00
</a:t>
            </a:r>
            <a:pPr indent="0" marL="0">
              <a:buNone/>
            </a:pPr>
            <a:r>
              <a:rPr lang="en-US" sz="1250" dirty="0">
                <a:solidFill>
                  <a:srgbClr val="5A6070"/>
                </a:solidFill>
                <a:latin typeface="Calibri" pitchFamily="34" charset="0"/>
                <a:ea typeface="Calibri" pitchFamily="34" charset="-122"/>
                <a:cs typeface="Calibri" pitchFamily="34" charset="-120"/>
              </a:rPr>
              <a:t>Several states differ. A few impose none. One forbids the call outright.</a:t>
            </a:r>
            <a:endParaRPr lang="en-US" sz="1400" dirty="0"/>
          </a:p>
        </p:txBody>
      </p:sp>
      <p:sp>
        <p:nvSpPr>
          <p:cNvPr id="8" name="Shape 6"/>
          <p:cNvSpPr/>
          <p:nvPr/>
        </p:nvSpPr>
        <p:spPr>
          <a:xfrm>
            <a:off x="731520" y="3611880"/>
            <a:ext cx="10698480" cy="658368"/>
          </a:xfrm>
          <a:prstGeom prst="rect">
            <a:avLst/>
          </a:prstGeom>
          <a:solidFill>
            <a:srgbClr val="F4F6FB"/>
          </a:solidFill>
          <a:ln/>
        </p:spPr>
      </p:sp>
      <p:sp>
        <p:nvSpPr>
          <p:cNvPr id="9" name="Text 7"/>
          <p:cNvSpPr txBox="1"/>
          <p:nvPr/>
        </p:nvSpPr>
        <p:spPr>
          <a:xfrm>
            <a:off x="960120" y="3666744"/>
            <a:ext cx="3291840" cy="5486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You do not do this maths</a:t>
            </a:r>
            <a:endParaRPr lang="en-US" sz="1500" dirty="0"/>
          </a:p>
        </p:txBody>
      </p:sp>
      <p:sp>
        <p:nvSpPr>
          <p:cNvPr id="10" name="Text 8"/>
          <p:cNvSpPr txBox="1"/>
          <p:nvPr/>
        </p:nvSpPr>
        <p:spPr>
          <a:xfrm>
            <a:off x="4434840" y="3666744"/>
            <a:ext cx="6355080" cy="54864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The screen reads their country and state, finds the rule, converts to their local clock, and decides. Outside it there is no Call control — not greyed out, absent.</a:t>
            </a:r>
            <a:endParaRPr lang="en-US" sz="1250" dirty="0"/>
          </a:p>
        </p:txBody>
      </p:sp>
      <p:sp>
        <p:nvSpPr>
          <p:cNvPr id="11" name="Shape 9"/>
          <p:cNvSpPr/>
          <p:nvPr/>
        </p:nvSpPr>
        <p:spPr>
          <a:xfrm>
            <a:off x="731520" y="4389120"/>
            <a:ext cx="10698480" cy="658368"/>
          </a:xfrm>
          <a:prstGeom prst="rect">
            <a:avLst/>
          </a:prstGeom>
          <a:solidFill>
            <a:srgbClr val="F4F6FB"/>
          </a:solidFill>
          <a:ln/>
        </p:spPr>
      </p:sp>
      <p:sp>
        <p:nvSpPr>
          <p:cNvPr id="12" name="Text 10"/>
          <p:cNvSpPr txBox="1"/>
          <p:nvPr/>
        </p:nvSpPr>
        <p:spPr>
          <a:xfrm>
            <a:off x="960120" y="4443984"/>
            <a:ext cx="3291840" cy="5486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It tells you when it opens</a:t>
            </a:r>
            <a:endParaRPr lang="en-US" sz="1500" dirty="0"/>
          </a:p>
        </p:txBody>
      </p:sp>
      <p:sp>
        <p:nvSpPr>
          <p:cNvPr id="13" name="Text 11"/>
          <p:cNvSpPr txBox="1"/>
          <p:nvPr/>
        </p:nvSpPr>
        <p:spPr>
          <a:xfrm>
            <a:off x="4434840" y="4443984"/>
            <a:ext cx="6355080" cy="54864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“The window opens at 08:00 Thu 11 Sept.” Go and work a prospect who is open instead of sitting on the clock.</a:t>
            </a:r>
            <a:endParaRPr lang="en-US" sz="1250" dirty="0"/>
          </a:p>
        </p:txBody>
      </p:sp>
      <p:sp>
        <p:nvSpPr>
          <p:cNvPr id="14" name="Shape 12"/>
          <p:cNvSpPr/>
          <p:nvPr/>
        </p:nvSpPr>
        <p:spPr>
          <a:xfrm>
            <a:off x="731520" y="5166360"/>
            <a:ext cx="10698480" cy="658368"/>
          </a:xfrm>
          <a:prstGeom prst="rect">
            <a:avLst/>
          </a:prstGeom>
          <a:solidFill>
            <a:srgbClr val="F4F6FB"/>
          </a:solidFill>
          <a:ln/>
        </p:spPr>
      </p:sp>
      <p:sp>
        <p:nvSpPr>
          <p:cNvPr id="15" name="Text 13"/>
          <p:cNvSpPr txBox="1"/>
          <p:nvPr/>
        </p:nvSpPr>
        <p:spPr>
          <a:xfrm>
            <a:off x="960120" y="5221224"/>
            <a:ext cx="3291840" cy="5486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Some refusals are honest ignorance</a:t>
            </a:r>
            <a:endParaRPr lang="en-US" sz="1500" dirty="0"/>
          </a:p>
        </p:txBody>
      </p:sp>
      <p:sp>
        <p:nvSpPr>
          <p:cNvPr id="16" name="Text 14"/>
          <p:cNvSpPr txBox="1"/>
          <p:nvPr/>
        </p:nvSpPr>
        <p:spPr>
          <a:xfrm>
            <a:off x="4434840" y="5221224"/>
            <a:ext cx="6355080" cy="54864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Two states have not been read to our standard, and an unread rule produces “we cannot confirm this is allowed” rather than a comfortable default.</a:t>
            </a:r>
            <a:endParaRPr lang="en-US" sz="1250" dirty="0"/>
          </a:p>
        </p:txBody>
      </p:sp>
      <p:sp>
        <p:nvSpPr>
          <p:cNvPr id="17" name="Shape 15"/>
          <p:cNvSpPr/>
          <p:nvPr/>
        </p:nvSpPr>
        <p:spPr>
          <a:xfrm>
            <a:off x="731520" y="5943600"/>
            <a:ext cx="10698480" cy="658368"/>
          </a:xfrm>
          <a:prstGeom prst="rect">
            <a:avLst/>
          </a:prstGeom>
          <a:solidFill>
            <a:srgbClr val="F4F6FB"/>
          </a:solidFill>
          <a:ln/>
        </p:spPr>
      </p:sp>
      <p:sp>
        <p:nvSpPr>
          <p:cNvPr id="18" name="Text 16"/>
          <p:cNvSpPr txBox="1"/>
          <p:nvPr/>
        </p:nvSpPr>
        <p:spPr>
          <a:xfrm>
            <a:off x="960120" y="5998464"/>
            <a:ext cx="3291840" cy="5486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The server checks again</a:t>
            </a:r>
            <a:endParaRPr lang="en-US" sz="1500" dirty="0"/>
          </a:p>
        </p:txBody>
      </p:sp>
      <p:sp>
        <p:nvSpPr>
          <p:cNvPr id="19" name="Text 17"/>
          <p:cNvSpPr txBox="1"/>
          <p:nvPr/>
        </p:nvSpPr>
        <p:spPr>
          <a:xfrm>
            <a:off x="4434840" y="5998464"/>
            <a:ext cx="6355080" cy="54864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Pressing Call posts to a route that re-reads the whole decision from the database. A stale screen cannot authorise a call.</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731520" y="685800"/>
            <a:ext cx="10698480" cy="73152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When they ring you back</a:t>
            </a:r>
            <a:endParaRPr lang="en-US" sz="3400" dirty="0"/>
          </a:p>
        </p:txBody>
      </p:sp>
      <p:sp>
        <p:nvSpPr>
          <p:cNvPr id="3" name="Text 1"/>
          <p:cNvSpPr txBox="1"/>
          <p:nvPr/>
        </p:nvSpPr>
        <p:spPr>
          <a:xfrm>
            <a:off x="731520" y="1444752"/>
            <a:ext cx="10698480" cy="457200"/>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A contractor who calls the number you rang them from reaches YOU. That is the whole reason a rep wants their own number.</a:t>
            </a:r>
            <a:endParaRPr lang="en-US" sz="1500" dirty="0"/>
          </a:p>
        </p:txBody>
      </p:sp>
      <p:sp>
        <p:nvSpPr>
          <p:cNvPr id="4" name="Shape 2"/>
          <p:cNvSpPr/>
          <p:nvPr/>
        </p:nvSpPr>
        <p:spPr>
          <a:xfrm>
            <a:off x="731520" y="2148840"/>
            <a:ext cx="10698480" cy="685800"/>
          </a:xfrm>
          <a:prstGeom prst="rect">
            <a:avLst/>
          </a:prstGeom>
          <a:solidFill>
            <a:srgbClr val="2A3A78"/>
          </a:solidFill>
          <a:ln/>
        </p:spPr>
      </p:sp>
      <p:sp>
        <p:nvSpPr>
          <p:cNvPr id="5" name="Text 3"/>
          <p:cNvSpPr txBox="1"/>
          <p:nvPr/>
        </p:nvSpPr>
        <p:spPr>
          <a:xfrm>
            <a:off x="914400" y="2148840"/>
            <a:ext cx="457200" cy="685800"/>
          </a:xfrm>
          <a:prstGeom prst="rect">
            <a:avLst/>
          </a:prstGeom>
          <a:noFill/>
          <a:ln/>
        </p:spPr>
        <p:txBody>
          <a:bodyPr wrap="square" lIns="0" tIns="0" rIns="0" bIns="0" rtlCol="0" anchor="ctr"/>
          <a:lstStyle/>
          <a:p>
            <a:pPr algn="ctr" indent="0" marL="0">
              <a:buNone/>
            </a:pPr>
            <a:r>
              <a:rPr lang="en-US" sz="2200" b="1" dirty="0">
                <a:solidFill>
                  <a:srgbClr val="C8A44D"/>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1508760" y="2148840"/>
            <a:ext cx="2834640" cy="6858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You</a:t>
            </a:r>
            <a:endParaRPr lang="en-US" sz="1500" dirty="0"/>
          </a:p>
        </p:txBody>
      </p:sp>
      <p:sp>
        <p:nvSpPr>
          <p:cNvPr id="7" name="Text 5"/>
          <p:cNvSpPr txBox="1"/>
          <p:nvPr/>
        </p:nvSpPr>
        <p:spPr>
          <a:xfrm>
            <a:off x="4434840" y="2148840"/>
            <a:ext cx="6766560" cy="68580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The number is assigned to you, so it rings you — even if you are already on a call. Your browser decides whether to show the second one.</a:t>
            </a:r>
            <a:endParaRPr lang="en-US" sz="1250" dirty="0"/>
          </a:p>
        </p:txBody>
      </p:sp>
      <p:sp>
        <p:nvSpPr>
          <p:cNvPr id="8" name="Shape 6"/>
          <p:cNvSpPr/>
          <p:nvPr/>
        </p:nvSpPr>
        <p:spPr>
          <a:xfrm>
            <a:off x="731520" y="2935224"/>
            <a:ext cx="10698480" cy="685800"/>
          </a:xfrm>
          <a:prstGeom prst="rect">
            <a:avLst/>
          </a:prstGeom>
          <a:solidFill>
            <a:srgbClr val="27346B"/>
          </a:solidFill>
          <a:ln/>
        </p:spPr>
      </p:sp>
      <p:sp>
        <p:nvSpPr>
          <p:cNvPr id="9" name="Text 7"/>
          <p:cNvSpPr txBox="1"/>
          <p:nvPr/>
        </p:nvSpPr>
        <p:spPr>
          <a:xfrm>
            <a:off x="914400" y="2935224"/>
            <a:ext cx="457200" cy="685800"/>
          </a:xfrm>
          <a:prstGeom prst="rect">
            <a:avLst/>
          </a:prstGeom>
          <a:noFill/>
          <a:ln/>
        </p:spPr>
        <p:txBody>
          <a:bodyPr wrap="square" lIns="0" tIns="0" rIns="0" bIns="0" rtlCol="0" anchor="ctr"/>
          <a:lstStyle/>
          <a:p>
            <a:pPr algn="ctr" indent="0" marL="0">
              <a:buNone/>
            </a:pPr>
            <a:r>
              <a:rPr lang="en-US" sz="2200" b="1" dirty="0">
                <a:solidFill>
                  <a:srgbClr val="C8A44D"/>
                </a:solidFill>
                <a:latin typeface="Cambria" pitchFamily="34" charset="0"/>
                <a:ea typeface="Cambria" pitchFamily="34" charset="-122"/>
                <a:cs typeface="Cambria" pitchFamily="34" charset="-120"/>
              </a:rPr>
              <a:t>2</a:t>
            </a:r>
            <a:endParaRPr lang="en-US" sz="2200" dirty="0"/>
          </a:p>
        </p:txBody>
      </p:sp>
      <p:sp>
        <p:nvSpPr>
          <p:cNvPr id="10" name="Text 8"/>
          <p:cNvSpPr txBox="1"/>
          <p:nvPr/>
        </p:nvSpPr>
        <p:spPr>
          <a:xfrm>
            <a:off x="1508760" y="2935224"/>
            <a:ext cx="2834640" cy="6858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Whoever spoke to them last</a:t>
            </a:r>
            <a:endParaRPr lang="en-US" sz="1500" dirty="0"/>
          </a:p>
        </p:txBody>
      </p:sp>
      <p:sp>
        <p:nvSpPr>
          <p:cNvPr id="11" name="Text 9"/>
          <p:cNvSpPr txBox="1"/>
          <p:nvPr/>
        </p:nvSpPr>
        <p:spPr>
          <a:xfrm>
            <a:off x="4434840" y="2935224"/>
            <a:ext cx="6766560" cy="68580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On a shared line the call log already knows who rang that contractor. They get it next.</a:t>
            </a:r>
            <a:endParaRPr lang="en-US" sz="1250" dirty="0"/>
          </a:p>
        </p:txBody>
      </p:sp>
      <p:sp>
        <p:nvSpPr>
          <p:cNvPr id="12" name="Shape 10"/>
          <p:cNvSpPr/>
          <p:nvPr/>
        </p:nvSpPr>
        <p:spPr>
          <a:xfrm>
            <a:off x="731520" y="3721608"/>
            <a:ext cx="10698480" cy="685800"/>
          </a:xfrm>
          <a:prstGeom prst="rect">
            <a:avLst/>
          </a:prstGeom>
          <a:solidFill>
            <a:srgbClr val="2A3A78"/>
          </a:solidFill>
          <a:ln/>
        </p:spPr>
      </p:sp>
      <p:sp>
        <p:nvSpPr>
          <p:cNvPr id="13" name="Text 11"/>
          <p:cNvSpPr txBox="1"/>
          <p:nvPr/>
        </p:nvSpPr>
        <p:spPr>
          <a:xfrm>
            <a:off x="914400" y="3721608"/>
            <a:ext cx="457200" cy="685800"/>
          </a:xfrm>
          <a:prstGeom prst="rect">
            <a:avLst/>
          </a:prstGeom>
          <a:noFill/>
          <a:ln/>
        </p:spPr>
        <p:txBody>
          <a:bodyPr wrap="square" lIns="0" tIns="0" rIns="0" bIns="0" rtlCol="0" anchor="ctr"/>
          <a:lstStyle/>
          <a:p>
            <a:pPr algn="ctr" indent="0" marL="0">
              <a:buNone/>
            </a:pPr>
            <a:r>
              <a:rPr lang="en-US" sz="2200" b="1" dirty="0">
                <a:solidFill>
                  <a:srgbClr val="C8A44D"/>
                </a:solidFill>
                <a:latin typeface="Cambria" pitchFamily="34" charset="0"/>
                <a:ea typeface="Cambria" pitchFamily="34" charset="-122"/>
                <a:cs typeface="Cambria" pitchFamily="34" charset="-120"/>
              </a:rPr>
              <a:t>3</a:t>
            </a:r>
            <a:endParaRPr lang="en-US" sz="2200" dirty="0"/>
          </a:p>
        </p:txBody>
      </p:sp>
      <p:sp>
        <p:nvSpPr>
          <p:cNvPr id="14" name="Text 12"/>
          <p:cNvSpPr txBox="1"/>
          <p:nvPr/>
        </p:nvSpPr>
        <p:spPr>
          <a:xfrm>
            <a:off x="1508760" y="3721608"/>
            <a:ext cx="2834640" cy="6858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Whoever is free</a:t>
            </a:r>
            <a:endParaRPr lang="en-US" sz="1500" dirty="0"/>
          </a:p>
        </p:txBody>
      </p:sp>
      <p:sp>
        <p:nvSpPr>
          <p:cNvPr id="15" name="Text 13"/>
          <p:cNvSpPr txBox="1"/>
          <p:nvPr/>
        </p:nvSpPr>
        <p:spPr>
          <a:xfrm>
            <a:off x="4434840" y="3721608"/>
            <a:ext cx="6766560" cy="68580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Longest idle first, so one rep does not take every call while another sits waiting.</a:t>
            </a:r>
            <a:endParaRPr lang="en-US" sz="1250" dirty="0"/>
          </a:p>
        </p:txBody>
      </p:sp>
      <p:sp>
        <p:nvSpPr>
          <p:cNvPr id="16" name="Shape 14"/>
          <p:cNvSpPr/>
          <p:nvPr/>
        </p:nvSpPr>
        <p:spPr>
          <a:xfrm>
            <a:off x="731520" y="4507992"/>
            <a:ext cx="10698480" cy="685800"/>
          </a:xfrm>
          <a:prstGeom prst="rect">
            <a:avLst/>
          </a:prstGeom>
          <a:solidFill>
            <a:srgbClr val="27346B"/>
          </a:solidFill>
          <a:ln/>
        </p:spPr>
      </p:sp>
      <p:sp>
        <p:nvSpPr>
          <p:cNvPr id="17" name="Text 15"/>
          <p:cNvSpPr txBox="1"/>
          <p:nvPr/>
        </p:nvSpPr>
        <p:spPr>
          <a:xfrm>
            <a:off x="914400" y="4507992"/>
            <a:ext cx="457200" cy="685800"/>
          </a:xfrm>
          <a:prstGeom prst="rect">
            <a:avLst/>
          </a:prstGeom>
          <a:noFill/>
          <a:ln/>
        </p:spPr>
        <p:txBody>
          <a:bodyPr wrap="square" lIns="0" tIns="0" rIns="0" bIns="0" rtlCol="0" anchor="ctr"/>
          <a:lstStyle/>
          <a:p>
            <a:pPr algn="ctr" indent="0" marL="0">
              <a:buNone/>
            </a:pPr>
            <a:r>
              <a:rPr lang="en-US" sz="2200" b="1" dirty="0">
                <a:solidFill>
                  <a:srgbClr val="C8A44D"/>
                </a:solidFill>
                <a:latin typeface="Cambria" pitchFamily="34" charset="0"/>
                <a:ea typeface="Cambria" pitchFamily="34" charset="-122"/>
                <a:cs typeface="Cambria" pitchFamily="34" charset="-120"/>
              </a:rPr>
              <a:t>4</a:t>
            </a:r>
            <a:endParaRPr lang="en-US" sz="2200" dirty="0"/>
          </a:p>
        </p:txBody>
      </p:sp>
      <p:sp>
        <p:nvSpPr>
          <p:cNvPr id="18" name="Text 16"/>
          <p:cNvSpPr txBox="1"/>
          <p:nvPr/>
        </p:nvSpPr>
        <p:spPr>
          <a:xfrm>
            <a:off x="1508760" y="4507992"/>
            <a:ext cx="2834640" cy="6858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 real phone</a:t>
            </a:r>
            <a:endParaRPr lang="en-US" sz="1500" dirty="0"/>
          </a:p>
        </p:txBody>
      </p:sp>
      <p:sp>
        <p:nvSpPr>
          <p:cNvPr id="19" name="Text 17"/>
          <p:cNvSpPr txBox="1"/>
          <p:nvPr/>
        </p:nvSpPr>
        <p:spPr>
          <a:xfrm>
            <a:off x="4434840" y="4507992"/>
            <a:ext cx="6766560" cy="68580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A handset somebody carries, for when nobody is at a desk.</a:t>
            </a:r>
            <a:endParaRPr lang="en-US" sz="1250" dirty="0"/>
          </a:p>
        </p:txBody>
      </p:sp>
      <p:sp>
        <p:nvSpPr>
          <p:cNvPr id="20" name="Shape 18"/>
          <p:cNvSpPr/>
          <p:nvPr/>
        </p:nvSpPr>
        <p:spPr>
          <a:xfrm>
            <a:off x="731520" y="5294376"/>
            <a:ext cx="10698480" cy="685800"/>
          </a:xfrm>
          <a:prstGeom prst="rect">
            <a:avLst/>
          </a:prstGeom>
          <a:solidFill>
            <a:srgbClr val="2A3A78"/>
          </a:solidFill>
          <a:ln/>
        </p:spPr>
      </p:sp>
      <p:sp>
        <p:nvSpPr>
          <p:cNvPr id="21" name="Text 19"/>
          <p:cNvSpPr txBox="1"/>
          <p:nvPr/>
        </p:nvSpPr>
        <p:spPr>
          <a:xfrm>
            <a:off x="914400" y="5294376"/>
            <a:ext cx="457200" cy="685800"/>
          </a:xfrm>
          <a:prstGeom prst="rect">
            <a:avLst/>
          </a:prstGeom>
          <a:noFill/>
          <a:ln/>
        </p:spPr>
        <p:txBody>
          <a:bodyPr wrap="square" lIns="0" tIns="0" rIns="0" bIns="0" rtlCol="0" anchor="ctr"/>
          <a:lstStyle/>
          <a:p>
            <a:pPr algn="ctr" indent="0" marL="0">
              <a:buNone/>
            </a:pPr>
            <a:r>
              <a:rPr lang="en-US" sz="2200" b="1" dirty="0">
                <a:solidFill>
                  <a:srgbClr val="C8A44D"/>
                </a:solidFill>
                <a:latin typeface="Cambria" pitchFamily="34" charset="0"/>
                <a:ea typeface="Cambria" pitchFamily="34" charset="-122"/>
                <a:cs typeface="Cambria" pitchFamily="34" charset="-120"/>
              </a:rPr>
              <a:t>5</a:t>
            </a:r>
            <a:endParaRPr lang="en-US" sz="2200" dirty="0"/>
          </a:p>
        </p:txBody>
      </p:sp>
      <p:sp>
        <p:nvSpPr>
          <p:cNvPr id="22" name="Text 20"/>
          <p:cNvSpPr txBox="1"/>
          <p:nvPr/>
        </p:nvSpPr>
        <p:spPr>
          <a:xfrm>
            <a:off x="1508760" y="5294376"/>
            <a:ext cx="2834640" cy="6858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 message</a:t>
            </a:r>
            <a:endParaRPr lang="en-US" sz="1500" dirty="0"/>
          </a:p>
        </p:txBody>
      </p:sp>
      <p:sp>
        <p:nvSpPr>
          <p:cNvPr id="23" name="Text 21"/>
          <p:cNvSpPr txBox="1"/>
          <p:nvPr/>
        </p:nvSpPr>
        <p:spPr>
          <a:xfrm>
            <a:off x="4434840" y="5294376"/>
            <a:ext cx="6766560" cy="68580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They hear who they were trying to reach and can leave one. Never a silent hang-up.</a:t>
            </a:r>
            <a:endParaRPr lang="en-US" sz="1250" dirty="0"/>
          </a:p>
        </p:txBody>
      </p:sp>
      <p:sp>
        <p:nvSpPr>
          <p:cNvPr id="24" name="Text 22"/>
          <p:cNvSpPr txBox="1"/>
          <p:nvPr/>
        </p:nvSpPr>
        <p:spPr>
          <a:xfrm>
            <a:off x="731520" y="6035040"/>
            <a:ext cx="10698480" cy="548640"/>
          </a:xfrm>
          <a:prstGeom prst="rect">
            <a:avLst/>
          </a:prstGeom>
          <a:noFill/>
          <a:ln/>
        </p:spPr>
        <p:txBody>
          <a:bodyPr wrap="square" rtlCol="0" anchor="ctr"/>
          <a:lstStyle/>
          <a:p>
            <a:pPr indent="0" marL="0">
              <a:buNone/>
            </a:pPr>
            <a:r>
              <a:rPr lang="en-US" sz="1600" i="1" dirty="0">
                <a:solidFill>
                  <a:srgbClr val="C8A44D"/>
                </a:solidFill>
                <a:latin typeface="Cambria" pitchFamily="34" charset="0"/>
                <a:ea typeface="Cambria" pitchFamily="34" charset="-122"/>
                <a:cs typeface="Cambria" pitchFamily="34" charset="-120"/>
              </a:rPr>
              <a:t>Give out the number the product dialled from. Never your personal mobile — that call cannot be routed, recorded or picked up by anybody but you.</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Handing a caller to somebody else</a:t>
            </a:r>
            <a:endParaRPr lang="en-US" sz="3600" dirty="0"/>
          </a:p>
        </p:txBody>
      </p:sp>
      <p:sp>
        <p:nvSpPr>
          <p:cNvPr id="3" name="Text 1"/>
          <p:cNvSpPr txBox="1"/>
          <p:nvPr/>
        </p:nvSpPr>
        <p:spPr>
          <a:xfrm>
            <a:off x="731520" y="1207008"/>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Two ways. The caller is never let go of, either way.</a:t>
            </a:r>
            <a:endParaRPr lang="en-US" sz="1500" dirty="0"/>
          </a:p>
        </p:txBody>
      </p:sp>
      <p:sp>
        <p:nvSpPr>
          <p:cNvPr id="4" name="Shape 2"/>
          <p:cNvSpPr/>
          <p:nvPr/>
        </p:nvSpPr>
        <p:spPr>
          <a:xfrm>
            <a:off x="731520" y="1920240"/>
            <a:ext cx="3383280" cy="2606040"/>
          </a:xfrm>
          <a:prstGeom prst="roundRect">
            <a:avLst>
              <a:gd name="adj" fmla="val 4912"/>
            </a:avLst>
          </a:prstGeom>
          <a:solidFill>
            <a:srgbClr val="F4F6FB"/>
          </a:solidFill>
          <a:ln/>
        </p:spPr>
      </p:sp>
      <p:sp>
        <p:nvSpPr>
          <p:cNvPr id="5" name="Text 3"/>
          <p:cNvSpPr txBox="1"/>
          <p:nvPr/>
        </p:nvSpPr>
        <p:spPr>
          <a:xfrm>
            <a:off x="1005840" y="2121408"/>
            <a:ext cx="2834640" cy="54864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Warm</a:t>
            </a:r>
            <a:endParaRPr lang="en-US" sz="2600" dirty="0"/>
          </a:p>
        </p:txBody>
      </p:sp>
      <p:sp>
        <p:nvSpPr>
          <p:cNvPr id="6" name="Text 4"/>
          <p:cNvSpPr txBox="1"/>
          <p:nvPr/>
        </p:nvSpPr>
        <p:spPr>
          <a:xfrm>
            <a:off x="1005840" y="2688336"/>
            <a:ext cx="2834640" cy="320040"/>
          </a:xfrm>
          <a:prstGeom prst="rect">
            <a:avLst/>
          </a:prstGeom>
          <a:noFill/>
          <a:ln/>
        </p:spPr>
        <p:txBody>
          <a:bodyPr wrap="square" lIns="0" tIns="0" rIns="0" bIns="0" rtlCol="0" anchor="ctr"/>
          <a:lstStyle/>
          <a:p>
            <a:pPr indent="0" marL="0">
              <a:buNone/>
            </a:pPr>
            <a:r>
              <a:rPr lang="en-US" sz="1100" b="1" spc="100" kern="0" dirty="0">
                <a:solidFill>
                  <a:srgbClr val="C8A44D"/>
                </a:solidFill>
                <a:latin typeface="Calibri" pitchFamily="34" charset="0"/>
                <a:ea typeface="Calibri" pitchFamily="34" charset="-122"/>
                <a:cs typeface="Calibri" pitchFamily="34" charset="-120"/>
              </a:rPr>
              <a:t>Speak first</a:t>
            </a:r>
            <a:endParaRPr lang="en-US" sz="1100" dirty="0"/>
          </a:p>
        </p:txBody>
      </p:sp>
      <p:sp>
        <p:nvSpPr>
          <p:cNvPr id="7" name="Text 5"/>
          <p:cNvSpPr txBox="1"/>
          <p:nvPr/>
        </p:nvSpPr>
        <p:spPr>
          <a:xfrm>
            <a:off x="1005840" y="3035808"/>
            <a:ext cx="2834640" cy="132588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You talk to the other rep privately while the caller waits on hold, then put them through. Use it when the context has to travel with the call.</a:t>
            </a:r>
            <a:endParaRPr lang="en-US" sz="1250" dirty="0"/>
          </a:p>
        </p:txBody>
      </p:sp>
      <p:sp>
        <p:nvSpPr>
          <p:cNvPr id="8" name="Shape 6"/>
          <p:cNvSpPr/>
          <p:nvPr/>
        </p:nvSpPr>
        <p:spPr>
          <a:xfrm>
            <a:off x="4389120" y="1920240"/>
            <a:ext cx="3383280" cy="2606040"/>
          </a:xfrm>
          <a:prstGeom prst="roundRect">
            <a:avLst>
              <a:gd name="adj" fmla="val 4912"/>
            </a:avLst>
          </a:prstGeom>
          <a:solidFill>
            <a:srgbClr val="F4F6FB"/>
          </a:solidFill>
          <a:ln/>
        </p:spPr>
      </p:sp>
      <p:sp>
        <p:nvSpPr>
          <p:cNvPr id="9" name="Text 7"/>
          <p:cNvSpPr txBox="1"/>
          <p:nvPr/>
        </p:nvSpPr>
        <p:spPr>
          <a:xfrm>
            <a:off x="4663440" y="2121408"/>
            <a:ext cx="2834640" cy="54864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Cold</a:t>
            </a:r>
            <a:endParaRPr lang="en-US" sz="2600" dirty="0"/>
          </a:p>
        </p:txBody>
      </p:sp>
      <p:sp>
        <p:nvSpPr>
          <p:cNvPr id="10" name="Text 8"/>
          <p:cNvSpPr txBox="1"/>
          <p:nvPr/>
        </p:nvSpPr>
        <p:spPr>
          <a:xfrm>
            <a:off x="4663440" y="2688336"/>
            <a:ext cx="2834640" cy="320040"/>
          </a:xfrm>
          <a:prstGeom prst="rect">
            <a:avLst/>
          </a:prstGeom>
          <a:noFill/>
          <a:ln/>
        </p:spPr>
        <p:txBody>
          <a:bodyPr wrap="square" lIns="0" tIns="0" rIns="0" bIns="0" rtlCol="0" anchor="ctr"/>
          <a:lstStyle/>
          <a:p>
            <a:pPr indent="0" marL="0">
              <a:buNone/>
            </a:pPr>
            <a:r>
              <a:rPr lang="en-US" sz="1100" b="1" spc="100" kern="0" dirty="0">
                <a:solidFill>
                  <a:srgbClr val="C8A44D"/>
                </a:solidFill>
                <a:latin typeface="Calibri" pitchFamily="34" charset="0"/>
                <a:ea typeface="Calibri" pitchFamily="34" charset="-122"/>
                <a:cs typeface="Calibri" pitchFamily="34" charset="-120"/>
              </a:rPr>
              <a:t>Straight through</a:t>
            </a:r>
            <a:endParaRPr lang="en-US" sz="1100" dirty="0"/>
          </a:p>
        </p:txBody>
      </p:sp>
      <p:sp>
        <p:nvSpPr>
          <p:cNvPr id="11" name="Text 9"/>
          <p:cNvSpPr txBox="1"/>
          <p:nvPr/>
        </p:nvSpPr>
        <p:spPr>
          <a:xfrm>
            <a:off x="4663440" y="3035808"/>
            <a:ext cx="2834640" cy="132588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They go across the moment the other rep picks up. Right when the reason is obvious — wrong trade, wrong province.</a:t>
            </a:r>
            <a:endParaRPr lang="en-US" sz="1250" dirty="0"/>
          </a:p>
        </p:txBody>
      </p:sp>
      <p:sp>
        <p:nvSpPr>
          <p:cNvPr id="12" name="Shape 10"/>
          <p:cNvSpPr/>
          <p:nvPr/>
        </p:nvSpPr>
        <p:spPr>
          <a:xfrm>
            <a:off x="8046720" y="1920240"/>
            <a:ext cx="3383280" cy="2606040"/>
          </a:xfrm>
          <a:prstGeom prst="roundRect">
            <a:avLst>
              <a:gd name="adj" fmla="val 4912"/>
            </a:avLst>
          </a:prstGeom>
          <a:solidFill>
            <a:srgbClr val="F4F6FB"/>
          </a:solidFill>
          <a:ln/>
        </p:spPr>
      </p:sp>
      <p:sp>
        <p:nvSpPr>
          <p:cNvPr id="13" name="Text 11"/>
          <p:cNvSpPr txBox="1"/>
          <p:nvPr/>
        </p:nvSpPr>
        <p:spPr>
          <a:xfrm>
            <a:off x="8321040" y="2121408"/>
            <a:ext cx="2834640" cy="54864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Neither</a:t>
            </a:r>
            <a:endParaRPr lang="en-US" sz="2600" dirty="0"/>
          </a:p>
        </p:txBody>
      </p:sp>
      <p:sp>
        <p:nvSpPr>
          <p:cNvPr id="14" name="Text 12"/>
          <p:cNvSpPr txBox="1"/>
          <p:nvPr/>
        </p:nvSpPr>
        <p:spPr>
          <a:xfrm>
            <a:off x="8321040" y="2688336"/>
            <a:ext cx="2834640" cy="320040"/>
          </a:xfrm>
          <a:prstGeom prst="rect">
            <a:avLst/>
          </a:prstGeom>
          <a:noFill/>
          <a:ln/>
        </p:spPr>
        <p:txBody>
          <a:bodyPr wrap="square" lIns="0" tIns="0" rIns="0" bIns="0" rtlCol="0" anchor="ctr"/>
          <a:lstStyle/>
          <a:p>
            <a:pPr indent="0" marL="0">
              <a:buNone/>
            </a:pPr>
            <a:r>
              <a:rPr lang="en-US" sz="1100" b="1" spc="100" kern="0" dirty="0">
                <a:solidFill>
                  <a:srgbClr val="C8A44D"/>
                </a:solidFill>
                <a:latin typeface="Calibri" pitchFamily="34" charset="0"/>
                <a:ea typeface="Calibri" pitchFamily="34" charset="-122"/>
                <a:cs typeface="Calibri" pitchFamily="34" charset="-120"/>
              </a:rPr>
              <a:t>You get them back</a:t>
            </a:r>
            <a:endParaRPr lang="en-US" sz="1100" dirty="0"/>
          </a:p>
        </p:txBody>
      </p:sp>
      <p:sp>
        <p:nvSpPr>
          <p:cNvPr id="15" name="Text 13"/>
          <p:cNvSpPr txBox="1"/>
          <p:nvPr/>
        </p:nvSpPr>
        <p:spPr>
          <a:xfrm>
            <a:off x="8321040" y="3035808"/>
            <a:ext cx="2834640" cy="132588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If the person you chose does not answer, the caller returns to YOU. They hear hold music, not a dial tone.</a:t>
            </a:r>
            <a:endParaRPr lang="en-US" sz="1250" dirty="0"/>
          </a:p>
        </p:txBody>
      </p:sp>
      <p:sp>
        <p:nvSpPr>
          <p:cNvPr id="16" name="Shape 14"/>
          <p:cNvSpPr/>
          <p:nvPr/>
        </p:nvSpPr>
        <p:spPr>
          <a:xfrm>
            <a:off x="731520" y="4754880"/>
            <a:ext cx="10698480" cy="749808"/>
          </a:xfrm>
          <a:prstGeom prst="rect">
            <a:avLst/>
          </a:prstGeom>
          <a:solidFill>
            <a:srgbClr val="F4F6FB"/>
          </a:solidFill>
          <a:ln/>
        </p:spPr>
      </p:sp>
      <p:sp>
        <p:nvSpPr>
          <p:cNvPr id="17" name="Text 15"/>
          <p:cNvSpPr txBox="1"/>
          <p:nvPr/>
        </p:nvSpPr>
        <p:spPr>
          <a:xfrm>
            <a:off x="960120" y="4809744"/>
            <a:ext cx="3291840" cy="64008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If everybody is busy</a:t>
            </a:r>
            <a:endParaRPr lang="en-US" sz="1500" dirty="0"/>
          </a:p>
        </p:txBody>
      </p:sp>
      <p:sp>
        <p:nvSpPr>
          <p:cNvPr id="18" name="Text 16"/>
          <p:cNvSpPr txBox="1"/>
          <p:nvPr/>
        </p:nvSpPr>
        <p:spPr>
          <a:xfrm>
            <a:off x="4434840" y="4809744"/>
            <a:ext cx="6355080" cy="64008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The caller is held and we keep looking — up to four rounds, a little over two minutes, and then a message. Never held forever, and never held in silence.</a:t>
            </a:r>
            <a:endParaRPr lang="en-US" sz="1250" dirty="0"/>
          </a:p>
        </p:txBody>
      </p:sp>
      <p:sp>
        <p:nvSpPr>
          <p:cNvPr id="19" name="Shape 17"/>
          <p:cNvSpPr/>
          <p:nvPr/>
        </p:nvSpPr>
        <p:spPr>
          <a:xfrm>
            <a:off x="731520" y="5623560"/>
            <a:ext cx="10698480" cy="749808"/>
          </a:xfrm>
          <a:prstGeom prst="rect">
            <a:avLst/>
          </a:prstGeom>
          <a:solidFill>
            <a:srgbClr val="F4F6FB"/>
          </a:solidFill>
          <a:ln/>
        </p:spPr>
      </p:sp>
      <p:sp>
        <p:nvSpPr>
          <p:cNvPr id="20" name="Text 18"/>
          <p:cNvSpPr txBox="1"/>
          <p:nvPr/>
        </p:nvSpPr>
        <p:spPr>
          <a:xfrm>
            <a:off x="960120" y="5678424"/>
            <a:ext cx="3291840" cy="64008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No “you are number three”</a:t>
            </a:r>
            <a:endParaRPr lang="en-US" sz="1500" dirty="0"/>
          </a:p>
        </p:txBody>
      </p:sp>
      <p:sp>
        <p:nvSpPr>
          <p:cNvPr id="21" name="Text 19"/>
          <p:cNvSpPr txBox="1"/>
          <p:nvPr/>
        </p:nvSpPr>
        <p:spPr>
          <a:xfrm>
            <a:off x="4434840" y="5678424"/>
            <a:ext cx="6355080" cy="64008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Each caller is looked after on their own timer, so we genuinely do not know their position, and we will not invent one. The message says what is true.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Voicemail, and the message with no words in it</a:t>
            </a:r>
            <a:endParaRPr lang="en-US" sz="3600" dirty="0"/>
          </a:p>
        </p:txBody>
      </p:sp>
      <p:sp>
        <p:nvSpPr>
          <p:cNvPr id="3" name="Text 1"/>
          <p:cNvSpPr txBox="1"/>
          <p:nvPr/>
        </p:nvSpPr>
        <p:spPr>
          <a:xfrm>
            <a:off x="731520" y="1207008"/>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/sales/voicemail — messages left on your number, playable by you.</a:t>
            </a:r>
            <a:endParaRPr lang="en-US" sz="1500" dirty="0"/>
          </a:p>
        </p:txBody>
      </p:sp>
      <p:sp>
        <p:nvSpPr>
          <p:cNvPr id="4" name="Shape 2"/>
          <p:cNvSpPr/>
          <p:nvPr/>
        </p:nvSpPr>
        <p:spPr>
          <a:xfrm>
            <a:off x="731520" y="1920240"/>
            <a:ext cx="4937760" cy="2286000"/>
          </a:xfrm>
          <a:prstGeom prst="roundRect">
            <a:avLst>
              <a:gd name="adj" fmla="val 5600"/>
            </a:avLst>
          </a:prstGeom>
          <a:solidFill>
            <a:srgbClr val="1E2761"/>
          </a:solidFill>
          <a:ln/>
        </p:spPr>
      </p:sp>
      <p:sp>
        <p:nvSpPr>
          <p:cNvPr id="5" name="Text 3"/>
          <p:cNvSpPr txBox="1"/>
          <p:nvPr/>
        </p:nvSpPr>
        <p:spPr>
          <a:xfrm>
            <a:off x="1097280" y="2148840"/>
            <a:ext cx="4206240" cy="914400"/>
          </a:xfrm>
          <a:prstGeom prst="rect">
            <a:avLst/>
          </a:prstGeom>
          <a:noFill/>
          <a:ln/>
        </p:spPr>
        <p:txBody>
          <a:bodyPr wrap="square" lIns="0" tIns="0" rIns="0" bIns="0" rtlCol="0" anchor="ctr"/>
          <a:lstStyle/>
          <a:p>
            <a:pPr indent="0" marL="0">
              <a:buNone/>
            </a:pPr>
            <a:r>
              <a:rPr lang="en-US" sz="5400" b="1" dirty="0">
                <a:solidFill>
                  <a:srgbClr val="C8A44D"/>
                </a:solidFill>
                <a:latin typeface="Cambria" pitchFamily="34" charset="0"/>
                <a:ea typeface="Cambria" pitchFamily="34" charset="-122"/>
                <a:cs typeface="Cambria" pitchFamily="34" charset="-120"/>
              </a:rPr>
              <a:t>0s</a:t>
            </a:r>
            <a:endParaRPr lang="en-US" sz="5400" dirty="0"/>
          </a:p>
        </p:txBody>
      </p:sp>
      <p:sp>
        <p:nvSpPr>
          <p:cNvPr id="6" name="Text 4"/>
          <p:cNvSpPr txBox="1"/>
          <p:nvPr/>
        </p:nvSpPr>
        <p:spPr>
          <a:xfrm>
            <a:off x="1097280" y="3017520"/>
            <a:ext cx="42062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no words spoken</a:t>
            </a:r>
            <a:endParaRPr lang="en-US" sz="1500" dirty="0"/>
          </a:p>
        </p:txBody>
      </p:sp>
      <p:sp>
        <p:nvSpPr>
          <p:cNvPr id="7" name="Text 5"/>
          <p:cNvSpPr txBox="1"/>
          <p:nvPr/>
        </p:nvSpPr>
        <p:spPr>
          <a:xfrm>
            <a:off x="1097280" y="3401568"/>
            <a:ext cx="4206240" cy="73152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They rang back, heard the beep, and thought better of it. Warmer than a missed call, colder than a message — and worth a callback.</a:t>
            </a:r>
            <a:endParaRPr lang="en-US" sz="1250" dirty="0"/>
          </a:p>
        </p:txBody>
      </p:sp>
      <p:sp>
        <p:nvSpPr>
          <p:cNvPr id="8" name="Shape 6"/>
          <p:cNvSpPr/>
          <p:nvPr/>
        </p:nvSpPr>
        <p:spPr>
          <a:xfrm>
            <a:off x="731520" y="4572000"/>
            <a:ext cx="10698480" cy="777240"/>
          </a:xfrm>
          <a:prstGeom prst="rect">
            <a:avLst/>
          </a:prstGeom>
          <a:solidFill>
            <a:srgbClr val="F4F6FB"/>
          </a:solidFill>
          <a:ln/>
        </p:spPr>
      </p:sp>
      <p:sp>
        <p:nvSpPr>
          <p:cNvPr id="9" name="Text 7"/>
          <p:cNvSpPr txBox="1"/>
          <p:nvPr/>
        </p:nvSpPr>
        <p:spPr>
          <a:xfrm>
            <a:off x="960120" y="4626864"/>
            <a:ext cx="3566160" cy="66751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It is yours if they rang your number</a:t>
            </a:r>
            <a:endParaRPr lang="en-US" sz="1500" dirty="0"/>
          </a:p>
        </p:txBody>
      </p:sp>
      <p:sp>
        <p:nvSpPr>
          <p:cNvPr id="10" name="Text 8"/>
          <p:cNvSpPr txBox="1"/>
          <p:nvPr/>
        </p:nvSpPr>
        <p:spPr>
          <a:xfrm>
            <a:off x="4709160" y="4626864"/>
            <a:ext cx="6080760" cy="667512"/>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Even when we cannot work out who called. A contractor ringing from a mobile we have never seen matches nobody — the message is still for you, and dropping it would lose exactly the callbacks worth having.</a:t>
            </a:r>
            <a:endParaRPr lang="en-US" sz="1250" dirty="0"/>
          </a:p>
        </p:txBody>
      </p:sp>
      <p:sp>
        <p:nvSpPr>
          <p:cNvPr id="11" name="Shape 9"/>
          <p:cNvSpPr/>
          <p:nvPr/>
        </p:nvSpPr>
        <p:spPr>
          <a:xfrm>
            <a:off x="731520" y="5468112"/>
            <a:ext cx="10698480" cy="777240"/>
          </a:xfrm>
          <a:prstGeom prst="rect">
            <a:avLst/>
          </a:prstGeom>
          <a:solidFill>
            <a:srgbClr val="F4F6FB"/>
          </a:solidFill>
          <a:ln/>
        </p:spPr>
      </p:sp>
      <p:sp>
        <p:nvSpPr>
          <p:cNvPr id="12" name="Text 10"/>
          <p:cNvSpPr txBox="1"/>
          <p:nvPr/>
        </p:nvSpPr>
        <p:spPr>
          <a:xfrm>
            <a:off x="960120" y="5522976"/>
            <a:ext cx="3566160" cy="66751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The audio is served by us</a:t>
            </a:r>
            <a:endParaRPr lang="en-US" sz="1500" dirty="0"/>
          </a:p>
        </p:txBody>
      </p:sp>
      <p:sp>
        <p:nvSpPr>
          <p:cNvPr id="13" name="Text 11"/>
          <p:cNvSpPr txBox="1"/>
          <p:nvPr/>
        </p:nvSpPr>
        <p:spPr>
          <a:xfrm>
            <a:off x="4709160" y="5522976"/>
            <a:ext cx="6080760" cy="667512"/>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You play it inside FieldQuo, never off a link from the phone company. A provider URL carries no permission and hands a stranger's voice to whoever has it.</a:t>
            </a:r>
            <a:endParaRPr lang="en-US" sz="1250" dirty="0"/>
          </a:p>
        </p:txBody>
      </p:sp>
      <p:sp>
        <p:nvSpPr>
          <p:cNvPr id="14" name="Text 12"/>
          <p:cNvSpPr txBox="1"/>
          <p:nvPr/>
        </p:nvSpPr>
        <p:spPr>
          <a:xfrm>
            <a:off x="6126480" y="2377440"/>
            <a:ext cx="5303520" cy="1463040"/>
          </a:xfrm>
          <a:prstGeom prst="rect">
            <a:avLst/>
          </a:prstGeom>
          <a:noFill/>
          <a:ln/>
        </p:spPr>
        <p:txBody>
          <a:bodyPr wrap="square" rtlCol="0" anchor="ctr"/>
          <a:lstStyle/>
          <a:p>
            <a:pPr indent="0" marL="0">
              <a:buNone/>
            </a:pPr>
            <a:r>
              <a:rPr lang="en-US" sz="2200" i="1" dirty="0">
                <a:solidFill>
                  <a:srgbClr val="1E2761"/>
                </a:solidFill>
                <a:latin typeface="Cambria" pitchFamily="34" charset="0"/>
                <a:ea typeface="Cambria" pitchFamily="34" charset="-122"/>
                <a:cs typeface="Cambria" pitchFamily="34" charset="-120"/>
              </a:rPr>
              <a:t>Ring a zero-second message back the same day. Somebody dialled you on purpose.</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Texts</a:t>
            </a:r>
            <a:endParaRPr lang="en-US" sz="3600" dirty="0"/>
          </a:p>
        </p:txBody>
      </p:sp>
      <p:sp>
        <p:nvSpPr>
          <p:cNvPr id="3" name="Text 1"/>
          <p:cNvSpPr txBox="1"/>
          <p:nvPr/>
        </p:nvSpPr>
        <p:spPr>
          <a:xfrm>
            <a:off x="731520" y="1207008"/>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The first one is written for you. Everything after it is yours.</a:t>
            </a:r>
            <a:endParaRPr lang="en-US" sz="1500" dirty="0"/>
          </a:p>
        </p:txBody>
      </p:sp>
      <p:sp>
        <p:nvSpPr>
          <p:cNvPr id="4" name="Shape 2"/>
          <p:cNvSpPr/>
          <p:nvPr/>
        </p:nvSpPr>
        <p:spPr>
          <a:xfrm>
            <a:off x="731520" y="1920240"/>
            <a:ext cx="10698480" cy="804672"/>
          </a:xfrm>
          <a:prstGeom prst="rect">
            <a:avLst/>
          </a:prstGeom>
          <a:solidFill>
            <a:srgbClr val="F4F6FB"/>
          </a:solidFill>
          <a:ln/>
        </p:spPr>
      </p:sp>
      <p:sp>
        <p:nvSpPr>
          <p:cNvPr id="5" name="Text 3"/>
          <p:cNvSpPr txBox="1"/>
          <p:nvPr/>
        </p:nvSpPr>
        <p:spPr>
          <a:xfrm>
            <a:off x="960120" y="1975104"/>
            <a:ext cx="3200400" cy="69494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The first message is fixed</a:t>
            </a:r>
            <a:endParaRPr lang="en-US" sz="1500" dirty="0"/>
          </a:p>
        </p:txBody>
      </p:sp>
      <p:sp>
        <p:nvSpPr>
          <p:cNvPr id="6" name="Text 4"/>
          <p:cNvSpPr txBox="1"/>
          <p:nvPr/>
        </p:nvSpPr>
        <p:spPr>
          <a:xfrm>
            <a:off x="4343400" y="1975104"/>
            <a:ext cx="6446520" cy="694944"/>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Your name, FieldQuo, your signup link, our mailing address, and “Reply STOP to opt out”. You cannot compose it, and that is what makes a first contact legal. Sent from the lead.</a:t>
            </a:r>
            <a:endParaRPr lang="en-US" sz="1250" dirty="0"/>
          </a:p>
        </p:txBody>
      </p:sp>
      <p:sp>
        <p:nvSpPr>
          <p:cNvPr id="7" name="Shape 5"/>
          <p:cNvSpPr/>
          <p:nvPr/>
        </p:nvSpPr>
        <p:spPr>
          <a:xfrm>
            <a:off x="731520" y="2843784"/>
            <a:ext cx="10698480" cy="804672"/>
          </a:xfrm>
          <a:prstGeom prst="rect">
            <a:avLst/>
          </a:prstGeom>
          <a:solidFill>
            <a:srgbClr val="F4F6FB"/>
          </a:solidFill>
          <a:ln/>
        </p:spPr>
      </p:sp>
      <p:sp>
        <p:nvSpPr>
          <p:cNvPr id="8" name="Text 6"/>
          <p:cNvSpPr txBox="1"/>
          <p:nvPr/>
        </p:nvSpPr>
        <p:spPr>
          <a:xfrm>
            <a:off x="960120" y="2898648"/>
            <a:ext cx="3200400" cy="69494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Then it is a conversation</a:t>
            </a:r>
            <a:endParaRPr lang="en-US" sz="1500" dirty="0"/>
          </a:p>
        </p:txBody>
      </p:sp>
      <p:sp>
        <p:nvSpPr>
          <p:cNvPr id="9" name="Text 7"/>
          <p:cNvSpPr txBox="1"/>
          <p:nvPr/>
        </p:nvSpPr>
        <p:spPr>
          <a:xfrm>
            <a:off x="4343400" y="2898648"/>
            <a:ext cx="6446520" cy="694944"/>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They write back, you reply in your own words, in a thread that looks like your phone. You cannot start a free-text thread with a stranger — the first message has to be the one above.</a:t>
            </a:r>
            <a:endParaRPr lang="en-US" sz="1250" dirty="0"/>
          </a:p>
        </p:txBody>
      </p:sp>
      <p:sp>
        <p:nvSpPr>
          <p:cNvPr id="10" name="Shape 8"/>
          <p:cNvSpPr/>
          <p:nvPr/>
        </p:nvSpPr>
        <p:spPr>
          <a:xfrm>
            <a:off x="731520" y="3767328"/>
            <a:ext cx="10698480" cy="804672"/>
          </a:xfrm>
          <a:prstGeom prst="rect">
            <a:avLst/>
          </a:prstGeom>
          <a:solidFill>
            <a:srgbClr val="F4F6FB"/>
          </a:solidFill>
          <a:ln/>
        </p:spPr>
      </p:sp>
      <p:sp>
        <p:nvSpPr>
          <p:cNvPr id="11" name="Text 9"/>
          <p:cNvSpPr txBox="1"/>
          <p:nvPr/>
        </p:nvSpPr>
        <p:spPr>
          <a:xfrm>
            <a:off x="960120" y="3822192"/>
            <a:ext cx="3200400" cy="69494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08:00 – 21:00, their clock</a:t>
            </a:r>
            <a:endParaRPr lang="en-US" sz="1500" dirty="0"/>
          </a:p>
        </p:txBody>
      </p:sp>
      <p:sp>
        <p:nvSpPr>
          <p:cNvPr id="12" name="Text 10"/>
          <p:cNvSpPr txBox="1"/>
          <p:nvPr/>
        </p:nvSpPr>
        <p:spPr>
          <a:xfrm>
            <a:off x="4343400" y="3822192"/>
            <a:ext cx="6446520" cy="694944"/>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Flat, every day. 20:59 is in and 21:00 is out. Different from the calling window on purpose: nothing in Canadian law times a commercial text, so what binds it is the US rule.</a:t>
            </a:r>
            <a:endParaRPr lang="en-US" sz="1250" dirty="0"/>
          </a:p>
        </p:txBody>
      </p:sp>
      <p:sp>
        <p:nvSpPr>
          <p:cNvPr id="13" name="Shape 11"/>
          <p:cNvSpPr/>
          <p:nvPr/>
        </p:nvSpPr>
        <p:spPr>
          <a:xfrm>
            <a:off x="731520" y="4690872"/>
            <a:ext cx="10698480" cy="804672"/>
          </a:xfrm>
          <a:prstGeom prst="rect">
            <a:avLst/>
          </a:prstGeom>
          <a:solidFill>
            <a:srgbClr val="F4F6FB"/>
          </a:solidFill>
          <a:ln/>
        </p:spPr>
      </p:sp>
      <p:sp>
        <p:nvSpPr>
          <p:cNvPr id="14" name="Text 12"/>
          <p:cNvSpPr txBox="1"/>
          <p:nvPr/>
        </p:nvSpPr>
        <p:spPr>
          <a:xfrm>
            <a:off x="960120" y="4745736"/>
            <a:ext cx="3200400" cy="69494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One number for the floor</a:t>
            </a:r>
            <a:endParaRPr lang="en-US" sz="1500" dirty="0"/>
          </a:p>
        </p:txBody>
      </p:sp>
      <p:sp>
        <p:nvSpPr>
          <p:cNvPr id="15" name="Text 13"/>
          <p:cNvSpPr txBox="1"/>
          <p:nvPr/>
        </p:nvSpPr>
        <p:spPr>
          <a:xfrm>
            <a:off x="4343400" y="4745736"/>
            <a:ext cx="6446520" cy="694944"/>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Texts go out on FieldQuo's sales number, not your own calling number. Your conversations are still yours — no other rep can read them.</a:t>
            </a:r>
            <a:endParaRPr lang="en-US" sz="1250" dirty="0"/>
          </a:p>
        </p:txBody>
      </p:sp>
      <p:sp>
        <p:nvSpPr>
          <p:cNvPr id="16" name="Shape 14"/>
          <p:cNvSpPr/>
          <p:nvPr/>
        </p:nvSpPr>
        <p:spPr>
          <a:xfrm>
            <a:off x="731520" y="5614416"/>
            <a:ext cx="10698480" cy="804672"/>
          </a:xfrm>
          <a:prstGeom prst="rect">
            <a:avLst/>
          </a:prstGeom>
          <a:solidFill>
            <a:srgbClr val="F4F6FB"/>
          </a:solidFill>
          <a:ln/>
        </p:spPr>
      </p:sp>
      <p:sp>
        <p:nvSpPr>
          <p:cNvPr id="17" name="Text 15"/>
          <p:cNvSpPr txBox="1"/>
          <p:nvPr/>
        </p:nvSpPr>
        <p:spPr>
          <a:xfrm>
            <a:off x="960120" y="5669280"/>
            <a:ext cx="3200400" cy="69494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Every refusal is the server's</a:t>
            </a:r>
            <a:endParaRPr lang="en-US" sz="1500" dirty="0"/>
          </a:p>
        </p:txBody>
      </p:sp>
      <p:sp>
        <p:nvSpPr>
          <p:cNvPr id="18" name="Text 16"/>
          <p:cNvSpPr txBox="1"/>
          <p:nvPr/>
        </p:nvSpPr>
        <p:spPr>
          <a:xfrm>
            <a:off x="4343400" y="5669280"/>
            <a:ext cx="6446520" cy="694944"/>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The compose box does not decide. Suppression, the window and the mailing address are all re-read at the moment you press send.</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You never have to remember who said stop</a:t>
            </a:r>
            <a:endParaRPr lang="en-US" sz="3600" dirty="0"/>
          </a:p>
        </p:txBody>
      </p:sp>
      <p:sp>
        <p:nvSpPr>
          <p:cNvPr id="3" name="Text 1"/>
          <p:cNvSpPr txBox="1"/>
          <p:nvPr/>
        </p:nvSpPr>
        <p:spPr>
          <a:xfrm>
            <a:off x="731520" y="1207008"/>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One list. Every channel. Read fresh at the moment of every send.</a:t>
            </a:r>
            <a:endParaRPr lang="en-US" sz="1500" dirty="0"/>
          </a:p>
        </p:txBody>
      </p:sp>
      <p:sp>
        <p:nvSpPr>
          <p:cNvPr id="4" name="Shape 2"/>
          <p:cNvSpPr/>
          <p:nvPr/>
        </p:nvSpPr>
        <p:spPr>
          <a:xfrm>
            <a:off x="731520" y="1874520"/>
            <a:ext cx="10698480" cy="1051560"/>
          </a:xfrm>
          <a:prstGeom prst="roundRect">
            <a:avLst>
              <a:gd name="adj" fmla="val 12174"/>
            </a:avLst>
          </a:prstGeom>
          <a:solidFill>
            <a:srgbClr val="1E2761"/>
          </a:solidFill>
          <a:ln/>
        </p:spPr>
      </p:sp>
      <p:sp>
        <p:nvSpPr>
          <p:cNvPr id="5" name="Text 3"/>
          <p:cNvSpPr txBox="1"/>
          <p:nvPr/>
        </p:nvSpPr>
        <p:spPr>
          <a:xfrm>
            <a:off x="1051560" y="1874520"/>
            <a:ext cx="1737360" cy="1051560"/>
          </a:xfrm>
          <a:prstGeom prst="rect">
            <a:avLst/>
          </a:prstGeom>
          <a:noFill/>
          <a:ln/>
        </p:spPr>
        <p:txBody>
          <a:bodyPr wrap="square" lIns="0" tIns="0" rIns="0" bIns="0" rtlCol="0" anchor="ctr"/>
          <a:lstStyle/>
          <a:p>
            <a:pPr indent="0" marL="0">
              <a:buNone/>
            </a:pPr>
            <a:r>
              <a:rPr lang="en-US" sz="3000" b="1" dirty="0">
                <a:solidFill>
                  <a:srgbClr val="C8A44D"/>
                </a:solidFill>
                <a:latin typeface="Cambria" pitchFamily="34" charset="0"/>
                <a:ea typeface="Cambria" pitchFamily="34" charset="-122"/>
                <a:cs typeface="Cambria" pitchFamily="34" charset="-120"/>
              </a:rPr>
              <a:t>STOP</a:t>
            </a:r>
            <a:endParaRPr lang="en-US" sz="3000" dirty="0"/>
          </a:p>
        </p:txBody>
      </p:sp>
      <p:sp>
        <p:nvSpPr>
          <p:cNvPr id="6" name="Text 4"/>
          <p:cNvSpPr txBox="1"/>
          <p:nvPr/>
        </p:nvSpPr>
        <p:spPr>
          <a:xfrm>
            <a:off x="2834640" y="1874520"/>
            <a:ext cx="548640" cy="1051560"/>
          </a:xfrm>
          <a:prstGeom prst="rect">
            <a:avLst/>
          </a:prstGeom>
          <a:noFill/>
          <a:ln/>
        </p:spPr>
        <p:txBody>
          <a:bodyPr wrap="square" lIns="0" tIns="0" rIns="0" bIns="0" rtlCol="0" anchor="ctr"/>
          <a:lstStyle/>
          <a:p>
            <a:pPr algn="ctr" indent="0" marL="0">
              <a:buNone/>
            </a:pPr>
            <a:r>
              <a:rPr lang="en-US" sz="2400" dirty="0">
                <a:solidFill>
                  <a:srgbClr val="CADCFC"/>
                </a:solidFill>
                <a:latin typeface="Calibri" pitchFamily="34" charset="0"/>
                <a:ea typeface="Calibri" pitchFamily="34" charset="-122"/>
                <a:cs typeface="Calibri" pitchFamily="34" charset="-120"/>
              </a:rPr>
              <a:t>→</a:t>
            </a:r>
            <a:endParaRPr lang="en-US" sz="2400" dirty="0"/>
          </a:p>
        </p:txBody>
      </p:sp>
      <p:sp>
        <p:nvSpPr>
          <p:cNvPr id="7" name="Shape 5"/>
          <p:cNvSpPr/>
          <p:nvPr/>
        </p:nvSpPr>
        <p:spPr>
          <a:xfrm>
            <a:off x="3474720" y="2103120"/>
            <a:ext cx="2377440" cy="594360"/>
          </a:xfrm>
          <a:prstGeom prst="roundRect">
            <a:avLst>
              <a:gd name="adj" fmla="val 15385"/>
            </a:avLst>
          </a:prstGeom>
          <a:solidFill>
            <a:srgbClr val="2A3A78"/>
          </a:solidFill>
          <a:ln/>
        </p:spPr>
      </p:sp>
      <p:sp>
        <p:nvSpPr>
          <p:cNvPr id="8" name="Text 6"/>
          <p:cNvSpPr txBox="1"/>
          <p:nvPr/>
        </p:nvSpPr>
        <p:spPr>
          <a:xfrm>
            <a:off x="3474720" y="2103120"/>
            <a:ext cx="237744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calls</a:t>
            </a:r>
            <a:endParaRPr lang="en-US" sz="1600" dirty="0"/>
          </a:p>
        </p:txBody>
      </p:sp>
      <p:sp>
        <p:nvSpPr>
          <p:cNvPr id="9" name="Shape 7"/>
          <p:cNvSpPr/>
          <p:nvPr/>
        </p:nvSpPr>
        <p:spPr>
          <a:xfrm>
            <a:off x="6126480" y="2103120"/>
            <a:ext cx="2377440" cy="594360"/>
          </a:xfrm>
          <a:prstGeom prst="roundRect">
            <a:avLst>
              <a:gd name="adj" fmla="val 15385"/>
            </a:avLst>
          </a:prstGeom>
          <a:solidFill>
            <a:srgbClr val="2A3A78"/>
          </a:solidFill>
          <a:ln/>
        </p:spPr>
      </p:sp>
      <p:sp>
        <p:nvSpPr>
          <p:cNvPr id="10" name="Text 8"/>
          <p:cNvSpPr txBox="1"/>
          <p:nvPr/>
        </p:nvSpPr>
        <p:spPr>
          <a:xfrm>
            <a:off x="6126480" y="2103120"/>
            <a:ext cx="237744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texts</a:t>
            </a:r>
            <a:endParaRPr lang="en-US" sz="1600" dirty="0"/>
          </a:p>
        </p:txBody>
      </p:sp>
      <p:sp>
        <p:nvSpPr>
          <p:cNvPr id="11" name="Shape 9"/>
          <p:cNvSpPr/>
          <p:nvPr/>
        </p:nvSpPr>
        <p:spPr>
          <a:xfrm>
            <a:off x="8778240" y="2103120"/>
            <a:ext cx="2377440" cy="594360"/>
          </a:xfrm>
          <a:prstGeom prst="roundRect">
            <a:avLst>
              <a:gd name="adj" fmla="val 15385"/>
            </a:avLst>
          </a:prstGeom>
          <a:solidFill>
            <a:srgbClr val="2A3A78"/>
          </a:solidFill>
          <a:ln/>
        </p:spPr>
      </p:sp>
      <p:sp>
        <p:nvSpPr>
          <p:cNvPr id="12" name="Text 10"/>
          <p:cNvSpPr txBox="1"/>
          <p:nvPr/>
        </p:nvSpPr>
        <p:spPr>
          <a:xfrm>
            <a:off x="8778240" y="2103120"/>
            <a:ext cx="237744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email</a:t>
            </a:r>
            <a:endParaRPr lang="en-US" sz="1600" dirty="0"/>
          </a:p>
        </p:txBody>
      </p:sp>
      <p:sp>
        <p:nvSpPr>
          <p:cNvPr id="13" name="Shape 11"/>
          <p:cNvSpPr/>
          <p:nvPr/>
        </p:nvSpPr>
        <p:spPr>
          <a:xfrm>
            <a:off x="731520" y="3200400"/>
            <a:ext cx="10698480" cy="960120"/>
          </a:xfrm>
          <a:prstGeom prst="rect">
            <a:avLst/>
          </a:prstGeom>
          <a:solidFill>
            <a:srgbClr val="F4F6FB"/>
          </a:solidFill>
          <a:ln/>
        </p:spPr>
      </p:sp>
      <p:sp>
        <p:nvSpPr>
          <p:cNvPr id="14" name="Text 12"/>
          <p:cNvSpPr txBox="1"/>
          <p:nvPr/>
        </p:nvSpPr>
        <p:spPr>
          <a:xfrm>
            <a:off x="960120" y="3255264"/>
            <a:ext cx="3291840" cy="85039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It lands the second it arrives</a:t>
            </a:r>
            <a:endParaRPr lang="en-US" sz="1500" dirty="0"/>
          </a:p>
        </p:txBody>
      </p:sp>
      <p:sp>
        <p:nvSpPr>
          <p:cNvPr id="15" name="Text 13"/>
          <p:cNvSpPr txBox="1"/>
          <p:nvPr/>
        </p:nvSpPr>
        <p:spPr>
          <a:xfrm>
            <a:off x="4434840" y="3255264"/>
            <a:ext cx="6355080" cy="850392"/>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A texted STOP is written across all three channels before anything else happens. So is “take me off your list” said on a call — pick that disposition and the same row is written, in the same transaction.</a:t>
            </a:r>
            <a:endParaRPr lang="en-US" sz="1250" dirty="0"/>
          </a:p>
        </p:txBody>
      </p:sp>
      <p:sp>
        <p:nvSpPr>
          <p:cNvPr id="16" name="Shape 14"/>
          <p:cNvSpPr/>
          <p:nvPr/>
        </p:nvSpPr>
        <p:spPr>
          <a:xfrm>
            <a:off x="731520" y="4279392"/>
            <a:ext cx="10698480" cy="960120"/>
          </a:xfrm>
          <a:prstGeom prst="rect">
            <a:avLst/>
          </a:prstGeom>
          <a:solidFill>
            <a:srgbClr val="F4F6FB"/>
          </a:solidFill>
          <a:ln/>
        </p:spPr>
      </p:sp>
      <p:sp>
        <p:nvSpPr>
          <p:cNvPr id="17" name="Text 15"/>
          <p:cNvSpPr txBox="1"/>
          <p:nvPr/>
        </p:nvSpPr>
        <p:spPr>
          <a:xfrm>
            <a:off x="960120" y="4334256"/>
            <a:ext cx="3291840" cy="85039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Nothing is deleted, ever</a:t>
            </a:r>
            <a:endParaRPr lang="en-US" sz="1500" dirty="0"/>
          </a:p>
        </p:txBody>
      </p:sp>
      <p:sp>
        <p:nvSpPr>
          <p:cNvPr id="18" name="Text 16"/>
          <p:cNvSpPr txBox="1"/>
          <p:nvPr/>
        </p:nvSpPr>
        <p:spPr>
          <a:xfrm>
            <a:off x="4434840" y="4334256"/>
            <a:ext cx="6355080" cy="850392"/>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Not by you, not by anybody. Lifting one takes a superadmin plus a written reason, and the evidence stays. So if a block looks wrong, say so rather than working around it.</a:t>
            </a:r>
            <a:endParaRPr lang="en-US" sz="1250" dirty="0"/>
          </a:p>
        </p:txBody>
      </p:sp>
      <p:sp>
        <p:nvSpPr>
          <p:cNvPr id="19" name="Shape 17"/>
          <p:cNvSpPr/>
          <p:nvPr/>
        </p:nvSpPr>
        <p:spPr>
          <a:xfrm>
            <a:off x="731520" y="5358384"/>
            <a:ext cx="10698480" cy="960120"/>
          </a:xfrm>
          <a:prstGeom prst="rect">
            <a:avLst/>
          </a:prstGeom>
          <a:solidFill>
            <a:srgbClr val="F4F6FB"/>
          </a:solidFill>
          <a:ln/>
        </p:spPr>
      </p:sp>
      <p:sp>
        <p:nvSpPr>
          <p:cNvPr id="20" name="Text 18"/>
          <p:cNvSpPr txBox="1"/>
          <p:nvPr/>
        </p:nvSpPr>
        <p:spPr>
          <a:xfrm>
            <a:off x="960120" y="5413248"/>
            <a:ext cx="3291840" cy="85039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One gap, and here it is</a:t>
            </a:r>
            <a:endParaRPr lang="en-US" sz="1500" dirty="0"/>
          </a:p>
        </p:txBody>
      </p:sp>
      <p:sp>
        <p:nvSpPr>
          <p:cNvPr id="21" name="Text 19"/>
          <p:cNvSpPr txBox="1"/>
          <p:nvPr/>
        </p:nvSpPr>
        <p:spPr>
          <a:xfrm>
            <a:off x="4434840" y="5413248"/>
            <a:ext cx="6355080" cy="850392"/>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The browser Call button refuses a suppressed number. The plain phone-link on the queue is gated on the prospect's own do-not-contact flag, not on the list. If you hear a stop, mark do-not-contact as well as texting nothing.</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731520" y="502920"/>
            <a:ext cx="2286000" cy="457200"/>
          </a:xfrm>
          <a:prstGeom prst="roundRect">
            <a:avLst>
              <a:gd name="adj" fmla="val 20000"/>
            </a:avLst>
          </a:prstGeom>
          <a:solidFill>
            <a:srgbClr val="C8A44D"/>
          </a:solidFill>
          <a:ln/>
        </p:spPr>
      </p:sp>
      <p:sp>
        <p:nvSpPr>
          <p:cNvPr id="3" name="Text 1"/>
          <p:cNvSpPr txBox="1"/>
          <p:nvPr/>
        </p:nvSpPr>
        <p:spPr>
          <a:xfrm>
            <a:off x="731520" y="502920"/>
            <a:ext cx="2286000" cy="457200"/>
          </a:xfrm>
          <a:prstGeom prst="rect">
            <a:avLst/>
          </a:prstGeom>
          <a:noFill/>
          <a:ln/>
        </p:spPr>
        <p:txBody>
          <a:bodyPr wrap="square" lIns="0" tIns="0" rIns="0" bIns="0" rtlCol="0" anchor="ctr"/>
          <a:lstStyle/>
          <a:p>
            <a:pPr algn="ctr" indent="0" marL="0">
              <a:buNone/>
            </a:pPr>
            <a:r>
              <a:rPr lang="en-US" sz="1400" b="1" spc="200" kern="0" dirty="0">
                <a:solidFill>
                  <a:srgbClr val="1E2761"/>
                </a:solidFill>
                <a:latin typeface="Calibri" pitchFamily="34" charset="0"/>
                <a:ea typeface="Calibri" pitchFamily="34" charset="-122"/>
                <a:cs typeface="Calibri" pitchFamily="34" charset="-120"/>
              </a:rPr>
              <a:t>PRACTICE 3</a:t>
            </a:r>
            <a:endParaRPr lang="en-US" sz="1400" dirty="0"/>
          </a:p>
        </p:txBody>
      </p:sp>
      <p:sp>
        <p:nvSpPr>
          <p:cNvPr id="4" name="Text 2"/>
          <p:cNvSpPr txBox="1"/>
          <p:nvPr/>
        </p:nvSpPr>
        <p:spPr>
          <a:xfrm>
            <a:off x="3291840" y="502920"/>
            <a:ext cx="8138160" cy="457200"/>
          </a:xfrm>
          <a:prstGeom prst="rect">
            <a:avLst/>
          </a:prstGeom>
          <a:noFill/>
          <a:ln/>
        </p:spPr>
        <p:txBody>
          <a:bodyPr wrap="square" lIns="0" tIns="0" rIns="0" bIns="0"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Say it out loud. Nobody types.</a:t>
            </a:r>
            <a:endParaRPr lang="en-US" sz="1400" dirty="0"/>
          </a:p>
        </p:txBody>
      </p:sp>
      <p:sp>
        <p:nvSpPr>
          <p:cNvPr id="5" name="Text 3"/>
          <p:cNvSpPr txBox="1"/>
          <p:nvPr/>
        </p:nvSpPr>
        <p:spPr>
          <a:xfrm>
            <a:off x="731520" y="1371600"/>
            <a:ext cx="10698480" cy="146304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You are ninety seconds in and going well. He cuts across you:</a:t>
            </a:r>
            <a:endParaRPr lang="en-US" sz="2800" dirty="0"/>
          </a:p>
          <a:p>
            <a:pPr indent="0" marL="0">
              <a:buNone/>
            </a:pPr>
            <a:r>
              <a:rPr lang="en-US" sz="2800" b="1" dirty="0">
                <a:solidFill>
                  <a:srgbClr val="FFFFFF"/>
                </a:solidFill>
                <a:latin typeface="Cambria" pitchFamily="34" charset="0"/>
                <a:ea typeface="Cambria" pitchFamily="34" charset="-122"/>
                <a:cs typeface="Cambria" pitchFamily="34" charset="-120"/>
              </a:rPr>
              <a:t>“Don't call me again.”</a:t>
            </a:r>
            <a:endParaRPr lang="en-US" sz="2800" dirty="0"/>
          </a:p>
        </p:txBody>
      </p:sp>
      <p:sp>
        <p:nvSpPr>
          <p:cNvPr id="6" name="Shape 4"/>
          <p:cNvSpPr/>
          <p:nvPr/>
        </p:nvSpPr>
        <p:spPr>
          <a:xfrm>
            <a:off x="731520" y="3200400"/>
            <a:ext cx="10698480" cy="1371600"/>
          </a:xfrm>
          <a:prstGeom prst="roundRect">
            <a:avLst>
              <a:gd name="adj" fmla="val 9333"/>
            </a:avLst>
          </a:prstGeom>
          <a:solidFill>
            <a:srgbClr val="2A3A78"/>
          </a:solidFill>
          <a:ln/>
        </p:spPr>
      </p:sp>
      <p:sp>
        <p:nvSpPr>
          <p:cNvPr id="7" name="Text 5"/>
          <p:cNvSpPr txBox="1"/>
          <p:nvPr/>
        </p:nvSpPr>
        <p:spPr>
          <a:xfrm>
            <a:off x="1097280" y="3200400"/>
            <a:ext cx="9966960" cy="13716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What do you say, and what do you press?</a:t>
            </a:r>
            <a:endParaRPr lang="en-US" sz="2000" dirty="0"/>
          </a:p>
        </p:txBody>
      </p:sp>
      <p:sp>
        <p:nvSpPr>
          <p:cNvPr id="8" name="Text 6"/>
          <p:cNvSpPr txBox="1"/>
          <p:nvPr/>
        </p:nvSpPr>
        <p:spPr>
          <a:xfrm>
            <a:off x="731520" y="4937760"/>
            <a:ext cx="10698480" cy="457200"/>
          </a:xfrm>
          <a:prstGeom prst="rect">
            <a:avLst/>
          </a:prstGeom>
          <a:noFill/>
          <a:ln/>
        </p:spPr>
        <p:txBody>
          <a:bodyPr wrap="square" rtlCol="0" anchor="ctr"/>
          <a:lstStyle/>
          <a:p>
            <a:pPr indent="0" marL="0">
              <a:buNone/>
            </a:pPr>
            <a:r>
              <a:rPr lang="en-US" sz="1400" i="1" dirty="0">
                <a:solidFill>
                  <a:srgbClr val="C8A44D"/>
                </a:solidFill>
                <a:latin typeface="Calibri" pitchFamily="34" charset="0"/>
                <a:ea typeface="Calibri" pitchFamily="34" charset="-122"/>
                <a:cs typeface="Calibri" pitchFamily="34" charset="-120"/>
              </a:rPr>
              <a:t>The answer is not on this slide. That is the point.</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731520" y="777240"/>
            <a:ext cx="10698480" cy="77724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Your second job starts the day they sign</a:t>
            </a:r>
            <a:endParaRPr lang="en-US" sz="3400" dirty="0"/>
          </a:p>
        </p:txBody>
      </p:sp>
      <p:sp>
        <p:nvSpPr>
          <p:cNvPr id="3" name="Text 1"/>
          <p:cNvSpPr txBox="1"/>
          <p:nvPr/>
        </p:nvSpPr>
        <p:spPr>
          <a:xfrm>
            <a:off x="731520" y="1572768"/>
            <a:ext cx="10698480" cy="457200"/>
          </a:xfrm>
          <a:prstGeom prst="rect">
            <a:avLst/>
          </a:prstGeom>
          <a:noFill/>
          <a:ln/>
        </p:spPr>
        <p:txBody>
          <a:bodyPr wrap="square" rtlCol="0" anchor="ctr"/>
          <a:lstStyle/>
          <a:p>
            <a:pPr indent="0" marL="0">
              <a:buNone/>
            </a:pPr>
            <a:r>
              <a:rPr lang="en-US" sz="1600" dirty="0">
                <a:solidFill>
                  <a:srgbClr val="CADCFC"/>
                </a:solidFill>
                <a:latin typeface="Calibri" pitchFamily="34" charset="0"/>
                <a:ea typeface="Calibri" pitchFamily="34" charset="-122"/>
                <a:cs typeface="Calibri" pitchFamily="34" charset="-120"/>
              </a:rPr>
              <a:t>A signup that cancels in five weeks pays you twice. One that is still there at day 60 pays you three times.</a:t>
            </a:r>
            <a:endParaRPr lang="en-US" sz="1600" dirty="0"/>
          </a:p>
        </p:txBody>
      </p:sp>
      <p:sp>
        <p:nvSpPr>
          <p:cNvPr id="4" name="Shape 2"/>
          <p:cNvSpPr/>
          <p:nvPr/>
        </p:nvSpPr>
        <p:spPr>
          <a:xfrm>
            <a:off x="731520" y="2377440"/>
            <a:ext cx="2514600" cy="2194560"/>
          </a:xfrm>
          <a:prstGeom prst="roundRect">
            <a:avLst>
              <a:gd name="adj" fmla="val 5833"/>
            </a:avLst>
          </a:prstGeom>
          <a:solidFill>
            <a:srgbClr val="2A3A78"/>
          </a:solidFill>
          <a:ln/>
        </p:spPr>
      </p:sp>
      <p:sp>
        <p:nvSpPr>
          <p:cNvPr id="5" name="Text 3"/>
          <p:cNvSpPr txBox="1"/>
          <p:nvPr/>
        </p:nvSpPr>
        <p:spPr>
          <a:xfrm>
            <a:off x="987552" y="2560320"/>
            <a:ext cx="2002536" cy="502920"/>
          </a:xfrm>
          <a:prstGeom prst="rect">
            <a:avLst/>
          </a:prstGeom>
          <a:noFill/>
          <a:ln/>
        </p:spPr>
        <p:txBody>
          <a:bodyPr wrap="square" lIns="0" tIns="0" rIns="0" bIns="0" rtlCol="0" anchor="ctr"/>
          <a:lstStyle/>
          <a:p>
            <a:pPr indent="0" marL="0">
              <a:buNone/>
            </a:pPr>
            <a:r>
              <a:rPr lang="en-US" sz="2400" b="1" dirty="0">
                <a:solidFill>
                  <a:srgbClr val="C8A44D"/>
                </a:solidFill>
                <a:latin typeface="Cambria" pitchFamily="34" charset="0"/>
                <a:ea typeface="Cambria" pitchFamily="34" charset="-122"/>
                <a:cs typeface="Cambria" pitchFamily="34" charset="-120"/>
              </a:rPr>
              <a:t>Day 0</a:t>
            </a:r>
            <a:endParaRPr lang="en-US" sz="2400" dirty="0"/>
          </a:p>
        </p:txBody>
      </p:sp>
      <p:sp>
        <p:nvSpPr>
          <p:cNvPr id="6" name="Text 4"/>
          <p:cNvSpPr txBox="1"/>
          <p:nvPr/>
        </p:nvSpPr>
        <p:spPr>
          <a:xfrm>
            <a:off x="987552" y="3108960"/>
            <a:ext cx="2002536" cy="128016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They sign up. Nothing to check in on yet — they have not used it.</a:t>
            </a:r>
            <a:endParaRPr lang="en-US" sz="1250" dirty="0"/>
          </a:p>
        </p:txBody>
      </p:sp>
      <p:sp>
        <p:nvSpPr>
          <p:cNvPr id="7" name="Shape 5"/>
          <p:cNvSpPr/>
          <p:nvPr/>
        </p:nvSpPr>
        <p:spPr>
          <a:xfrm>
            <a:off x="3429000" y="2377440"/>
            <a:ext cx="2514600" cy="2194560"/>
          </a:xfrm>
          <a:prstGeom prst="roundRect">
            <a:avLst>
              <a:gd name="adj" fmla="val 5833"/>
            </a:avLst>
          </a:prstGeom>
          <a:solidFill>
            <a:srgbClr val="2A3A78"/>
          </a:solidFill>
          <a:ln/>
        </p:spPr>
      </p:sp>
      <p:sp>
        <p:nvSpPr>
          <p:cNvPr id="8" name="Text 6"/>
          <p:cNvSpPr txBox="1"/>
          <p:nvPr/>
        </p:nvSpPr>
        <p:spPr>
          <a:xfrm>
            <a:off x="3685032" y="2560320"/>
            <a:ext cx="2002536" cy="502920"/>
          </a:xfrm>
          <a:prstGeom prst="rect">
            <a:avLst/>
          </a:prstGeom>
          <a:noFill/>
          <a:ln/>
        </p:spPr>
        <p:txBody>
          <a:bodyPr wrap="square" lIns="0" tIns="0" rIns="0" bIns="0" rtlCol="0" anchor="ctr"/>
          <a:lstStyle/>
          <a:p>
            <a:pPr indent="0" marL="0">
              <a:buNone/>
            </a:pPr>
            <a:r>
              <a:rPr lang="en-US" sz="2400" b="1" dirty="0">
                <a:solidFill>
                  <a:srgbClr val="C8A44D"/>
                </a:solidFill>
                <a:latin typeface="Cambria" pitchFamily="34" charset="0"/>
                <a:ea typeface="Cambria" pitchFamily="34" charset="-122"/>
                <a:cs typeface="Cambria" pitchFamily="34" charset="-120"/>
              </a:rPr>
              <a:t>Day 3</a:t>
            </a:r>
            <a:endParaRPr lang="en-US" sz="2400" dirty="0"/>
          </a:p>
        </p:txBody>
      </p:sp>
      <p:sp>
        <p:nvSpPr>
          <p:cNvPr id="9" name="Text 7"/>
          <p:cNvSpPr txBox="1"/>
          <p:nvPr/>
        </p:nvSpPr>
        <p:spPr>
          <a:xfrm>
            <a:off x="3685032" y="3108960"/>
            <a:ext cx="2002536" cy="128016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First check-in. Long enough that a first quote has either happened or conspicuously not happened.</a:t>
            </a:r>
            <a:endParaRPr lang="en-US" sz="1250" dirty="0"/>
          </a:p>
        </p:txBody>
      </p:sp>
      <p:sp>
        <p:nvSpPr>
          <p:cNvPr id="10" name="Shape 8"/>
          <p:cNvSpPr/>
          <p:nvPr/>
        </p:nvSpPr>
        <p:spPr>
          <a:xfrm>
            <a:off x="6126480" y="2377440"/>
            <a:ext cx="2514600" cy="2194560"/>
          </a:xfrm>
          <a:prstGeom prst="roundRect">
            <a:avLst>
              <a:gd name="adj" fmla="val 5833"/>
            </a:avLst>
          </a:prstGeom>
          <a:solidFill>
            <a:srgbClr val="2A3A78"/>
          </a:solidFill>
          <a:ln/>
        </p:spPr>
      </p:sp>
      <p:sp>
        <p:nvSpPr>
          <p:cNvPr id="11" name="Text 9"/>
          <p:cNvSpPr txBox="1"/>
          <p:nvPr/>
        </p:nvSpPr>
        <p:spPr>
          <a:xfrm>
            <a:off x="6382512" y="2560320"/>
            <a:ext cx="2002536" cy="502920"/>
          </a:xfrm>
          <a:prstGeom prst="rect">
            <a:avLst/>
          </a:prstGeom>
          <a:noFill/>
          <a:ln/>
        </p:spPr>
        <p:txBody>
          <a:bodyPr wrap="square" lIns="0" tIns="0" rIns="0" bIns="0" rtlCol="0" anchor="ctr"/>
          <a:lstStyle/>
          <a:p>
            <a:pPr indent="0" marL="0">
              <a:buNone/>
            </a:pPr>
            <a:r>
              <a:rPr lang="en-US" sz="2400" b="1" dirty="0">
                <a:solidFill>
                  <a:srgbClr val="C8A44D"/>
                </a:solidFill>
                <a:latin typeface="Cambria" pitchFamily="34" charset="0"/>
                <a:ea typeface="Cambria" pitchFamily="34" charset="-122"/>
                <a:cs typeface="Cambria" pitchFamily="34" charset="-120"/>
              </a:rPr>
              <a:t>Every ~15 days</a:t>
            </a:r>
            <a:endParaRPr lang="en-US" sz="2400" dirty="0"/>
          </a:p>
        </p:txBody>
      </p:sp>
      <p:sp>
        <p:nvSpPr>
          <p:cNvPr id="12" name="Text 10"/>
          <p:cNvSpPr txBox="1"/>
          <p:nvPr/>
        </p:nvSpPr>
        <p:spPr>
          <a:xfrm>
            <a:off x="6382512" y="3108960"/>
            <a:ext cx="2002536" cy="128016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The cadence guard. A quarter of the retention window, so you are attentive rather than nagging.</a:t>
            </a:r>
            <a:endParaRPr lang="en-US" sz="1250" dirty="0"/>
          </a:p>
        </p:txBody>
      </p:sp>
      <p:sp>
        <p:nvSpPr>
          <p:cNvPr id="13" name="Shape 11"/>
          <p:cNvSpPr/>
          <p:nvPr/>
        </p:nvSpPr>
        <p:spPr>
          <a:xfrm>
            <a:off x="8823960" y="2377440"/>
            <a:ext cx="2514600" cy="2194560"/>
          </a:xfrm>
          <a:prstGeom prst="roundRect">
            <a:avLst>
              <a:gd name="adj" fmla="val 5833"/>
            </a:avLst>
          </a:prstGeom>
          <a:solidFill>
            <a:srgbClr val="2A3A78"/>
          </a:solidFill>
          <a:ln/>
        </p:spPr>
      </p:sp>
      <p:sp>
        <p:nvSpPr>
          <p:cNvPr id="14" name="Text 12"/>
          <p:cNvSpPr txBox="1"/>
          <p:nvPr/>
        </p:nvSpPr>
        <p:spPr>
          <a:xfrm>
            <a:off x="9079992" y="2560320"/>
            <a:ext cx="2002536" cy="502920"/>
          </a:xfrm>
          <a:prstGeom prst="rect">
            <a:avLst/>
          </a:prstGeom>
          <a:noFill/>
          <a:ln/>
        </p:spPr>
        <p:txBody>
          <a:bodyPr wrap="square" lIns="0" tIns="0" rIns="0" bIns="0" rtlCol="0" anchor="ctr"/>
          <a:lstStyle/>
          <a:p>
            <a:pPr indent="0" marL="0">
              <a:buNone/>
            </a:pPr>
            <a:r>
              <a:rPr lang="en-US" sz="2400" b="1" dirty="0">
                <a:solidFill>
                  <a:srgbClr val="C8A44D"/>
                </a:solidFill>
                <a:latin typeface="Cambria" pitchFamily="34" charset="0"/>
                <a:ea typeface="Cambria" pitchFamily="34" charset="-122"/>
                <a:cs typeface="Cambria" pitchFamily="34" charset="-120"/>
              </a:rPr>
              <a:t>Day 60</a:t>
            </a:r>
            <a:endParaRPr lang="en-US" sz="2400" dirty="0"/>
          </a:p>
        </p:txBody>
      </p:sp>
      <p:sp>
        <p:nvSpPr>
          <p:cNvPr id="15" name="Text 13"/>
          <p:cNvSpPr txBox="1"/>
          <p:nvPr/>
        </p:nvSpPr>
        <p:spPr>
          <a:xfrm>
            <a:off x="9079992" y="3108960"/>
            <a:ext cx="2002536" cy="128016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The retention milestone. The third and largest commission, and the only one you can still influence.</a:t>
            </a:r>
            <a:endParaRPr lang="en-US" sz="1250" dirty="0"/>
          </a:p>
        </p:txBody>
      </p:sp>
      <p:sp>
        <p:nvSpPr>
          <p:cNvPr id="16" name="Text 14"/>
          <p:cNvSpPr txBox="1"/>
          <p:nvPr/>
        </p:nvSpPr>
        <p:spPr>
          <a:xfrm>
            <a:off x="731520" y="4892040"/>
            <a:ext cx="10698480" cy="640080"/>
          </a:xfrm>
          <a:prstGeom prst="rect">
            <a:avLst/>
          </a:prstGeom>
          <a:noFill/>
          <a:ln/>
        </p:spPr>
        <p:txBody>
          <a:bodyPr wrap="square" rtlCol="0" anchor="ctr"/>
          <a:lstStyle/>
          <a:p>
            <a:pPr indent="0" marL="0">
              <a:buNone/>
            </a:pPr>
            <a:r>
              <a:rPr lang="en-US" sz="1700" i="1" dirty="0">
                <a:solidFill>
                  <a:srgbClr val="CADCFC"/>
                </a:solidFill>
                <a:latin typeface="Cambria" pitchFamily="34" charset="0"/>
                <a:ea typeface="Cambria" pitchFamily="34" charset="-122"/>
                <a:cs typeface="Cambria" pitchFamily="34" charset="-120"/>
              </a:rPr>
              <a:t>The screen remembers all thirty companies for you, ranks them, and tells you WHY each one came up. You choose who to text and what to say.</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Why a company came up, ranked</a:t>
            </a:r>
            <a:endParaRPr lang="en-US" sz="3600" dirty="0"/>
          </a:p>
        </p:txBody>
      </p:sp>
      <p:sp>
        <p:nvSpPr>
          <p:cNvPr id="3" name="Text 1"/>
          <p:cNvSpPr txBox="1"/>
          <p:nvPr/>
        </p:nvSpPr>
        <p:spPr>
          <a:xfrm>
            <a:off x="731520" y="1207008"/>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Work the top of the list. A card failing today outranks a set-up step outstanding since Tuesday.</a:t>
            </a:r>
            <a:endParaRPr lang="en-US" sz="1500" dirty="0"/>
          </a:p>
        </p:txBody>
      </p:sp>
      <p:sp>
        <p:nvSpPr>
          <p:cNvPr id="4" name="Shape 2"/>
          <p:cNvSpPr/>
          <p:nvPr/>
        </p:nvSpPr>
        <p:spPr>
          <a:xfrm>
            <a:off x="731520" y="1920240"/>
            <a:ext cx="10698480" cy="429768"/>
          </a:xfrm>
          <a:prstGeom prst="rect">
            <a:avLst/>
          </a:prstGeom>
          <a:solidFill>
            <a:srgbClr val="F4F6FB"/>
          </a:solidFill>
          <a:ln/>
        </p:spPr>
      </p:sp>
      <p:sp>
        <p:nvSpPr>
          <p:cNvPr id="5" name="Shape 3"/>
          <p:cNvSpPr/>
          <p:nvPr/>
        </p:nvSpPr>
        <p:spPr>
          <a:xfrm>
            <a:off x="731520" y="1920240"/>
            <a:ext cx="109728" cy="429768"/>
          </a:xfrm>
          <a:prstGeom prst="rect">
            <a:avLst/>
          </a:prstGeom>
          <a:solidFill>
            <a:srgbClr val="8C2F39"/>
          </a:solidFill>
          <a:ln/>
        </p:spPr>
      </p:sp>
      <p:sp>
        <p:nvSpPr>
          <p:cNvPr id="6" name="Text 4"/>
          <p:cNvSpPr txBox="1"/>
          <p:nvPr/>
        </p:nvSpPr>
        <p:spPr>
          <a:xfrm>
            <a:off x="1051560" y="1920240"/>
            <a:ext cx="7772400" cy="429768"/>
          </a:xfrm>
          <a:prstGeom prst="rect">
            <a:avLst/>
          </a:prstGeom>
          <a:noFill/>
          <a:ln/>
        </p:spPr>
        <p:txBody>
          <a:bodyPr wrap="square" lIns="0" tIns="0" rIns="0" bIns="0" rtlCol="0" anchor="ctr"/>
          <a:lstStyle/>
          <a:p>
            <a:pPr indent="0" marL="0">
              <a:buNone/>
            </a:pPr>
            <a:r>
              <a:rPr lang="en-US" sz="1400" dirty="0">
                <a:solidFill>
                  <a:srgbClr val="1B1B1F"/>
                </a:solidFill>
                <a:latin typeface="Calibri" pitchFamily="34" charset="0"/>
                <a:ea typeface="Calibri" pitchFamily="34" charset="-122"/>
                <a:cs typeface="Calibri" pitchFamily="34" charset="-120"/>
              </a:rPr>
              <a:t>Their payment is failing</a:t>
            </a:r>
            <a:endParaRPr lang="en-US" sz="1400" dirty="0"/>
          </a:p>
        </p:txBody>
      </p:sp>
      <p:sp>
        <p:nvSpPr>
          <p:cNvPr id="7" name="Text 5"/>
          <p:cNvSpPr txBox="1"/>
          <p:nvPr/>
        </p:nvSpPr>
        <p:spPr>
          <a:xfrm>
            <a:off x="9144000" y="1920240"/>
            <a:ext cx="2011680" cy="429768"/>
          </a:xfrm>
          <a:prstGeom prst="rect">
            <a:avLst/>
          </a:prstGeom>
          <a:noFill/>
          <a:ln/>
        </p:spPr>
        <p:txBody>
          <a:bodyPr wrap="square" lIns="0" tIns="0" rIns="0" bIns="0" rtlCol="0" anchor="ctr"/>
          <a:lstStyle/>
          <a:p>
            <a:pPr algn="r" indent="0" marL="0">
              <a:buNone/>
            </a:pPr>
            <a:r>
              <a:rPr lang="en-US" sz="1500" b="1" dirty="0">
                <a:solidFill>
                  <a:srgbClr val="8C2F39"/>
                </a:solidFill>
                <a:latin typeface="Cambria" pitchFamily="34" charset="0"/>
                <a:ea typeface="Cambria" pitchFamily="34" charset="-122"/>
                <a:cs typeface="Cambria" pitchFamily="34" charset="-120"/>
              </a:rPr>
              <a:t>90</a:t>
            </a:r>
            <a:endParaRPr lang="en-US" sz="1500" dirty="0"/>
          </a:p>
        </p:txBody>
      </p:sp>
      <p:sp>
        <p:nvSpPr>
          <p:cNvPr id="8" name="Shape 6"/>
          <p:cNvSpPr/>
          <p:nvPr/>
        </p:nvSpPr>
        <p:spPr>
          <a:xfrm>
            <a:off x="731520" y="2423160"/>
            <a:ext cx="10698480" cy="429768"/>
          </a:xfrm>
          <a:prstGeom prst="rect">
            <a:avLst/>
          </a:prstGeom>
          <a:solidFill>
            <a:srgbClr val="F4F6FB"/>
          </a:solidFill>
          <a:ln/>
        </p:spPr>
      </p:sp>
      <p:sp>
        <p:nvSpPr>
          <p:cNvPr id="9" name="Shape 7"/>
          <p:cNvSpPr/>
          <p:nvPr/>
        </p:nvSpPr>
        <p:spPr>
          <a:xfrm>
            <a:off x="731520" y="2423160"/>
            <a:ext cx="109728" cy="429768"/>
          </a:xfrm>
          <a:prstGeom prst="rect">
            <a:avLst/>
          </a:prstGeom>
          <a:solidFill>
            <a:srgbClr val="8C2F39"/>
          </a:solidFill>
          <a:ln/>
        </p:spPr>
      </p:sp>
      <p:sp>
        <p:nvSpPr>
          <p:cNvPr id="10" name="Text 8"/>
          <p:cNvSpPr txBox="1"/>
          <p:nvPr/>
        </p:nvSpPr>
        <p:spPr>
          <a:xfrm>
            <a:off x="1051560" y="2423160"/>
            <a:ext cx="7772400" cy="429768"/>
          </a:xfrm>
          <a:prstGeom prst="rect">
            <a:avLst/>
          </a:prstGeom>
          <a:noFill/>
          <a:ln/>
        </p:spPr>
        <p:txBody>
          <a:bodyPr wrap="square" lIns="0" tIns="0" rIns="0" bIns="0" rtlCol="0" anchor="ctr"/>
          <a:lstStyle/>
          <a:p>
            <a:pPr indent="0" marL="0">
              <a:buNone/>
            </a:pPr>
            <a:r>
              <a:rPr lang="en-US" sz="1400" dirty="0">
                <a:solidFill>
                  <a:srgbClr val="1B1B1F"/>
                </a:solidFill>
                <a:latin typeface="Calibri" pitchFamily="34" charset="0"/>
                <a:ea typeface="Calibri" pitchFamily="34" charset="-122"/>
                <a:cs typeface="Calibri" pitchFamily="34" charset="-120"/>
              </a:rPr>
              <a:t>Their free period ends before day 60</a:t>
            </a:r>
            <a:endParaRPr lang="en-US" sz="1400" dirty="0"/>
          </a:p>
        </p:txBody>
      </p:sp>
      <p:sp>
        <p:nvSpPr>
          <p:cNvPr id="11" name="Text 9"/>
          <p:cNvSpPr txBox="1"/>
          <p:nvPr/>
        </p:nvSpPr>
        <p:spPr>
          <a:xfrm>
            <a:off x="9144000" y="2423160"/>
            <a:ext cx="2011680" cy="429768"/>
          </a:xfrm>
          <a:prstGeom prst="rect">
            <a:avLst/>
          </a:prstGeom>
          <a:noFill/>
          <a:ln/>
        </p:spPr>
        <p:txBody>
          <a:bodyPr wrap="square" lIns="0" tIns="0" rIns="0" bIns="0" rtlCol="0" anchor="ctr"/>
          <a:lstStyle/>
          <a:p>
            <a:pPr algn="r" indent="0" marL="0">
              <a:buNone/>
            </a:pPr>
            <a:r>
              <a:rPr lang="en-US" sz="1500" b="1" dirty="0">
                <a:solidFill>
                  <a:srgbClr val="8C2F39"/>
                </a:solidFill>
                <a:latin typeface="Cambria" pitchFamily="34" charset="0"/>
                <a:ea typeface="Cambria" pitchFamily="34" charset="-122"/>
                <a:cs typeface="Cambria" pitchFamily="34" charset="-120"/>
              </a:rPr>
              <a:t>80</a:t>
            </a:r>
            <a:endParaRPr lang="en-US" sz="1500" dirty="0"/>
          </a:p>
        </p:txBody>
      </p:sp>
      <p:sp>
        <p:nvSpPr>
          <p:cNvPr id="12" name="Shape 10"/>
          <p:cNvSpPr/>
          <p:nvPr/>
        </p:nvSpPr>
        <p:spPr>
          <a:xfrm>
            <a:off x="731520" y="2926080"/>
            <a:ext cx="10698480" cy="429768"/>
          </a:xfrm>
          <a:prstGeom prst="rect">
            <a:avLst/>
          </a:prstGeom>
          <a:solidFill>
            <a:srgbClr val="F4F6FB"/>
          </a:solidFill>
          <a:ln/>
        </p:spPr>
      </p:sp>
      <p:sp>
        <p:nvSpPr>
          <p:cNvPr id="13" name="Shape 11"/>
          <p:cNvSpPr/>
          <p:nvPr/>
        </p:nvSpPr>
        <p:spPr>
          <a:xfrm>
            <a:off x="731520" y="2926080"/>
            <a:ext cx="109728" cy="429768"/>
          </a:xfrm>
          <a:prstGeom prst="rect">
            <a:avLst/>
          </a:prstGeom>
          <a:solidFill>
            <a:srgbClr val="1E2761"/>
          </a:solidFill>
          <a:ln/>
        </p:spPr>
      </p:sp>
      <p:sp>
        <p:nvSpPr>
          <p:cNvPr id="14" name="Text 12"/>
          <p:cNvSpPr txBox="1"/>
          <p:nvPr/>
        </p:nvSpPr>
        <p:spPr>
          <a:xfrm>
            <a:off x="1051560" y="2926080"/>
            <a:ext cx="7772400" cy="429768"/>
          </a:xfrm>
          <a:prstGeom prst="rect">
            <a:avLst/>
          </a:prstGeom>
          <a:noFill/>
          <a:ln/>
        </p:spPr>
        <p:txBody>
          <a:bodyPr wrap="square" lIns="0" tIns="0" rIns="0" bIns="0" rtlCol="0" anchor="ctr"/>
          <a:lstStyle/>
          <a:p>
            <a:pPr indent="0" marL="0">
              <a:buNone/>
            </a:pPr>
            <a:r>
              <a:rPr lang="en-US" sz="1400" dirty="0">
                <a:solidFill>
                  <a:srgbClr val="1B1B1F"/>
                </a:solidFill>
                <a:latin typeface="Calibri" pitchFamily="34" charset="0"/>
                <a:ea typeface="Calibri" pitchFamily="34" charset="-122"/>
                <a:cs typeface="Calibri" pitchFamily="34" charset="-120"/>
              </a:rPr>
              <a:t>They cannot take a payment yet</a:t>
            </a:r>
            <a:endParaRPr lang="en-US" sz="1400" dirty="0"/>
          </a:p>
        </p:txBody>
      </p:sp>
      <p:sp>
        <p:nvSpPr>
          <p:cNvPr id="15" name="Text 13"/>
          <p:cNvSpPr txBox="1"/>
          <p:nvPr/>
        </p:nvSpPr>
        <p:spPr>
          <a:xfrm>
            <a:off x="9144000" y="2926080"/>
            <a:ext cx="2011680" cy="429768"/>
          </a:xfrm>
          <a:prstGeom prst="rect">
            <a:avLst/>
          </a:prstGeom>
          <a:noFill/>
          <a:ln/>
        </p:spPr>
        <p:txBody>
          <a:bodyPr wrap="square" lIns="0" tIns="0" rIns="0" bIns="0" rtlCol="0" anchor="ctr"/>
          <a:lstStyle/>
          <a:p>
            <a:pPr algn="r" indent="0" marL="0">
              <a:buNone/>
            </a:pPr>
            <a:r>
              <a:rPr lang="en-US" sz="1500" b="1" dirty="0">
                <a:solidFill>
                  <a:srgbClr val="1E2761"/>
                </a:solidFill>
                <a:latin typeface="Cambria" pitchFamily="34" charset="0"/>
                <a:ea typeface="Cambria" pitchFamily="34" charset="-122"/>
                <a:cs typeface="Cambria" pitchFamily="34" charset="-120"/>
              </a:rPr>
              <a:t>60</a:t>
            </a:r>
            <a:endParaRPr lang="en-US" sz="1500" dirty="0"/>
          </a:p>
        </p:txBody>
      </p:sp>
      <p:sp>
        <p:nvSpPr>
          <p:cNvPr id="16" name="Shape 14"/>
          <p:cNvSpPr/>
          <p:nvPr/>
        </p:nvSpPr>
        <p:spPr>
          <a:xfrm>
            <a:off x="731520" y="3429000"/>
            <a:ext cx="10698480" cy="429768"/>
          </a:xfrm>
          <a:prstGeom prst="rect">
            <a:avLst/>
          </a:prstGeom>
          <a:solidFill>
            <a:srgbClr val="F4F6FB"/>
          </a:solidFill>
          <a:ln/>
        </p:spPr>
      </p:sp>
      <p:sp>
        <p:nvSpPr>
          <p:cNvPr id="17" name="Shape 15"/>
          <p:cNvSpPr/>
          <p:nvPr/>
        </p:nvSpPr>
        <p:spPr>
          <a:xfrm>
            <a:off x="731520" y="3429000"/>
            <a:ext cx="109728" cy="429768"/>
          </a:xfrm>
          <a:prstGeom prst="rect">
            <a:avLst/>
          </a:prstGeom>
          <a:solidFill>
            <a:srgbClr val="1E2761"/>
          </a:solidFill>
          <a:ln/>
        </p:spPr>
      </p:sp>
      <p:sp>
        <p:nvSpPr>
          <p:cNvPr id="18" name="Text 16"/>
          <p:cNvSpPr txBox="1"/>
          <p:nvPr/>
        </p:nvSpPr>
        <p:spPr>
          <a:xfrm>
            <a:off x="1051560" y="3429000"/>
            <a:ext cx="7772400" cy="429768"/>
          </a:xfrm>
          <a:prstGeom prst="rect">
            <a:avLst/>
          </a:prstGeom>
          <a:noFill/>
          <a:ln/>
        </p:spPr>
        <p:txBody>
          <a:bodyPr wrap="square" lIns="0" tIns="0" rIns="0" bIns="0" rtlCol="0" anchor="ctr"/>
          <a:lstStyle/>
          <a:p>
            <a:pPr indent="0" marL="0">
              <a:buNone/>
            </a:pPr>
            <a:r>
              <a:rPr lang="en-US" sz="1400" dirty="0">
                <a:solidFill>
                  <a:srgbClr val="1B1B1F"/>
                </a:solidFill>
                <a:latin typeface="Calibri" pitchFamily="34" charset="0"/>
                <a:ea typeface="Calibri" pitchFamily="34" charset="-122"/>
                <a:cs typeface="Calibri" pitchFamily="34" charset="-120"/>
              </a:rPr>
              <a:t>They never finished onboarding</a:t>
            </a:r>
            <a:endParaRPr lang="en-US" sz="1400" dirty="0"/>
          </a:p>
        </p:txBody>
      </p:sp>
      <p:sp>
        <p:nvSpPr>
          <p:cNvPr id="19" name="Text 17"/>
          <p:cNvSpPr txBox="1"/>
          <p:nvPr/>
        </p:nvSpPr>
        <p:spPr>
          <a:xfrm>
            <a:off x="9144000" y="3429000"/>
            <a:ext cx="2011680" cy="429768"/>
          </a:xfrm>
          <a:prstGeom prst="rect">
            <a:avLst/>
          </a:prstGeom>
          <a:noFill/>
          <a:ln/>
        </p:spPr>
        <p:txBody>
          <a:bodyPr wrap="square" lIns="0" tIns="0" rIns="0" bIns="0" rtlCol="0" anchor="ctr"/>
          <a:lstStyle/>
          <a:p>
            <a:pPr algn="r" indent="0" marL="0">
              <a:buNone/>
            </a:pPr>
            <a:r>
              <a:rPr lang="en-US" sz="1500" b="1" dirty="0">
                <a:solidFill>
                  <a:srgbClr val="1E2761"/>
                </a:solidFill>
                <a:latin typeface="Cambria" pitchFamily="34" charset="0"/>
                <a:ea typeface="Cambria" pitchFamily="34" charset="-122"/>
                <a:cs typeface="Cambria" pitchFamily="34" charset="-120"/>
              </a:rPr>
              <a:t>55</a:t>
            </a:r>
            <a:endParaRPr lang="en-US" sz="1500" dirty="0"/>
          </a:p>
        </p:txBody>
      </p:sp>
      <p:sp>
        <p:nvSpPr>
          <p:cNvPr id="20" name="Shape 18"/>
          <p:cNvSpPr/>
          <p:nvPr/>
        </p:nvSpPr>
        <p:spPr>
          <a:xfrm>
            <a:off x="731520" y="3931920"/>
            <a:ext cx="10698480" cy="429768"/>
          </a:xfrm>
          <a:prstGeom prst="rect">
            <a:avLst/>
          </a:prstGeom>
          <a:solidFill>
            <a:srgbClr val="F4F6FB"/>
          </a:solidFill>
          <a:ln/>
        </p:spPr>
      </p:sp>
      <p:sp>
        <p:nvSpPr>
          <p:cNvPr id="21" name="Shape 19"/>
          <p:cNvSpPr/>
          <p:nvPr/>
        </p:nvSpPr>
        <p:spPr>
          <a:xfrm>
            <a:off x="731520" y="3931920"/>
            <a:ext cx="109728" cy="429768"/>
          </a:xfrm>
          <a:prstGeom prst="rect">
            <a:avLst/>
          </a:prstGeom>
          <a:solidFill>
            <a:srgbClr val="1E2761"/>
          </a:solidFill>
          <a:ln/>
        </p:spPr>
      </p:sp>
      <p:sp>
        <p:nvSpPr>
          <p:cNvPr id="22" name="Text 20"/>
          <p:cNvSpPr txBox="1"/>
          <p:nvPr/>
        </p:nvSpPr>
        <p:spPr>
          <a:xfrm>
            <a:off x="1051560" y="3931920"/>
            <a:ext cx="7772400" cy="429768"/>
          </a:xfrm>
          <a:prstGeom prst="rect">
            <a:avLst/>
          </a:prstGeom>
          <a:noFill/>
          <a:ln/>
        </p:spPr>
        <p:txBody>
          <a:bodyPr wrap="square" lIns="0" tIns="0" rIns="0" bIns="0" rtlCol="0" anchor="ctr"/>
          <a:lstStyle/>
          <a:p>
            <a:pPr indent="0" marL="0">
              <a:buNone/>
            </a:pPr>
            <a:r>
              <a:rPr lang="en-US" sz="1400" dirty="0">
                <a:solidFill>
                  <a:srgbClr val="1B1B1F"/>
                </a:solidFill>
                <a:latin typeface="Calibri" pitchFamily="34" charset="0"/>
                <a:ea typeface="Calibri" pitchFamily="34" charset="-122"/>
                <a:cs typeface="Calibri" pitchFamily="34" charset="-120"/>
              </a:rPr>
              <a:t>Set-up steps still open</a:t>
            </a:r>
            <a:endParaRPr lang="en-US" sz="1400" dirty="0"/>
          </a:p>
        </p:txBody>
      </p:sp>
      <p:sp>
        <p:nvSpPr>
          <p:cNvPr id="23" name="Text 21"/>
          <p:cNvSpPr txBox="1"/>
          <p:nvPr/>
        </p:nvSpPr>
        <p:spPr>
          <a:xfrm>
            <a:off x="9144000" y="3931920"/>
            <a:ext cx="2011680" cy="429768"/>
          </a:xfrm>
          <a:prstGeom prst="rect">
            <a:avLst/>
          </a:prstGeom>
          <a:noFill/>
          <a:ln/>
        </p:spPr>
        <p:txBody>
          <a:bodyPr wrap="square" lIns="0" tIns="0" rIns="0" bIns="0" rtlCol="0" anchor="ctr"/>
          <a:lstStyle/>
          <a:p>
            <a:pPr algn="r" indent="0" marL="0">
              <a:buNone/>
            </a:pPr>
            <a:r>
              <a:rPr lang="en-US" sz="1500" b="1" dirty="0">
                <a:solidFill>
                  <a:srgbClr val="1E2761"/>
                </a:solidFill>
                <a:latin typeface="Cambria" pitchFamily="34" charset="0"/>
                <a:ea typeface="Cambria" pitchFamily="34" charset="-122"/>
                <a:cs typeface="Cambria" pitchFamily="34" charset="-120"/>
              </a:rPr>
              <a:t>40</a:t>
            </a:r>
            <a:endParaRPr lang="en-US" sz="1500" dirty="0"/>
          </a:p>
        </p:txBody>
      </p:sp>
      <p:sp>
        <p:nvSpPr>
          <p:cNvPr id="24" name="Shape 22"/>
          <p:cNvSpPr/>
          <p:nvPr/>
        </p:nvSpPr>
        <p:spPr>
          <a:xfrm>
            <a:off x="731520" y="4434840"/>
            <a:ext cx="10698480" cy="429768"/>
          </a:xfrm>
          <a:prstGeom prst="rect">
            <a:avLst/>
          </a:prstGeom>
          <a:solidFill>
            <a:srgbClr val="F4F6FB"/>
          </a:solidFill>
          <a:ln/>
        </p:spPr>
      </p:sp>
      <p:sp>
        <p:nvSpPr>
          <p:cNvPr id="25" name="Shape 23"/>
          <p:cNvSpPr/>
          <p:nvPr/>
        </p:nvSpPr>
        <p:spPr>
          <a:xfrm>
            <a:off x="731520" y="4434840"/>
            <a:ext cx="109728" cy="429768"/>
          </a:xfrm>
          <a:prstGeom prst="rect">
            <a:avLst/>
          </a:prstGeom>
          <a:solidFill>
            <a:srgbClr val="1E2761"/>
          </a:solidFill>
          <a:ln/>
        </p:spPr>
      </p:sp>
      <p:sp>
        <p:nvSpPr>
          <p:cNvPr id="26" name="Text 24"/>
          <p:cNvSpPr txBox="1"/>
          <p:nvPr/>
        </p:nvSpPr>
        <p:spPr>
          <a:xfrm>
            <a:off x="1051560" y="4434840"/>
            <a:ext cx="7772400" cy="429768"/>
          </a:xfrm>
          <a:prstGeom prst="rect">
            <a:avLst/>
          </a:prstGeom>
          <a:noFill/>
          <a:ln/>
        </p:spPr>
        <p:txBody>
          <a:bodyPr wrap="square" lIns="0" tIns="0" rIns="0" bIns="0" rtlCol="0" anchor="ctr"/>
          <a:lstStyle/>
          <a:p>
            <a:pPr indent="0" marL="0">
              <a:buNone/>
            </a:pPr>
            <a:r>
              <a:rPr lang="en-US" sz="1400" dirty="0">
                <a:solidFill>
                  <a:srgbClr val="1B1B1F"/>
                </a:solidFill>
                <a:latin typeface="Calibri" pitchFamily="34" charset="0"/>
                <a:ea typeface="Calibri" pitchFamily="34" charset="-122"/>
                <a:cs typeface="Calibri" pitchFamily="34" charset="-120"/>
              </a:rPr>
              <a:t>The milestone is close</a:t>
            </a:r>
            <a:endParaRPr lang="en-US" sz="1400" dirty="0"/>
          </a:p>
        </p:txBody>
      </p:sp>
      <p:sp>
        <p:nvSpPr>
          <p:cNvPr id="27" name="Text 25"/>
          <p:cNvSpPr txBox="1"/>
          <p:nvPr/>
        </p:nvSpPr>
        <p:spPr>
          <a:xfrm>
            <a:off x="9144000" y="4434840"/>
            <a:ext cx="2011680" cy="429768"/>
          </a:xfrm>
          <a:prstGeom prst="rect">
            <a:avLst/>
          </a:prstGeom>
          <a:noFill/>
          <a:ln/>
        </p:spPr>
        <p:txBody>
          <a:bodyPr wrap="square" lIns="0" tIns="0" rIns="0" bIns="0" rtlCol="0" anchor="ctr"/>
          <a:lstStyle/>
          <a:p>
            <a:pPr algn="r" indent="0" marL="0">
              <a:buNone/>
            </a:pPr>
            <a:r>
              <a:rPr lang="en-US" sz="1500" b="1" dirty="0">
                <a:solidFill>
                  <a:srgbClr val="1E2761"/>
                </a:solidFill>
                <a:latin typeface="Cambria" pitchFamily="34" charset="0"/>
                <a:ea typeface="Cambria" pitchFamily="34" charset="-122"/>
                <a:cs typeface="Cambria" pitchFamily="34" charset="-120"/>
              </a:rPr>
              <a:t>35</a:t>
            </a:r>
            <a:endParaRPr lang="en-US" sz="1500" dirty="0"/>
          </a:p>
        </p:txBody>
      </p:sp>
      <p:sp>
        <p:nvSpPr>
          <p:cNvPr id="28" name="Shape 26"/>
          <p:cNvSpPr/>
          <p:nvPr/>
        </p:nvSpPr>
        <p:spPr>
          <a:xfrm>
            <a:off x="731520" y="4937760"/>
            <a:ext cx="10698480" cy="429768"/>
          </a:xfrm>
          <a:prstGeom prst="rect">
            <a:avLst/>
          </a:prstGeom>
          <a:solidFill>
            <a:srgbClr val="F4F6FB"/>
          </a:solidFill>
          <a:ln/>
        </p:spPr>
      </p:sp>
      <p:sp>
        <p:nvSpPr>
          <p:cNvPr id="29" name="Shape 27"/>
          <p:cNvSpPr/>
          <p:nvPr/>
        </p:nvSpPr>
        <p:spPr>
          <a:xfrm>
            <a:off x="731520" y="4937760"/>
            <a:ext cx="109728" cy="429768"/>
          </a:xfrm>
          <a:prstGeom prst="rect">
            <a:avLst/>
          </a:prstGeom>
          <a:solidFill>
            <a:srgbClr val="C8A44D"/>
          </a:solidFill>
          <a:ln/>
        </p:spPr>
      </p:sp>
      <p:sp>
        <p:nvSpPr>
          <p:cNvPr id="30" name="Text 28"/>
          <p:cNvSpPr txBox="1"/>
          <p:nvPr/>
        </p:nvSpPr>
        <p:spPr>
          <a:xfrm>
            <a:off x="1051560" y="4937760"/>
            <a:ext cx="7772400" cy="429768"/>
          </a:xfrm>
          <a:prstGeom prst="rect">
            <a:avLst/>
          </a:prstGeom>
          <a:noFill/>
          <a:ln/>
        </p:spPr>
        <p:txBody>
          <a:bodyPr wrap="square" lIns="0" tIns="0" rIns="0" bIns="0" rtlCol="0" anchor="ctr"/>
          <a:lstStyle/>
          <a:p>
            <a:pPr indent="0" marL="0">
              <a:buNone/>
            </a:pPr>
            <a:r>
              <a:rPr lang="en-US" sz="1400" dirty="0">
                <a:solidFill>
                  <a:srgbClr val="1B1B1F"/>
                </a:solidFill>
                <a:latin typeface="Calibri" pitchFamily="34" charset="0"/>
                <a:ea typeface="Calibri" pitchFamily="34" charset="-122"/>
                <a:cs typeface="Calibri" pitchFamily="34" charset="-120"/>
              </a:rPr>
              <a:t>We cannot see how they are doing</a:t>
            </a:r>
            <a:endParaRPr lang="en-US" sz="1400" dirty="0"/>
          </a:p>
        </p:txBody>
      </p:sp>
      <p:sp>
        <p:nvSpPr>
          <p:cNvPr id="31" name="Text 29"/>
          <p:cNvSpPr txBox="1"/>
          <p:nvPr/>
        </p:nvSpPr>
        <p:spPr>
          <a:xfrm>
            <a:off x="9144000" y="4937760"/>
            <a:ext cx="2011680" cy="429768"/>
          </a:xfrm>
          <a:prstGeom prst="rect">
            <a:avLst/>
          </a:prstGeom>
          <a:noFill/>
          <a:ln/>
        </p:spPr>
        <p:txBody>
          <a:bodyPr wrap="square" lIns="0" tIns="0" rIns="0" bIns="0" rtlCol="0" anchor="ctr"/>
          <a:lstStyle/>
          <a:p>
            <a:pPr algn="r" indent="0" marL="0">
              <a:buNone/>
            </a:pPr>
            <a:r>
              <a:rPr lang="en-US" sz="1500" b="1" dirty="0">
                <a:solidFill>
                  <a:srgbClr val="C8A44D"/>
                </a:solidFill>
                <a:latin typeface="Cambria" pitchFamily="34" charset="0"/>
                <a:ea typeface="Cambria" pitchFamily="34" charset="-122"/>
                <a:cs typeface="Cambria" pitchFamily="34" charset="-120"/>
              </a:rPr>
              <a:t>30</a:t>
            </a:r>
            <a:endParaRPr lang="en-US" sz="1500" dirty="0"/>
          </a:p>
        </p:txBody>
      </p:sp>
      <p:sp>
        <p:nvSpPr>
          <p:cNvPr id="32" name="Shape 30"/>
          <p:cNvSpPr/>
          <p:nvPr/>
        </p:nvSpPr>
        <p:spPr>
          <a:xfrm>
            <a:off x="731520" y="5440680"/>
            <a:ext cx="10698480" cy="429768"/>
          </a:xfrm>
          <a:prstGeom prst="rect">
            <a:avLst/>
          </a:prstGeom>
          <a:solidFill>
            <a:srgbClr val="F4F6FB"/>
          </a:solidFill>
          <a:ln/>
        </p:spPr>
      </p:sp>
      <p:sp>
        <p:nvSpPr>
          <p:cNvPr id="33" name="Shape 31"/>
          <p:cNvSpPr/>
          <p:nvPr/>
        </p:nvSpPr>
        <p:spPr>
          <a:xfrm>
            <a:off x="731520" y="5440680"/>
            <a:ext cx="109728" cy="429768"/>
          </a:xfrm>
          <a:prstGeom prst="rect">
            <a:avLst/>
          </a:prstGeom>
          <a:solidFill>
            <a:srgbClr val="5A6070"/>
          </a:solidFill>
          <a:ln/>
        </p:spPr>
      </p:sp>
      <p:sp>
        <p:nvSpPr>
          <p:cNvPr id="34" name="Text 32"/>
          <p:cNvSpPr txBox="1"/>
          <p:nvPr/>
        </p:nvSpPr>
        <p:spPr>
          <a:xfrm>
            <a:off x="1051560" y="5440680"/>
            <a:ext cx="7772400" cy="429768"/>
          </a:xfrm>
          <a:prstGeom prst="rect">
            <a:avLst/>
          </a:prstGeom>
          <a:noFill/>
          <a:ln/>
        </p:spPr>
        <p:txBody>
          <a:bodyPr wrap="square" lIns="0" tIns="0" rIns="0" bIns="0" rtlCol="0" anchor="ctr"/>
          <a:lstStyle/>
          <a:p>
            <a:pPr indent="0" marL="0">
              <a:buNone/>
            </a:pPr>
            <a:r>
              <a:rPr lang="en-US" sz="1400" dirty="0">
                <a:solidFill>
                  <a:srgbClr val="1B1B1F"/>
                </a:solidFill>
                <a:latin typeface="Calibri" pitchFamily="34" charset="0"/>
                <a:ea typeface="Calibri" pitchFamily="34" charset="-122"/>
                <a:cs typeface="Calibri" pitchFamily="34" charset="-120"/>
              </a:rPr>
              <a:t>Nothing looks wrong — say hello</a:t>
            </a:r>
            <a:endParaRPr lang="en-US" sz="1400" dirty="0"/>
          </a:p>
        </p:txBody>
      </p:sp>
      <p:sp>
        <p:nvSpPr>
          <p:cNvPr id="35" name="Text 33"/>
          <p:cNvSpPr txBox="1"/>
          <p:nvPr/>
        </p:nvSpPr>
        <p:spPr>
          <a:xfrm>
            <a:off x="9144000" y="5440680"/>
            <a:ext cx="2011680" cy="429768"/>
          </a:xfrm>
          <a:prstGeom prst="rect">
            <a:avLst/>
          </a:prstGeom>
          <a:noFill/>
          <a:ln/>
        </p:spPr>
        <p:txBody>
          <a:bodyPr wrap="square" lIns="0" tIns="0" rIns="0" bIns="0" rtlCol="0" anchor="ctr"/>
          <a:lstStyle/>
          <a:p>
            <a:pPr algn="r" indent="0" marL="0">
              <a:buNone/>
            </a:pPr>
            <a:r>
              <a:rPr lang="en-US" sz="1500" b="1" dirty="0">
                <a:solidFill>
                  <a:srgbClr val="5A6070"/>
                </a:solidFill>
                <a:latin typeface="Cambria" pitchFamily="34" charset="0"/>
                <a:ea typeface="Cambria" pitchFamily="34" charset="-122"/>
                <a:cs typeface="Cambria" pitchFamily="34" charset="-120"/>
              </a:rPr>
              <a:t>10</a:t>
            </a:r>
            <a:endParaRPr lang="en-US" sz="1500" dirty="0"/>
          </a:p>
        </p:txBody>
      </p:sp>
      <p:sp>
        <p:nvSpPr>
          <p:cNvPr id="36" name="Text 34"/>
          <p:cNvSpPr txBox="1"/>
          <p:nvPr/>
        </p:nvSpPr>
        <p:spPr>
          <a:xfrm>
            <a:off x="731520" y="5989320"/>
            <a:ext cx="10698480" cy="548640"/>
          </a:xfrm>
          <a:prstGeom prst="rect">
            <a:avLst/>
          </a:prstGeom>
          <a:noFill/>
          <a:ln/>
        </p:spPr>
        <p:txBody>
          <a:bodyPr wrap="square" rtlCol="0" anchor="ctr"/>
          <a:lstStyle/>
          <a:p>
            <a:pPr indent="0" marL="0">
              <a:buNone/>
            </a:pPr>
            <a:r>
              <a:rPr lang="en-US" sz="1350" i="1" dirty="0">
                <a:solidFill>
                  <a:srgbClr val="1E2761"/>
                </a:solidFill>
                <a:latin typeface="Calibri" pitchFamily="34" charset="0"/>
                <a:ea typeface="Calibri" pitchFamily="34" charset="-122"/>
                <a:cs typeface="Calibri" pitchFamily="34" charset="-120"/>
              </a:rPr>
              <a:t>“We cannot see how they are doing” sits ABOVE “nothing looks wrong”, deliberately. Not knowing is a worse place to be than knowing things are fine, and the order has to say so.</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The check-in text writes itself. You still send it.</a:t>
            </a:r>
            <a:endParaRPr lang="en-US" sz="3600" dirty="0"/>
          </a:p>
        </p:txBody>
      </p:sp>
      <p:sp>
        <p:nvSpPr>
          <p:cNvPr id="3" name="Text 1"/>
          <p:cNvSpPr txBox="1"/>
          <p:nvPr/>
        </p:nvSpPr>
        <p:spPr>
          <a:xfrm>
            <a:off x="731520" y="1207008"/>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A draft, in words, from facts we already read. Nothing sends on a schedule.</a:t>
            </a:r>
            <a:endParaRPr lang="en-US" sz="1500" dirty="0"/>
          </a:p>
        </p:txBody>
      </p:sp>
      <p:sp>
        <p:nvSpPr>
          <p:cNvPr id="4" name="Shape 2"/>
          <p:cNvSpPr/>
          <p:nvPr/>
        </p:nvSpPr>
        <p:spPr>
          <a:xfrm>
            <a:off x="731520" y="1920240"/>
            <a:ext cx="4937760" cy="2148840"/>
          </a:xfrm>
          <a:prstGeom prst="roundRect">
            <a:avLst>
              <a:gd name="adj" fmla="val 5957"/>
            </a:avLst>
          </a:prstGeom>
          <a:solidFill>
            <a:srgbClr val="F4F6FB"/>
          </a:solidFill>
          <a:ln/>
        </p:spPr>
      </p:sp>
      <p:sp>
        <p:nvSpPr>
          <p:cNvPr id="5" name="Text 3"/>
          <p:cNvSpPr txBox="1"/>
          <p:nvPr/>
        </p:nvSpPr>
        <p:spPr>
          <a:xfrm>
            <a:off x="1024128" y="2084832"/>
            <a:ext cx="4352544"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What it may do</a:t>
            </a:r>
            <a:endParaRPr lang="en-US" sz="1500" dirty="0"/>
          </a:p>
        </p:txBody>
      </p:sp>
      <p:sp>
        <p:nvSpPr>
          <p:cNvPr id="6" name="Text 4"/>
          <p:cNvSpPr txBox="1"/>
          <p:nvPr/>
        </p:nvSpPr>
        <p:spPr>
          <a:xfrm>
            <a:off x="1024128" y="2468880"/>
            <a:ext cx="4352544" cy="1371600"/>
          </a:xfrm>
          <a:prstGeom prst="rect">
            <a:avLst/>
          </a:prstGeom>
          <a:noFill/>
          <a:ln/>
        </p:spPr>
        <p:txBody>
          <a:bodyPr wrap="square" lIns="0" tIns="0" rIns="0" bIns="0" rtlCol="0" anchor="ctr"/>
          <a:lstStyle/>
          <a:p>
            <a:pPr indent="0" marL="0">
              <a:buNone/>
            </a:pPr>
            <a:r>
              <a:rPr lang="en-US" sz="1350" dirty="0">
                <a:solidFill>
                  <a:srgbClr val="5A6070"/>
                </a:solidFill>
                <a:latin typeface="Calibri" pitchFamily="34" charset="0"/>
                <a:ea typeface="Calibri" pitchFamily="34" charset="-122"/>
                <a:cs typeface="Calibri" pitchFamily="34" charset="-120"/>
              </a:rPr>
              <a:t>Say the same true things more like a person would say them.</a:t>
            </a:r>
            <a:endParaRPr lang="en-US" sz="1350" dirty="0"/>
          </a:p>
        </p:txBody>
      </p:sp>
      <p:sp>
        <p:nvSpPr>
          <p:cNvPr id="7" name="Shape 5"/>
          <p:cNvSpPr/>
          <p:nvPr/>
        </p:nvSpPr>
        <p:spPr>
          <a:xfrm>
            <a:off x="6492240" y="1920240"/>
            <a:ext cx="4937760" cy="2148840"/>
          </a:xfrm>
          <a:prstGeom prst="roundRect">
            <a:avLst>
              <a:gd name="adj" fmla="val 5957"/>
            </a:avLst>
          </a:prstGeom>
          <a:solidFill>
            <a:srgbClr val="F4F6FB"/>
          </a:solidFill>
          <a:ln/>
        </p:spPr>
      </p:sp>
      <p:sp>
        <p:nvSpPr>
          <p:cNvPr id="8" name="Text 6"/>
          <p:cNvSpPr txBox="1"/>
          <p:nvPr/>
        </p:nvSpPr>
        <p:spPr>
          <a:xfrm>
            <a:off x="6784848" y="2084832"/>
            <a:ext cx="4352544" cy="365760"/>
          </a:xfrm>
          <a:prstGeom prst="rect">
            <a:avLst/>
          </a:prstGeom>
          <a:noFill/>
          <a:ln/>
        </p:spPr>
        <p:txBody>
          <a:bodyPr wrap="square" lIns="0" tIns="0" rIns="0" bIns="0" rtlCol="0" anchor="ctr"/>
          <a:lstStyle/>
          <a:p>
            <a:pPr indent="0" marL="0">
              <a:buNone/>
            </a:pPr>
            <a:r>
              <a:rPr lang="en-US" sz="1500" b="1" dirty="0">
                <a:solidFill>
                  <a:srgbClr val="8C2F39"/>
                </a:solidFill>
                <a:latin typeface="Calibri" pitchFamily="34" charset="0"/>
                <a:ea typeface="Calibri" pitchFamily="34" charset="-122"/>
                <a:cs typeface="Calibri" pitchFamily="34" charset="-120"/>
              </a:rPr>
              <a:t>What it may not do</a:t>
            </a:r>
            <a:endParaRPr lang="en-US" sz="1500" dirty="0"/>
          </a:p>
        </p:txBody>
      </p:sp>
      <p:sp>
        <p:nvSpPr>
          <p:cNvPr id="9" name="Text 7"/>
          <p:cNvSpPr txBox="1"/>
          <p:nvPr/>
        </p:nvSpPr>
        <p:spPr>
          <a:xfrm>
            <a:off x="6784848" y="2468880"/>
            <a:ext cx="4352544" cy="1463040"/>
          </a:xfrm>
          <a:prstGeom prst="rect">
            <a:avLst/>
          </a:prstGeom>
          <a:noFill/>
          <a:ln/>
        </p:spPr>
        <p:txBody>
          <a:bodyPr wrap="square" lIns="0" tIns="0" rIns="0" bIns="0" rtlCol="0" anchor="ctr"/>
          <a:lstStyle/>
          <a:p>
            <a:pPr indent="0" marL="0">
              <a:buNone/>
            </a:pPr>
            <a:r>
              <a:rPr lang="en-US" sz="1300" dirty="0">
                <a:solidFill>
                  <a:srgbClr val="5A6070"/>
                </a:solidFill>
                <a:latin typeface="Calibri" pitchFamily="34" charset="0"/>
                <a:ea typeface="Calibri" pitchFamily="34" charset="-122"/>
                <a:cs typeface="Calibri" pitchFamily="34" charset="-120"/>
              </a:rPr>
              <a:t>Add a number, a price, a link or an emoji. A model that decides they have “3 quotes waiting” has invented a fact about somebody's business — and you would send it, because it reads exactly like the true ones.</a:t>
            </a:r>
            <a:endParaRPr lang="en-US" sz="1300" dirty="0"/>
          </a:p>
        </p:txBody>
      </p:sp>
      <p:sp>
        <p:nvSpPr>
          <p:cNvPr id="10" name="Shape 8"/>
          <p:cNvSpPr/>
          <p:nvPr/>
        </p:nvSpPr>
        <p:spPr>
          <a:xfrm>
            <a:off x="731520" y="4343400"/>
            <a:ext cx="10698480" cy="777240"/>
          </a:xfrm>
          <a:prstGeom prst="rect">
            <a:avLst/>
          </a:prstGeom>
          <a:solidFill>
            <a:srgbClr val="F4F6FB"/>
          </a:solidFill>
          <a:ln/>
        </p:spPr>
      </p:sp>
      <p:sp>
        <p:nvSpPr>
          <p:cNvPr id="11" name="Text 9"/>
          <p:cNvSpPr txBox="1"/>
          <p:nvPr/>
        </p:nvSpPr>
        <p:spPr>
          <a:xfrm>
            <a:off x="960120" y="4398264"/>
            <a:ext cx="3566160" cy="66751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Refused, or the model is down?</a:t>
            </a:r>
            <a:endParaRPr lang="en-US" sz="1500" dirty="0"/>
          </a:p>
        </p:txBody>
      </p:sp>
      <p:sp>
        <p:nvSpPr>
          <p:cNvPr id="12" name="Text 10"/>
          <p:cNvSpPr txBox="1"/>
          <p:nvPr/>
        </p:nvSpPr>
        <p:spPr>
          <a:xfrm>
            <a:off x="4709160" y="4398264"/>
            <a:ext cx="6080760" cy="667512"/>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You get the plain version. The worst outcome is duller wording, never an empty box.</a:t>
            </a:r>
            <a:endParaRPr lang="en-US" sz="1250" dirty="0"/>
          </a:p>
        </p:txBody>
      </p:sp>
      <p:sp>
        <p:nvSpPr>
          <p:cNvPr id="13" name="Shape 11"/>
          <p:cNvSpPr/>
          <p:nvPr/>
        </p:nvSpPr>
        <p:spPr>
          <a:xfrm>
            <a:off x="731520" y="5239512"/>
            <a:ext cx="10698480" cy="777240"/>
          </a:xfrm>
          <a:prstGeom prst="rect">
            <a:avLst/>
          </a:prstGeom>
          <a:solidFill>
            <a:srgbClr val="F4F6FB"/>
          </a:solidFill>
          <a:ln/>
        </p:spPr>
      </p:sp>
      <p:sp>
        <p:nvSpPr>
          <p:cNvPr id="14" name="Text 12"/>
          <p:cNvSpPr txBox="1"/>
          <p:nvPr/>
        </p:nvSpPr>
        <p:spPr>
          <a:xfrm>
            <a:off x="960120" y="5294376"/>
            <a:ext cx="3566160" cy="66751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Read it before you send it</a:t>
            </a:r>
            <a:endParaRPr lang="en-US" sz="1500" dirty="0"/>
          </a:p>
        </p:txBody>
      </p:sp>
      <p:sp>
        <p:nvSpPr>
          <p:cNvPr id="15" name="Text 13"/>
          <p:cNvSpPr txBox="1"/>
          <p:nvPr/>
        </p:nvSpPr>
        <p:spPr>
          <a:xfrm>
            <a:off x="4709160" y="5294376"/>
            <a:ext cx="6080760" cy="667512"/>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It is a draft with your name going out on it. Edit it. The screen expects you to.</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When it is broken, not when it is a question</a:t>
            </a:r>
            <a:endParaRPr lang="en-US" sz="3600" dirty="0"/>
          </a:p>
        </p:txBody>
      </p:sp>
      <p:sp>
        <p:nvSpPr>
          <p:cNvPr id="3" name="Text 1"/>
          <p:cNvSpPr txBox="1"/>
          <p:nvPr/>
        </p:nvSpPr>
        <p:spPr>
          <a:xfrm>
            <a:off x="731520" y="1207008"/>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/sales/support — a ticket about one of YOUR companies, with a thread you can follow.</a:t>
            </a:r>
            <a:endParaRPr lang="en-US" sz="1500" dirty="0"/>
          </a:p>
        </p:txBody>
      </p:sp>
      <p:sp>
        <p:nvSpPr>
          <p:cNvPr id="4" name="Shape 2"/>
          <p:cNvSpPr/>
          <p:nvPr/>
        </p:nvSpPr>
        <p:spPr>
          <a:xfrm>
            <a:off x="731520" y="1965960"/>
            <a:ext cx="10698480" cy="914400"/>
          </a:xfrm>
          <a:prstGeom prst="rect">
            <a:avLst/>
          </a:prstGeom>
          <a:solidFill>
            <a:srgbClr val="F4F6FB"/>
          </a:solidFill>
          <a:ln/>
        </p:spPr>
      </p:sp>
      <p:sp>
        <p:nvSpPr>
          <p:cNvPr id="5" name="Text 3"/>
          <p:cNvSpPr txBox="1"/>
          <p:nvPr/>
        </p:nvSpPr>
        <p:spPr>
          <a:xfrm>
            <a:off x="960120" y="2020824"/>
            <a:ext cx="3291840" cy="80467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Only your own book</a:t>
            </a:r>
            <a:endParaRPr lang="en-US" sz="1500" dirty="0"/>
          </a:p>
        </p:txBody>
      </p:sp>
      <p:sp>
        <p:nvSpPr>
          <p:cNvPr id="6" name="Text 4"/>
          <p:cNvSpPr txBox="1"/>
          <p:nvPr/>
        </p:nvSpPr>
        <p:spPr>
          <a:xfrm>
            <a:off x="4434840" y="2020824"/>
            <a:ext cx="6355080" cy="804672"/>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You raise a ticket about a company attributed to you. The server re-reads that attribution before it writes anything — the company id you send is a request, not a grant.</a:t>
            </a:r>
            <a:endParaRPr lang="en-US" sz="1250" dirty="0"/>
          </a:p>
        </p:txBody>
      </p:sp>
      <p:sp>
        <p:nvSpPr>
          <p:cNvPr id="7" name="Shape 5"/>
          <p:cNvSpPr/>
          <p:nvPr/>
        </p:nvSpPr>
        <p:spPr>
          <a:xfrm>
            <a:off x="731520" y="2999232"/>
            <a:ext cx="10698480" cy="914400"/>
          </a:xfrm>
          <a:prstGeom prst="rect">
            <a:avLst/>
          </a:prstGeom>
          <a:solidFill>
            <a:srgbClr val="F4F6FB"/>
          </a:solidFill>
          <a:ln/>
        </p:spPr>
      </p:sp>
      <p:sp>
        <p:nvSpPr>
          <p:cNvPr id="8" name="Text 6"/>
          <p:cNvSpPr txBox="1"/>
          <p:nvPr/>
        </p:nvSpPr>
        <p:spPr>
          <a:xfrm>
            <a:off x="960120" y="3054096"/>
            <a:ext cx="3291840" cy="80467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Say how urgent it is</a:t>
            </a:r>
            <a:endParaRPr lang="en-US" sz="1500" dirty="0"/>
          </a:p>
        </p:txBody>
      </p:sp>
      <p:sp>
        <p:nvSpPr>
          <p:cNvPr id="9" name="Text 7"/>
          <p:cNvSpPr txBox="1"/>
          <p:nvPr/>
        </p:nvSpPr>
        <p:spPr>
          <a:xfrm>
            <a:off x="4434840" y="3054096"/>
            <a:ext cx="6355080" cy="804672"/>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Low, normal, high, urgent. Leave it out and it is normal. Send something we do not recognise and it is refused rather than quietly downgraded to normal.</a:t>
            </a:r>
            <a:endParaRPr lang="en-US" sz="1250" dirty="0"/>
          </a:p>
        </p:txBody>
      </p:sp>
      <p:sp>
        <p:nvSpPr>
          <p:cNvPr id="10" name="Shape 8"/>
          <p:cNvSpPr/>
          <p:nvPr/>
        </p:nvSpPr>
        <p:spPr>
          <a:xfrm>
            <a:off x="731520" y="4032504"/>
            <a:ext cx="10698480" cy="914400"/>
          </a:xfrm>
          <a:prstGeom prst="rect">
            <a:avLst/>
          </a:prstGeom>
          <a:solidFill>
            <a:srgbClr val="F4F6FB"/>
          </a:solidFill>
          <a:ln/>
        </p:spPr>
      </p:sp>
      <p:sp>
        <p:nvSpPr>
          <p:cNvPr id="11" name="Text 9"/>
          <p:cNvSpPr txBox="1"/>
          <p:nvPr/>
        </p:nvSpPr>
        <p:spPr>
          <a:xfrm>
            <a:off x="960120" y="4087368"/>
            <a:ext cx="3291840" cy="80467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It tells you if nobody is on it</a:t>
            </a:r>
            <a:endParaRPr lang="en-US" sz="1500" dirty="0"/>
          </a:p>
        </p:txBody>
      </p:sp>
      <p:sp>
        <p:nvSpPr>
          <p:cNvPr id="12" name="Text 10"/>
          <p:cNvSpPr txBox="1"/>
          <p:nvPr/>
        </p:nvSpPr>
        <p:spPr>
          <a:xfrm>
            <a:off x="4434840" y="4087368"/>
            <a:ext cx="6355080" cy="804672"/>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“Recorded, nobody assigned yet” is a real answer and the screen says it in words. A ticket that showed “Open” either way would be the reassuring lie this channel exists to stop.</a:t>
            </a:r>
            <a:endParaRPr lang="en-US" sz="1250" dirty="0"/>
          </a:p>
        </p:txBody>
      </p:sp>
      <p:sp>
        <p:nvSpPr>
          <p:cNvPr id="13" name="Shape 11"/>
          <p:cNvSpPr/>
          <p:nvPr/>
        </p:nvSpPr>
        <p:spPr>
          <a:xfrm>
            <a:off x="731520" y="5065776"/>
            <a:ext cx="10698480" cy="914400"/>
          </a:xfrm>
          <a:prstGeom prst="rect">
            <a:avLst/>
          </a:prstGeom>
          <a:solidFill>
            <a:srgbClr val="F4F6FB"/>
          </a:solidFill>
          <a:ln/>
        </p:spPr>
      </p:sp>
      <p:sp>
        <p:nvSpPr>
          <p:cNvPr id="14" name="Text 12"/>
          <p:cNvSpPr txBox="1"/>
          <p:nvPr/>
        </p:nvSpPr>
        <p:spPr>
          <a:xfrm>
            <a:off x="960120" y="5120640"/>
            <a:ext cx="3291840" cy="804672"/>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Three states, and no fourth</a:t>
            </a:r>
            <a:endParaRPr lang="en-US" sz="1500" dirty="0"/>
          </a:p>
        </p:txBody>
      </p:sp>
      <p:sp>
        <p:nvSpPr>
          <p:cNvPr id="15" name="Text 13"/>
          <p:cNvSpPr txBox="1"/>
          <p:nvPr/>
        </p:nvSpPr>
        <p:spPr>
          <a:xfrm>
            <a:off x="4434840" y="5120640"/>
            <a:ext cx="6355080" cy="804672"/>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Open, in progress, resolved. Something that turns out not to be fixed is reopened rather than replaced by a second ticket that loses the first one's history.</a:t>
            </a:r>
            <a:endParaRPr lang="en-US" sz="1250" dirty="0"/>
          </a:p>
        </p:txBody>
      </p:sp>
      <p:sp>
        <p:nvSpPr>
          <p:cNvPr id="16" name="Text 14"/>
          <p:cNvSpPr txBox="1"/>
          <p:nvPr/>
        </p:nvSpPr>
        <p:spPr>
          <a:xfrm>
            <a:off x="731520" y="6126480"/>
            <a:ext cx="10698480" cy="457200"/>
          </a:xfrm>
          <a:prstGeom prst="rect">
            <a:avLst/>
          </a:prstGeom>
          <a:noFill/>
          <a:ln/>
        </p:spPr>
        <p:txBody>
          <a:bodyPr wrap="square" rtlCol="0" anchor="ctr"/>
          <a:lstStyle/>
          <a:p>
            <a:pPr indent="0" marL="0">
              <a:buNone/>
            </a:pPr>
            <a:r>
              <a:rPr lang="en-US" sz="1700" i="1" dirty="0">
                <a:solidFill>
                  <a:srgbClr val="1E2761"/>
                </a:solidFill>
                <a:latin typeface="Cambria" pitchFamily="34" charset="0"/>
                <a:ea typeface="Cambria" pitchFamily="34" charset="-122"/>
                <a:cs typeface="Cambria" pitchFamily="34" charset="-120"/>
              </a:rPr>
              <a:t>Raise it while you are still on the phone with them. A problem you meant to write up after lunch is a problem the contractor reported to nobody.</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Where the money comes from</a:t>
            </a:r>
            <a:endParaRPr lang="en-US" sz="3600" dirty="0"/>
          </a:p>
        </p:txBody>
      </p:sp>
      <p:sp>
        <p:nvSpPr>
          <p:cNvPr id="3" name="Text 1"/>
          <p:cNvSpPr txBox="1"/>
          <p:nvPr/>
        </p:nvSpPr>
        <p:spPr>
          <a:xfrm>
            <a:off x="731520" y="1207008"/>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One slide. There is a whole deck on this and we will go through it properly.</a:t>
            </a:r>
            <a:endParaRPr lang="en-US" sz="1500" dirty="0"/>
          </a:p>
        </p:txBody>
      </p:sp>
      <p:sp>
        <p:nvSpPr>
          <p:cNvPr id="4" name="Shape 2"/>
          <p:cNvSpPr/>
          <p:nvPr/>
        </p:nvSpPr>
        <p:spPr>
          <a:xfrm>
            <a:off x="731520" y="1965960"/>
            <a:ext cx="3383280" cy="1463040"/>
          </a:xfrm>
          <a:prstGeom prst="roundRect">
            <a:avLst>
              <a:gd name="adj" fmla="val 8750"/>
            </a:avLst>
          </a:prstGeom>
          <a:solidFill>
            <a:srgbClr val="F4F6FB"/>
          </a:solidFill>
          <a:ln/>
        </p:spPr>
      </p:sp>
      <p:sp>
        <p:nvSpPr>
          <p:cNvPr id="5" name="Text 3"/>
          <p:cNvSpPr txBox="1"/>
          <p:nvPr/>
        </p:nvSpPr>
        <p:spPr>
          <a:xfrm>
            <a:off x="1005840" y="2148840"/>
            <a:ext cx="2834640" cy="365760"/>
          </a:xfrm>
          <a:prstGeom prst="rect">
            <a:avLst/>
          </a:prstGeom>
          <a:noFill/>
          <a:ln/>
        </p:spPr>
        <p:txBody>
          <a:bodyPr wrap="square" lIns="0" tIns="0" rIns="0" bIns="0" rtlCol="0" anchor="ctr"/>
          <a:lstStyle/>
          <a:p>
            <a:pPr indent="0" marL="0">
              <a:buNone/>
            </a:pPr>
            <a:r>
              <a:rPr lang="en-US" sz="1300" b="1" spc="100" kern="0" dirty="0">
                <a:solidFill>
                  <a:srgbClr val="C8A44D"/>
                </a:solidFill>
                <a:latin typeface="Calibri" pitchFamily="34" charset="0"/>
                <a:ea typeface="Calibri" pitchFamily="34" charset="-122"/>
                <a:cs typeface="Calibri" pitchFamily="34" charset="-120"/>
              </a:rPr>
              <a:t>Stage 1</a:t>
            </a:r>
            <a:endParaRPr lang="en-US" sz="1300" dirty="0"/>
          </a:p>
        </p:txBody>
      </p:sp>
      <p:sp>
        <p:nvSpPr>
          <p:cNvPr id="6" name="Text 4"/>
          <p:cNvSpPr txBox="1"/>
          <p:nvPr/>
        </p:nvSpPr>
        <p:spPr>
          <a:xfrm>
            <a:off x="1005840" y="2514600"/>
            <a:ext cx="2834640" cy="731520"/>
          </a:xfrm>
          <a:prstGeom prst="rect">
            <a:avLst/>
          </a:prstGeom>
          <a:noFill/>
          <a:ln/>
        </p:spPr>
        <p:txBody>
          <a:bodyPr wrap="square" lIns="0" tIns="0" rIns="0" bIns="0" rtlCol="0" anchor="ctr"/>
          <a:lstStyle/>
          <a:p>
            <a:pPr indent="0" marL="0">
              <a:buNone/>
            </a:pPr>
            <a:r>
              <a:rPr lang="en-US" sz="1600" b="1" dirty="0">
                <a:solidFill>
                  <a:srgbClr val="1B1B1F"/>
                </a:solidFill>
                <a:latin typeface="Calibri" pitchFamily="34" charset="0"/>
                <a:ea typeface="Calibri" pitchFamily="34" charset="-122"/>
                <a:cs typeface="Calibri" pitchFamily="34" charset="-120"/>
              </a:rPr>
              <a:t>They sign up</a:t>
            </a:r>
            <a:endParaRPr lang="en-US" sz="1600" dirty="0"/>
          </a:p>
        </p:txBody>
      </p:sp>
      <p:sp>
        <p:nvSpPr>
          <p:cNvPr id="7" name="Shape 5"/>
          <p:cNvSpPr/>
          <p:nvPr/>
        </p:nvSpPr>
        <p:spPr>
          <a:xfrm>
            <a:off x="4389120" y="1965960"/>
            <a:ext cx="3383280" cy="1463040"/>
          </a:xfrm>
          <a:prstGeom prst="roundRect">
            <a:avLst>
              <a:gd name="adj" fmla="val 8750"/>
            </a:avLst>
          </a:prstGeom>
          <a:solidFill>
            <a:srgbClr val="F4F6FB"/>
          </a:solidFill>
          <a:ln/>
        </p:spPr>
      </p:sp>
      <p:sp>
        <p:nvSpPr>
          <p:cNvPr id="8" name="Text 6"/>
          <p:cNvSpPr txBox="1"/>
          <p:nvPr/>
        </p:nvSpPr>
        <p:spPr>
          <a:xfrm>
            <a:off x="4663440" y="2148840"/>
            <a:ext cx="2834640" cy="365760"/>
          </a:xfrm>
          <a:prstGeom prst="rect">
            <a:avLst/>
          </a:prstGeom>
          <a:noFill/>
          <a:ln/>
        </p:spPr>
        <p:txBody>
          <a:bodyPr wrap="square" lIns="0" tIns="0" rIns="0" bIns="0" rtlCol="0" anchor="ctr"/>
          <a:lstStyle/>
          <a:p>
            <a:pPr indent="0" marL="0">
              <a:buNone/>
            </a:pPr>
            <a:r>
              <a:rPr lang="en-US" sz="1300" b="1" spc="100" kern="0" dirty="0">
                <a:solidFill>
                  <a:srgbClr val="C8A44D"/>
                </a:solidFill>
                <a:latin typeface="Calibri" pitchFamily="34" charset="0"/>
                <a:ea typeface="Calibri" pitchFamily="34" charset="-122"/>
                <a:cs typeface="Calibri" pitchFamily="34" charset="-120"/>
              </a:rPr>
              <a:t>Stage 2</a:t>
            </a:r>
            <a:endParaRPr lang="en-US" sz="1300" dirty="0"/>
          </a:p>
        </p:txBody>
      </p:sp>
      <p:sp>
        <p:nvSpPr>
          <p:cNvPr id="9" name="Text 7"/>
          <p:cNvSpPr txBox="1"/>
          <p:nvPr/>
        </p:nvSpPr>
        <p:spPr>
          <a:xfrm>
            <a:off x="4663440" y="2514600"/>
            <a:ext cx="2834640" cy="731520"/>
          </a:xfrm>
          <a:prstGeom prst="rect">
            <a:avLst/>
          </a:prstGeom>
          <a:noFill/>
          <a:ln/>
        </p:spPr>
        <p:txBody>
          <a:bodyPr wrap="square" lIns="0" tIns="0" rIns="0" bIns="0" rtlCol="0" anchor="ctr"/>
          <a:lstStyle/>
          <a:p>
            <a:pPr indent="0" marL="0">
              <a:buNone/>
            </a:pPr>
            <a:r>
              <a:rPr lang="en-US" sz="1600" b="1" dirty="0">
                <a:solidFill>
                  <a:srgbClr val="1B1B1F"/>
                </a:solidFill>
                <a:latin typeface="Calibri" pitchFamily="34" charset="0"/>
                <a:ea typeface="Calibri" pitchFamily="34" charset="-122"/>
                <a:cs typeface="Calibri" pitchFamily="34" charset="-120"/>
              </a:rPr>
              <a:t>They pay their first real invoice</a:t>
            </a:r>
            <a:endParaRPr lang="en-US" sz="1600" dirty="0"/>
          </a:p>
        </p:txBody>
      </p:sp>
      <p:sp>
        <p:nvSpPr>
          <p:cNvPr id="10" name="Shape 8"/>
          <p:cNvSpPr/>
          <p:nvPr/>
        </p:nvSpPr>
        <p:spPr>
          <a:xfrm>
            <a:off x="8046720" y="1965960"/>
            <a:ext cx="3383280" cy="1463040"/>
          </a:xfrm>
          <a:prstGeom prst="roundRect">
            <a:avLst>
              <a:gd name="adj" fmla="val 8750"/>
            </a:avLst>
          </a:prstGeom>
          <a:solidFill>
            <a:srgbClr val="1E2761"/>
          </a:solidFill>
          <a:ln/>
        </p:spPr>
      </p:sp>
      <p:sp>
        <p:nvSpPr>
          <p:cNvPr id="11" name="Text 9"/>
          <p:cNvSpPr txBox="1"/>
          <p:nvPr/>
        </p:nvSpPr>
        <p:spPr>
          <a:xfrm>
            <a:off x="8321040" y="2148840"/>
            <a:ext cx="2834640" cy="365760"/>
          </a:xfrm>
          <a:prstGeom prst="rect">
            <a:avLst/>
          </a:prstGeom>
          <a:noFill/>
          <a:ln/>
        </p:spPr>
        <p:txBody>
          <a:bodyPr wrap="square" lIns="0" tIns="0" rIns="0" bIns="0" rtlCol="0" anchor="ctr"/>
          <a:lstStyle/>
          <a:p>
            <a:pPr indent="0" marL="0">
              <a:buNone/>
            </a:pPr>
            <a:r>
              <a:rPr lang="en-US" sz="1300" b="1" spc="100" kern="0" dirty="0">
                <a:solidFill>
                  <a:srgbClr val="C8A44D"/>
                </a:solidFill>
                <a:latin typeface="Calibri" pitchFamily="34" charset="0"/>
                <a:ea typeface="Calibri" pitchFamily="34" charset="-122"/>
                <a:cs typeface="Calibri" pitchFamily="34" charset="-120"/>
              </a:rPr>
              <a:t>Stage 3</a:t>
            </a:r>
            <a:endParaRPr lang="en-US" sz="1300" dirty="0"/>
          </a:p>
        </p:txBody>
      </p:sp>
      <p:sp>
        <p:nvSpPr>
          <p:cNvPr id="12" name="Text 10"/>
          <p:cNvSpPr txBox="1"/>
          <p:nvPr/>
        </p:nvSpPr>
        <p:spPr>
          <a:xfrm>
            <a:off x="8321040" y="2514600"/>
            <a:ext cx="2834640" cy="7315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They are still there at the milestone</a:t>
            </a:r>
            <a:endParaRPr lang="en-US" sz="1600" dirty="0"/>
          </a:p>
        </p:txBody>
      </p:sp>
      <p:sp>
        <p:nvSpPr>
          <p:cNvPr id="13" name="Shape 11"/>
          <p:cNvSpPr/>
          <p:nvPr/>
        </p:nvSpPr>
        <p:spPr>
          <a:xfrm>
            <a:off x="731520" y="3703320"/>
            <a:ext cx="10698480" cy="749808"/>
          </a:xfrm>
          <a:prstGeom prst="rect">
            <a:avLst/>
          </a:prstGeom>
          <a:solidFill>
            <a:srgbClr val="F4F6FB"/>
          </a:solidFill>
          <a:ln/>
        </p:spPr>
      </p:sp>
      <p:sp>
        <p:nvSpPr>
          <p:cNvPr id="14" name="Text 12"/>
          <p:cNvSpPr txBox="1"/>
          <p:nvPr/>
        </p:nvSpPr>
        <p:spPr>
          <a:xfrm>
            <a:off x="960120" y="3758184"/>
            <a:ext cx="3931920" cy="64008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Set the Pay tab today</a:t>
            </a:r>
            <a:endParaRPr lang="en-US" sz="1500" dirty="0"/>
          </a:p>
        </p:txBody>
      </p:sp>
      <p:sp>
        <p:nvSpPr>
          <p:cNvPr id="15" name="Text 13"/>
          <p:cNvSpPr txBox="1"/>
          <p:nvPr/>
        </p:nvSpPr>
        <p:spPr>
          <a:xfrm>
            <a:off x="5074920" y="3758184"/>
            <a:ext cx="5715000" cy="64008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How you want the money and where it goes. Nobody is paid until it is set, and a method with no destination is refused rather than saved half-done.</a:t>
            </a:r>
            <a:endParaRPr lang="en-US" sz="1250" dirty="0"/>
          </a:p>
        </p:txBody>
      </p:sp>
      <p:sp>
        <p:nvSpPr>
          <p:cNvPr id="16" name="Shape 14"/>
          <p:cNvSpPr/>
          <p:nvPr/>
        </p:nvSpPr>
        <p:spPr>
          <a:xfrm>
            <a:off x="731520" y="4572000"/>
            <a:ext cx="10698480" cy="749808"/>
          </a:xfrm>
          <a:prstGeom prst="rect">
            <a:avLst/>
          </a:prstGeom>
          <a:solidFill>
            <a:srgbClr val="F4F6FB"/>
          </a:solidFill>
          <a:ln/>
        </p:spPr>
      </p:sp>
      <p:sp>
        <p:nvSpPr>
          <p:cNvPr id="17" name="Text 15"/>
          <p:cNvSpPr txBox="1"/>
          <p:nvPr/>
        </p:nvSpPr>
        <p:spPr>
          <a:xfrm>
            <a:off x="960120" y="4626864"/>
            <a:ext cx="3931920" cy="64008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Nobody can touch your record — us included</a:t>
            </a:r>
            <a:endParaRPr lang="en-US" sz="1500" dirty="0"/>
          </a:p>
        </p:txBody>
      </p:sp>
      <p:sp>
        <p:nvSpPr>
          <p:cNvPr id="18" name="Text 16"/>
          <p:cNvSpPr txBox="1"/>
          <p:nvPr/>
        </p:nvSpPr>
        <p:spPr>
          <a:xfrm>
            <a:off x="5074920" y="4626864"/>
            <a:ext cx="5715000" cy="64008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Your attribution, commission and payouts refuse every write from a rep account. You cannot adjust your own, and neither can anybody else quietly adjust it for you.</a:t>
            </a:r>
            <a:endParaRPr lang="en-US" sz="1250" dirty="0"/>
          </a:p>
        </p:txBody>
      </p:sp>
      <p:sp>
        <p:nvSpPr>
          <p:cNvPr id="19" name="Shape 17"/>
          <p:cNvSpPr/>
          <p:nvPr/>
        </p:nvSpPr>
        <p:spPr>
          <a:xfrm>
            <a:off x="731520" y="5440680"/>
            <a:ext cx="10698480" cy="749808"/>
          </a:xfrm>
          <a:prstGeom prst="rect">
            <a:avLst/>
          </a:prstGeom>
          <a:solidFill>
            <a:srgbClr val="F4F6FB"/>
          </a:solidFill>
          <a:ln/>
        </p:spPr>
      </p:sp>
      <p:sp>
        <p:nvSpPr>
          <p:cNvPr id="20" name="Text 18"/>
          <p:cNvSpPr txBox="1"/>
          <p:nvPr/>
        </p:nvSpPr>
        <p:spPr>
          <a:xfrm>
            <a:off x="960120" y="5495544"/>
            <a:ext cx="3931920" cy="64008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Ask if you have no plan</a:t>
            </a:r>
            <a:endParaRPr lang="en-US" sz="1500" dirty="0"/>
          </a:p>
        </p:txBody>
      </p:sp>
      <p:sp>
        <p:nvSpPr>
          <p:cNvPr id="21" name="Text 19"/>
          <p:cNvSpPr txBox="1"/>
          <p:nvPr/>
        </p:nvSpPr>
        <p:spPr>
          <a:xfrm>
            <a:off x="5074920" y="5495544"/>
            <a:ext cx="5715000" cy="64008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With no commission plan assigned you earn nothing, silently. Check it on day one — it is one question to a superadmin.</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731520" y="960120"/>
            <a:ext cx="9601200" cy="82296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Before you go home today</a:t>
            </a:r>
            <a:endParaRPr lang="en-US" sz="4200" dirty="0"/>
          </a:p>
        </p:txBody>
      </p:sp>
      <p:sp>
        <p:nvSpPr>
          <p:cNvPr id="3" name="Shape 1"/>
          <p:cNvSpPr/>
          <p:nvPr/>
        </p:nvSpPr>
        <p:spPr>
          <a:xfrm>
            <a:off x="731520" y="2130552"/>
            <a:ext cx="402336" cy="402336"/>
          </a:xfrm>
          <a:prstGeom prst="ellipse">
            <a:avLst/>
          </a:prstGeom>
          <a:solidFill>
            <a:srgbClr val="C8A44D"/>
          </a:solidFill>
          <a:ln/>
        </p:spPr>
      </p:sp>
      <p:sp>
        <p:nvSpPr>
          <p:cNvPr id="4" name="Text 2"/>
          <p:cNvSpPr txBox="1"/>
          <p:nvPr/>
        </p:nvSpPr>
        <p:spPr>
          <a:xfrm>
            <a:off x="731520" y="2130552"/>
            <a:ext cx="402336" cy="402336"/>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389888" y="2148840"/>
            <a:ext cx="9875520" cy="402336"/>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Set your Pay tab, and ask whether you have a commission plan</a:t>
            </a:r>
            <a:endParaRPr lang="en-US" sz="1800" dirty="0"/>
          </a:p>
        </p:txBody>
      </p:sp>
      <p:sp>
        <p:nvSpPr>
          <p:cNvPr id="6" name="Shape 4"/>
          <p:cNvSpPr/>
          <p:nvPr/>
        </p:nvSpPr>
        <p:spPr>
          <a:xfrm>
            <a:off x="731520" y="2862072"/>
            <a:ext cx="402336" cy="402336"/>
          </a:xfrm>
          <a:prstGeom prst="ellipse">
            <a:avLst/>
          </a:prstGeom>
          <a:solidFill>
            <a:srgbClr val="C8A44D"/>
          </a:solidFill>
          <a:ln/>
        </p:spPr>
      </p:sp>
      <p:sp>
        <p:nvSpPr>
          <p:cNvPr id="7" name="Text 5"/>
          <p:cNvSpPr txBox="1"/>
          <p:nvPr/>
        </p:nvSpPr>
        <p:spPr>
          <a:xfrm>
            <a:off x="731520" y="2862072"/>
            <a:ext cx="402336" cy="402336"/>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2</a:t>
            </a:r>
            <a:endParaRPr lang="en-US" sz="1500" dirty="0"/>
          </a:p>
        </p:txBody>
      </p:sp>
      <p:sp>
        <p:nvSpPr>
          <p:cNvPr id="8" name="Text 6"/>
          <p:cNvSpPr txBox="1"/>
          <p:nvPr/>
        </p:nvSpPr>
        <p:spPr>
          <a:xfrm>
            <a:off x="1389888" y="2880360"/>
            <a:ext cx="9875520" cy="402336"/>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Send your signup link to yourself and open it</a:t>
            </a:r>
            <a:endParaRPr lang="en-US" sz="1800" dirty="0"/>
          </a:p>
        </p:txBody>
      </p:sp>
      <p:sp>
        <p:nvSpPr>
          <p:cNvPr id="9" name="Shape 7"/>
          <p:cNvSpPr/>
          <p:nvPr/>
        </p:nvSpPr>
        <p:spPr>
          <a:xfrm>
            <a:off x="731520" y="3593592"/>
            <a:ext cx="402336" cy="402336"/>
          </a:xfrm>
          <a:prstGeom prst="ellipse">
            <a:avLst/>
          </a:prstGeom>
          <a:solidFill>
            <a:srgbClr val="C8A44D"/>
          </a:solidFill>
          <a:ln/>
        </p:spPr>
      </p:sp>
      <p:sp>
        <p:nvSpPr>
          <p:cNvPr id="10" name="Text 8"/>
          <p:cNvSpPr txBox="1"/>
          <p:nvPr/>
        </p:nvSpPr>
        <p:spPr>
          <a:xfrm>
            <a:off x="731520" y="3593592"/>
            <a:ext cx="402336" cy="402336"/>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3</a:t>
            </a:r>
            <a:endParaRPr lang="en-US" sz="1500" dirty="0"/>
          </a:p>
        </p:txBody>
      </p:sp>
      <p:sp>
        <p:nvSpPr>
          <p:cNvPr id="11" name="Text 9"/>
          <p:cNvSpPr txBox="1"/>
          <p:nvPr/>
        </p:nvSpPr>
        <p:spPr>
          <a:xfrm>
            <a:off x="1389888" y="3611880"/>
            <a:ext cx="9875520" cy="402336"/>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Claim one prospect and read all four layers before you touch the phone</a:t>
            </a:r>
            <a:endParaRPr lang="en-US" sz="1800" dirty="0"/>
          </a:p>
        </p:txBody>
      </p:sp>
      <p:sp>
        <p:nvSpPr>
          <p:cNvPr id="12" name="Shape 10"/>
          <p:cNvSpPr/>
          <p:nvPr/>
        </p:nvSpPr>
        <p:spPr>
          <a:xfrm>
            <a:off x="731520" y="4325112"/>
            <a:ext cx="402336" cy="402336"/>
          </a:xfrm>
          <a:prstGeom prst="ellipse">
            <a:avLst/>
          </a:prstGeom>
          <a:solidFill>
            <a:srgbClr val="C8A44D"/>
          </a:solidFill>
          <a:ln/>
        </p:spPr>
      </p:sp>
      <p:sp>
        <p:nvSpPr>
          <p:cNvPr id="13" name="Text 11"/>
          <p:cNvSpPr txBox="1"/>
          <p:nvPr/>
        </p:nvSpPr>
        <p:spPr>
          <a:xfrm>
            <a:off x="731520" y="4325112"/>
            <a:ext cx="402336" cy="402336"/>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4</a:t>
            </a:r>
            <a:endParaRPr lang="en-US" sz="1500" dirty="0"/>
          </a:p>
        </p:txBody>
      </p:sp>
      <p:sp>
        <p:nvSpPr>
          <p:cNvPr id="14" name="Text 12"/>
          <p:cNvSpPr txBox="1"/>
          <p:nvPr/>
        </p:nvSpPr>
        <p:spPr>
          <a:xfrm>
            <a:off x="1389888" y="4343400"/>
            <a:ext cx="9875520" cy="402336"/>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Make the call. Type while they talk</a:t>
            </a:r>
            <a:endParaRPr lang="en-US" sz="1800" dirty="0"/>
          </a:p>
        </p:txBody>
      </p:sp>
      <p:sp>
        <p:nvSpPr>
          <p:cNvPr id="15" name="Shape 13"/>
          <p:cNvSpPr/>
          <p:nvPr/>
        </p:nvSpPr>
        <p:spPr>
          <a:xfrm>
            <a:off x="731520" y="5056632"/>
            <a:ext cx="402336" cy="402336"/>
          </a:xfrm>
          <a:prstGeom prst="ellipse">
            <a:avLst/>
          </a:prstGeom>
          <a:solidFill>
            <a:srgbClr val="C8A44D"/>
          </a:solidFill>
          <a:ln/>
        </p:spPr>
      </p:sp>
      <p:sp>
        <p:nvSpPr>
          <p:cNvPr id="16" name="Text 14"/>
          <p:cNvSpPr txBox="1"/>
          <p:nvPr/>
        </p:nvSpPr>
        <p:spPr>
          <a:xfrm>
            <a:off x="731520" y="5056632"/>
            <a:ext cx="402336" cy="402336"/>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5</a:t>
            </a:r>
            <a:endParaRPr lang="en-US" sz="1500" dirty="0"/>
          </a:p>
        </p:txBody>
      </p:sp>
      <p:sp>
        <p:nvSpPr>
          <p:cNvPr id="17" name="Text 15"/>
          <p:cNvSpPr txBox="1"/>
          <p:nvPr/>
        </p:nvSpPr>
        <p:spPr>
          <a:xfrm>
            <a:off x="1389888" y="5074920"/>
            <a:ext cx="9875520" cy="402336"/>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Close the claim out and say what happened</a:t>
            </a:r>
            <a:endParaRPr lang="en-US" sz="1800" dirty="0"/>
          </a:p>
        </p:txBody>
      </p:sp>
      <p:sp>
        <p:nvSpPr>
          <p:cNvPr id="18" name="Text 16"/>
          <p:cNvSpPr txBox="1"/>
          <p:nvPr/>
        </p:nvSpPr>
        <p:spPr>
          <a:xfrm>
            <a:off x="731520" y="5806440"/>
            <a:ext cx="10698480" cy="548640"/>
          </a:xfrm>
          <a:prstGeom prst="rect">
            <a:avLst/>
          </a:prstGeom>
          <a:noFill/>
          <a:ln/>
        </p:spPr>
        <p:txBody>
          <a:bodyPr wrap="square" rtlCol="0" anchor="ctr"/>
          <a:lstStyle/>
          <a:p>
            <a:pPr indent="0" marL="0">
              <a:buNone/>
            </a:pPr>
            <a:r>
              <a:rPr lang="en-US" sz="1800" i="1" dirty="0">
                <a:solidFill>
                  <a:srgbClr val="CADCFC"/>
                </a:solidFill>
                <a:latin typeface="Cambria" pitchFamily="34" charset="0"/>
                <a:ea typeface="Cambria" pitchFamily="34" charset="-122"/>
                <a:cs typeface="Cambria" pitchFamily="34" charset="-120"/>
              </a:rPr>
              <a:t>Nobody expects you to sell today. They expect you to listen, take a note, and close the claim out properly.</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Training — day one</dc:title>
  <dc:subject>PptxGenJS Presentation</dc:subject>
  <dc:creator>FieldQuo</dc:creator>
  <cp:lastModifiedBy>FieldQuo</cp:lastModifiedBy>
  <cp:revision>1</cp:revision>
  <dcterms:created xsi:type="dcterms:W3CDTF">2026-09-10T12:58:36Z</dcterms:created>
  <dcterms:modified xsi:type="dcterms:W3CDTF">2026-09-10T12:58:36Z</dcterms:modified>
</cp:coreProperties>
</file>